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slide: 1</a:t>
            </a:r>
          </a:p>
          <a:p>
            <a:r>
              <a:t>Visual formatting of supplied material; content not independently verified.</a:t>
            </a:r>
          </a:p>
          <a:p/>
          <a:p>
            <a:r>
              <a:t>ТАКТИЧНА ПІДГОТОВКА | РОТНІ ТАКТИЧНІ НАВЧАННЯ (РТН)</a:t>
            </a:r>
          </a:p>
          <a:p>
            <a:r>
              <a:t>Дії повітряного противника та заходи протидії засобам повітряного нападу</a:t>
            </a:r>
          </a:p>
          <a:p>
            <a:r>
              <a:t>Організація спостереження, вогневого прикриття, інженерного захисту та живучості РТГр у типових тактичних епізодах сучасного бою</a:t>
            </a:r>
          </a:p>
          <a:p/>
          <a:p>
            <a:r>
              <a:t>ЗАСОБИ НАПАДУ ПРОТИВНИКА</a:t>
            </a:r>
          </a:p>
          <a:p>
            <a:r>
              <a:t>Авіація (Су-34, Су-25, вертольоти), БпЛА-розвідники, FPV (до 30/добу) та баражуючі боєприпаси («Ланцет»)</a:t>
            </a:r>
          </a:p>
          <a:p/>
          <a:p>
            <a:r>
              <a:t>ТАКТИЧНІ ЕПІЗОДИ</a:t>
            </a:r>
          </a:p>
          <a:p>
            <a:r>
              <a:t>1. Засади в лісі («лисячі нори»)</a:t>
            </a:r>
            <a:br/>
            <a:r>
              <a:t>2. Автономні дії та інженерні роботи</a:t>
            </a:r>
            <a:br/>
            <a:r>
              <a:t>3. Ближній бій у лісі та кругова оборона</a:t>
            </a:r>
          </a:p>
          <a:p/>
          <a:p>
            <a:r>
              <a:t>СИСТЕМА ПРОТИДІЇ РТГр</a:t>
            </a:r>
          </a:p>
          <a:p>
            <a:r>
              <a:t>Пости спостереження (візуал + акустика), чергові стрільці (рушниці 12к), протидронові сітки, захист від оптоволокна</a:t>
            </a:r>
          </a:p>
          <a:p/>
          <a:p>
            <a:r>
              <a:t>Підрозділи тактичного рівня: Рота / Ротна тактична група (РТГр) | Досвід бойових дій та РТН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slide: 1</a:t>
            </a:r>
          </a:p>
          <a:p>
            <a:r>
              <a:t>Visual formatting of supplied material; content not independently verified.</a:t>
            </a:r>
          </a:p>
          <a:p/>
          <a:p>
            <a:r>
              <a:t>ТАКТИЧНА ПІДГОТОВКА | РОТНІ ТАКТИЧНІ НАВЧАННЯ (РТН)</a:t>
            </a:r>
          </a:p>
          <a:p>
            <a:r>
              <a:t>Дії повітряного противника та заходи протидії засобам повітряного нападу</a:t>
            </a:r>
          </a:p>
          <a:p>
            <a:r>
              <a:t>Організація спостереження, вогневого прикриття, інженерного захисту та живучості РТГр у типових тактичних епізодах сучасного бою</a:t>
            </a:r>
          </a:p>
          <a:p/>
          <a:p>
            <a:r>
              <a:t>ЗАСОБИ НАПАДУ ПРОТИВНИКА</a:t>
            </a:r>
          </a:p>
          <a:p>
            <a:r>
              <a:t>Авіація (Су-34, Су-25, вертольоти), БпЛА-розвідники, FPV (до 30/добу) та баражуючі боєприпаси («Ланцет»)</a:t>
            </a:r>
          </a:p>
          <a:p/>
          <a:p>
            <a:r>
              <a:t>ТАКТИЧНІ ЕПІЗОДИ</a:t>
            </a:r>
          </a:p>
          <a:p>
            <a:r>
              <a:t>1. Засади в лісі («лисячі нори»)</a:t>
            </a:r>
            <a:br/>
            <a:r>
              <a:t>2. Автономні дії та інженерні роботи</a:t>
            </a:r>
            <a:br/>
            <a:r>
              <a:t>3. Ближній бій у лісі та кругова оборона</a:t>
            </a:r>
          </a:p>
          <a:p/>
          <a:p>
            <a:r>
              <a:t>СИСТЕМА ПРОТИДІЇ РТГр</a:t>
            </a:r>
          </a:p>
          <a:p>
            <a:r>
              <a:t>Пости спостереження (візуал + акустика), чергові стрільці (рушниці 12к), протидронові сітки, захист від оптоволокна</a:t>
            </a:r>
          </a:p>
          <a:p/>
          <a:p>
            <a:r>
              <a:t>Підрозділи тактичного рівня: Рота / Ротна тактична група (РТГр) | Досвід бойових дій та РТН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slide: 2</a:t>
            </a:r>
          </a:p>
          <a:p>
            <a:r>
              <a:t>Visual formatting of supplied material; content not independently verified.</a:t>
            </a:r>
          </a:p>
          <a:p/>
          <a:p>
            <a:r>
              <a:t>ОЦІНКА ОБСТАНОВКИ</a:t>
            </a:r>
          </a:p>
          <a:p/>
          <a:p>
            <a:r>
              <a:t>Склад та інтенсивність засобів повітряного нападу противника</a:t>
            </a:r>
          </a:p>
          <a:p>
            <a:r>
              <a:t>Імовірний розподіл повітряних засобів ураження та розвідки в районі дій РТГр протягом доби</a:t>
            </a:r>
          </a:p>
          <a:p/>
          <a:p>
            <a:r>
              <a:t>Тактична авіація (Су-34, Су-35)</a:t>
            </a:r>
          </a:p>
          <a:p>
            <a:r>
              <a:t>до 1 літако-вильоту / добу</a:t>
            </a:r>
          </a:p>
          <a:p>
            <a:r>
              <a:t>Застосування керованих авіаційних бомб (КАБ) по опорних пунктах і районах зосередження роти.</a:t>
            </a:r>
          </a:p>
          <a:p/>
          <a:p>
            <a:r>
              <a:t>Штурмова авіація (Су-25)</a:t>
            </a:r>
          </a:p>
          <a:p>
            <a:r>
              <a:t>до 2 пар / добу</a:t>
            </a:r>
          </a:p>
          <a:p>
            <a:r>
              <a:t>Безпосередня вогнева підтримка наступаючих штурмових груп некерованими ракетами (НАР).</a:t>
            </a:r>
          </a:p>
          <a:p/>
          <a:p>
            <a:r>
              <a:t>Армійська авіація (Ка-52, Мі-28, Мі-24)</a:t>
            </a:r>
          </a:p>
          <a:p>
            <a:r>
              <a:t>до 2 пар / добу</a:t>
            </a:r>
          </a:p>
          <a:p>
            <a:r>
              <a:t>Удари вертольотів з малих висот ракетами ПТКР та НАР по позиціях, вогневих засобах і бронетехніці.</a:t>
            </a:r>
          </a:p>
          <a:p/>
          <a:p>
            <a:r>
              <a:t>Розвідувальні БпЛА (Коптери + Літакові)</a:t>
            </a:r>
          </a:p>
          <a:p>
            <a:r>
              <a:t>3–4 коптери + 1–2 літаки</a:t>
            </a:r>
          </a:p>
          <a:p>
            <a:r>
              <a:t>Коптери — безперервно над ротою; літакові БпЛА — корегування вогню артилерії та наведення боєприпасів.</a:t>
            </a:r>
          </a:p>
          <a:p/>
          <a:p>
            <a:r>
              <a:t>Ударні FPV-дрони (FPV-камікадзе)</a:t>
            </a:r>
          </a:p>
          <a:p>
            <a:r>
              <a:t>25–30 / добу</a:t>
            </a:r>
          </a:p>
          <a:p>
            <a:r>
              <a:t>Масовані удари до 10–15 одночасно по розкритих позиціях; 4–6 дронів у режимі очікування на шляхах маневру.</a:t>
            </a:r>
          </a:p>
          <a:p/>
          <a:p>
            <a:r>
              <a:t>Баражуючі боєприпаси («Ланцет», «Скальпель»)</a:t>
            </a:r>
          </a:p>
          <a:p>
            <a:r>
              <a:t>до 3–5 / добу</a:t>
            </a:r>
          </a:p>
          <a:p>
            <a:r>
              <a:t>Високоточне ураження виявленої інженерної техніки, транспорту, артилерії та пунктів управління.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slide: 2</a:t>
            </a:r>
          </a:p>
          <a:p>
            <a:r>
              <a:t>Visual formatting of supplied material; content not independently verified.</a:t>
            </a:r>
          </a:p>
          <a:p/>
          <a:p>
            <a:r>
              <a:t>ОЦІНКА ОБСТАНОВКИ</a:t>
            </a:r>
          </a:p>
          <a:p/>
          <a:p>
            <a:r>
              <a:t>Склад та інтенсивність засобів повітряного нападу противника</a:t>
            </a:r>
          </a:p>
          <a:p>
            <a:r>
              <a:t>Імовірний розподіл повітряних засобів ураження та розвідки в районі дій РТГр протягом доби</a:t>
            </a:r>
          </a:p>
          <a:p/>
          <a:p>
            <a:r>
              <a:t>Тактична авіація (Су-34, Су-35)</a:t>
            </a:r>
          </a:p>
          <a:p>
            <a:r>
              <a:t>до 1 літако-вильоту / добу</a:t>
            </a:r>
          </a:p>
          <a:p>
            <a:r>
              <a:t>Застосування керованих авіаційних бомб (КАБ) по опорних пунктах і районах зосередження роти.</a:t>
            </a:r>
          </a:p>
          <a:p/>
          <a:p>
            <a:r>
              <a:t>Штурмова авіація (Су-25)</a:t>
            </a:r>
          </a:p>
          <a:p>
            <a:r>
              <a:t>до 2 пар / добу</a:t>
            </a:r>
          </a:p>
          <a:p>
            <a:r>
              <a:t>Безпосередня вогнева підтримка наступаючих штурмових груп некерованими ракетами (НАР).</a:t>
            </a:r>
          </a:p>
          <a:p/>
          <a:p>
            <a:r>
              <a:t>Армійська авіація (Ка-52, Мі-28, Мі-24)</a:t>
            </a:r>
          </a:p>
          <a:p>
            <a:r>
              <a:t>до 2 пар / добу</a:t>
            </a:r>
          </a:p>
          <a:p>
            <a:r>
              <a:t>Удари вертольотів з малих висот ракетами ПТКР та НАР по позиціях, вогневих засобах і бронетехніці.</a:t>
            </a:r>
          </a:p>
          <a:p/>
          <a:p>
            <a:r>
              <a:t>Розвідувальні БпЛА (Коптери + Літакові)</a:t>
            </a:r>
          </a:p>
          <a:p>
            <a:r>
              <a:t>3–4 коптери + 1–2 літаки</a:t>
            </a:r>
          </a:p>
          <a:p>
            <a:r>
              <a:t>Коптери — безперервно над ротою; літакові БпЛА — корегування вогню артилерії та наведення боєприпасів.</a:t>
            </a:r>
          </a:p>
          <a:p/>
          <a:p>
            <a:r>
              <a:t>Ударні FPV-дрони (FPV-камікадзе)</a:t>
            </a:r>
          </a:p>
          <a:p>
            <a:r>
              <a:t>25–30 / добу</a:t>
            </a:r>
          </a:p>
          <a:p>
            <a:r>
              <a:t>Масовані удари до 10–15 одночасно по розкритих позиціях; 4–6 дронів у режимі очікування на шляхах маневру.</a:t>
            </a:r>
          </a:p>
          <a:p/>
          <a:p>
            <a:r>
              <a:t>Баражуючі боєприпаси («Ланцет», «Скальпель»)</a:t>
            </a:r>
          </a:p>
          <a:p>
            <a:r>
              <a:t>до 3–5 / добу</a:t>
            </a:r>
          </a:p>
          <a:p>
            <a:r>
              <a:t>Високоточне ураження виявленої інженерної техніки, транспорту, артилерії та пунктів управління.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slide: 2</a:t>
            </a:r>
          </a:p>
          <a:p>
            <a:r>
              <a:t>Visual formatting of supplied material; content not independently verified.</a:t>
            </a:r>
          </a:p>
          <a:p/>
          <a:p>
            <a:r>
              <a:t>ОЦІНКА ОБСТАНОВКИ</a:t>
            </a:r>
          </a:p>
          <a:p/>
          <a:p>
            <a:r>
              <a:t>Склад та інтенсивність засобів повітряного нападу противника</a:t>
            </a:r>
          </a:p>
          <a:p>
            <a:r>
              <a:t>Імовірний розподіл повітряних засобів ураження та розвідки в районі дій РТГр протягом доби</a:t>
            </a:r>
          </a:p>
          <a:p/>
          <a:p>
            <a:r>
              <a:t>Тактична авіація (Су-34, Су-35)</a:t>
            </a:r>
          </a:p>
          <a:p>
            <a:r>
              <a:t>до 1 літако-вильоту / добу</a:t>
            </a:r>
          </a:p>
          <a:p>
            <a:r>
              <a:t>Застосування керованих авіаційних бомб (КАБ) по опорних пунктах і районах зосередження роти.</a:t>
            </a:r>
          </a:p>
          <a:p/>
          <a:p>
            <a:r>
              <a:t>Штурмова авіація (Су-25)</a:t>
            </a:r>
          </a:p>
          <a:p>
            <a:r>
              <a:t>до 2 пар / добу</a:t>
            </a:r>
          </a:p>
          <a:p>
            <a:r>
              <a:t>Безпосередня вогнева підтримка наступаючих штурмових груп некерованими ракетами (НАР).</a:t>
            </a:r>
          </a:p>
          <a:p/>
          <a:p>
            <a:r>
              <a:t>Армійська авіація (Ка-52, Мі-28, Мі-24)</a:t>
            </a:r>
          </a:p>
          <a:p>
            <a:r>
              <a:t>до 2 пар / добу</a:t>
            </a:r>
          </a:p>
          <a:p>
            <a:r>
              <a:t>Удари вертольотів з малих висот ракетами ПТКР та НАР по позиціях, вогневих засобах і бронетехніці.</a:t>
            </a:r>
          </a:p>
          <a:p/>
          <a:p>
            <a:r>
              <a:t>Розвідувальні БпЛА (Коптери + Літакові)</a:t>
            </a:r>
          </a:p>
          <a:p>
            <a:r>
              <a:t>3–4 коптери + 1–2 літаки</a:t>
            </a:r>
          </a:p>
          <a:p>
            <a:r>
              <a:t>Коптери — безперервно над ротою; літакові БпЛА — корегування вогню артилерії та наведення боєприпасів.</a:t>
            </a:r>
          </a:p>
          <a:p/>
          <a:p>
            <a:r>
              <a:t>Ударні FPV-дрони (FPV-камікадзе)</a:t>
            </a:r>
          </a:p>
          <a:p>
            <a:r>
              <a:t>25–30 / добу</a:t>
            </a:r>
          </a:p>
          <a:p>
            <a:r>
              <a:t>Масовані удари до 10–15 одночасно по розкритих позиціях; 4–6 дронів у режимі очікування на шляхах маневру.</a:t>
            </a:r>
          </a:p>
          <a:p/>
          <a:p>
            <a:r>
              <a:t>Баражуючі боєприпаси («Ланцет», «Скальпель»)</a:t>
            </a:r>
          </a:p>
          <a:p>
            <a:r>
              <a:t>до 3–5 / добу</a:t>
            </a:r>
          </a:p>
          <a:p>
            <a:r>
              <a:t>Високоточне ураження виявленої інженерної техніки, транспорту, артилерії та пунктів управління.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slide: 3</a:t>
            </a:r>
          </a:p>
          <a:p>
            <a:r>
              <a:t>Visual formatting of supplied material; content not independently verified.</a:t>
            </a:r>
          </a:p>
          <a:p/>
          <a:p>
            <a:r>
              <a:t>ТАКТИКА ВОРОГА</a:t>
            </a:r>
          </a:p>
          <a:p/>
          <a:p>
            <a:r>
              <a:t>Характер та способи дій повітряного противника</a:t>
            </a:r>
          </a:p>
          <a:p>
            <a:r>
              <a:t>Алгоритм розвідувально-ударного комплексу противника в ході ведення бойових дій</a:t>
            </a:r>
          </a:p>
          <a:p/>
          <a:p>
            <a:r>
              <a:t>1. ЦІЛОДОБОВА РОЗВІДКА 24/7</a:t>
            </a:r>
          </a:p>
          <a:p>
            <a:r>
              <a:t>Безперервний моніторинг</a:t>
            </a:r>
          </a:p>
          <a:p>
            <a:r>
              <a:t>• Постійне чергування 3–4 коптерів над позиціями роти.</a:t>
            </a:r>
          </a:p>
          <a:p>
            <a:r>
              <a:t>• Вдень — оптичний пошук руху, траншей, бліндажів.</a:t>
            </a:r>
          </a:p>
          <a:p>
            <a:r>
              <a:t>• Вночі — суцільний тепловізійний контроль.</a:t>
            </a:r>
          </a:p>
          <a:p>
            <a:r>
              <a:t>• 1–2 літакові БпЛА контролюють оперативну глибину та наводять ББ.</a:t>
            </a:r>
          </a:p>
          <a:p/>
          <a:p>
            <a:r>
              <a:t>2. МИТТЄВЕ ТА МАСОВАНЕ УРАЖЕННЯ</a:t>
            </a:r>
          </a:p>
          <a:p>
            <a:r>
              <a:t>Розвідувально-ударний цикл</a:t>
            </a:r>
          </a:p>
          <a:p>
            <a:r>
              <a:t>• Ураження FPV або ББ безпосередньо після фіксації цілі.</a:t>
            </a:r>
          </a:p>
          <a:p>
            <a:r>
              <a:t>• По розкритих позиціях — концентровані масовані нальоти по 10–15 FPV одночасно.</a:t>
            </a:r>
          </a:p>
          <a:p>
            <a:r>
              <a:t>• Скиди боєприпасів для вибивання піхоти з відкритих щілин.</a:t>
            </a:r>
          </a:p>
          <a:p>
            <a:r>
              <a:t>• Полювання за бронетехнікою ББ «Ланцет»/«Скальпель».</a:t>
            </a:r>
          </a:p>
          <a:p/>
          <a:p>
            <a:r>
              <a:t>3. ПОВІТРЯНІ ЗАСІДКИ НА МАРШРУТАХ</a:t>
            </a:r>
          </a:p>
          <a:p>
            <a:r>
              <a:t>Ізоляція поля бою</a:t>
            </a:r>
          </a:p>
          <a:p>
            <a:r>
              <a:t>• Розгортання 4–6 FPV-дронів у режимі очікування на землі/деревах.</a:t>
            </a:r>
          </a:p>
          <a:p>
            <a:r>
              <a:t>• Блокування маршрутів висування, маневру та логістики.</a:t>
            </a:r>
          </a:p>
          <a:p>
            <a:r>
              <a:t>• Ураження евакуаційного транспорту та підвезення боєкомплекту.</a:t>
            </a:r>
          </a:p>
          <a:p>
            <a:r>
              <a:t>• Застосування FPV-дронів з оптоволоконним керуванням (імунітет до РЕБ).</a:t>
            </a:r>
          </a:p>
          <a:p/>
          <a:p>
            <a:r>
              <a:t>4. АВІАЦІЙНА ПІДТРИМКА НАСТУПУ</a:t>
            </a:r>
          </a:p>
          <a:p>
            <a:r>
              <a:t>Удари пілотованої авіації</a:t>
            </a:r>
          </a:p>
          <a:p>
            <a:r>
              <a:t>• Період підготовки: удари тактичної авіації (КАБ) по опорних пунктах.</a:t>
            </a:r>
          </a:p>
          <a:p>
            <a:r>
              <a:t>• У ході наступу: вильоти пар Су-25 для розчищення смуги прориву.</a:t>
            </a:r>
          </a:p>
          <a:p>
            <a:r>
              <a:t>• Пари вертольотів (Ка-52, Мі-28, Мі-24) — робота ПТКР та НАР по флангах.</a:t>
            </a:r>
          </a:p>
          <a:p>
            <a:r>
              <a:t>• Застосування авіації фокусується на ключових вузлах оборони.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slide: 3</a:t>
            </a:r>
          </a:p>
          <a:p>
            <a:r>
              <a:t>Visual formatting of supplied material; content not independently verified.</a:t>
            </a:r>
          </a:p>
          <a:p/>
          <a:p>
            <a:r>
              <a:t>ТАКТИКА ВОРОГА</a:t>
            </a:r>
          </a:p>
          <a:p/>
          <a:p>
            <a:r>
              <a:t>Характер та способи дій повітряного противника</a:t>
            </a:r>
          </a:p>
          <a:p>
            <a:r>
              <a:t>Алгоритм розвідувально-ударного комплексу противника в ході ведення бойових дій</a:t>
            </a:r>
          </a:p>
          <a:p/>
          <a:p>
            <a:r>
              <a:t>1. ЦІЛОДОБОВА РОЗВІДКА 24/7</a:t>
            </a:r>
          </a:p>
          <a:p>
            <a:r>
              <a:t>Безперервний моніторинг</a:t>
            </a:r>
          </a:p>
          <a:p>
            <a:r>
              <a:t>• Постійне чергування 3–4 коптерів над позиціями роти.</a:t>
            </a:r>
          </a:p>
          <a:p>
            <a:r>
              <a:t>• Вдень — оптичний пошук руху, траншей, бліндажів.</a:t>
            </a:r>
          </a:p>
          <a:p>
            <a:r>
              <a:t>• Вночі — суцільний тепловізійний контроль.</a:t>
            </a:r>
          </a:p>
          <a:p>
            <a:r>
              <a:t>• 1–2 літакові БпЛА контролюють оперативну глибину та наводять ББ.</a:t>
            </a:r>
          </a:p>
          <a:p/>
          <a:p>
            <a:r>
              <a:t>2. МИТТЄВЕ ТА МАСОВАНЕ УРАЖЕННЯ</a:t>
            </a:r>
          </a:p>
          <a:p>
            <a:r>
              <a:t>Розвідувально-ударний цикл</a:t>
            </a:r>
          </a:p>
          <a:p>
            <a:r>
              <a:t>• Ураження FPV або ББ безпосередньо після фіксації цілі.</a:t>
            </a:r>
          </a:p>
          <a:p>
            <a:r>
              <a:t>• По розкритих позиціях — концентровані масовані нальоти по 10–15 FPV одночасно.</a:t>
            </a:r>
          </a:p>
          <a:p>
            <a:r>
              <a:t>• Скиди боєприпасів для вибивання піхоти з відкритих щілин.</a:t>
            </a:r>
          </a:p>
          <a:p>
            <a:r>
              <a:t>• Полювання за бронетехнікою ББ «Ланцет»/«Скальпель».</a:t>
            </a:r>
          </a:p>
          <a:p/>
          <a:p>
            <a:r>
              <a:t>3. ПОВІТРЯНІ ЗАСІДКИ НА МАРШРУТАХ</a:t>
            </a:r>
          </a:p>
          <a:p>
            <a:r>
              <a:t>Ізоляція поля бою</a:t>
            </a:r>
          </a:p>
          <a:p>
            <a:r>
              <a:t>• Розгортання 4–6 FPV-дронів у режимі очікування на землі/деревах.</a:t>
            </a:r>
          </a:p>
          <a:p>
            <a:r>
              <a:t>• Блокування маршрутів висування, маневру та логістики.</a:t>
            </a:r>
          </a:p>
          <a:p>
            <a:r>
              <a:t>• Ураження евакуаційного транспорту та підвезення боєкомплекту.</a:t>
            </a:r>
          </a:p>
          <a:p>
            <a:r>
              <a:t>• Застосування FPV-дронів з оптоволоконним керуванням (імунітет до РЕБ).</a:t>
            </a:r>
          </a:p>
          <a:p/>
          <a:p>
            <a:r>
              <a:t>4. АВІАЦІЙНА ПІДТРИМКА НАСТУПУ</a:t>
            </a:r>
          </a:p>
          <a:p>
            <a:r>
              <a:t>Удари пілотованої авіації</a:t>
            </a:r>
          </a:p>
          <a:p>
            <a:r>
              <a:t>• Період підготовки: удари тактичної авіації (КАБ) по опорних пунктах.</a:t>
            </a:r>
          </a:p>
          <a:p>
            <a:r>
              <a:t>• У ході наступу: вильоти пар Су-25 для розчищення смуги прориву.</a:t>
            </a:r>
          </a:p>
          <a:p>
            <a:r>
              <a:t>• Пари вертольотів (Ка-52, Мі-28, Мі-24) — робота ПТКР та НАР по флангах.</a:t>
            </a:r>
          </a:p>
          <a:p>
            <a:r>
              <a:t>• Застосування авіації фокусується на ключових вузлах оборони.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slide: 4</a:t>
            </a:r>
          </a:p>
          <a:p>
            <a:r>
              <a:t>Visual formatting of supplied material; content not independently verified.</a:t>
            </a:r>
          </a:p>
          <a:p/>
          <a:p>
            <a:r>
              <a:t>БОЙОВИЙ ПОРЯДОК РТГР</a:t>
            </a:r>
          </a:p>
          <a:p/>
          <a:p>
            <a:r>
              <a:t>Система протидії засобам повітряного нападу противника</a:t>
            </a:r>
          </a:p>
          <a:p>
            <a:r>
              <a:t>Комплекс заходів підрозділів роти щодо зриву повітряної розвідки та відбиття атак ЗПН</a:t>
            </a:r>
          </a:p>
          <a:p/>
          <a:p>
            <a:r>
              <a:t>1. РОЗВІДКА ТА ОПОВІЩЕННЯ</a:t>
            </a:r>
          </a:p>
          <a:p>
            <a:r>
              <a:t>• Пости спостереження (ПС): Ведуть візуальне та акустичне спостереження за повітрям.</a:t>
            </a:r>
          </a:p>
          <a:p>
            <a:r>
              <a:t>• Нічний час: Обов'язкове залучення тепловізійних приладів на ПС для виявлення БпЛА.</a:t>
            </a:r>
          </a:p>
          <a:p>
            <a:r>
              <a:t>• Система старшого начальника: Своєчасне отримання сигналів оповіщення про зліт авіації та пуски КАБ.</a:t>
            </a:r>
          </a:p>
          <a:p/>
          <a:p>
            <a:r>
              <a:t>2. ВОГНЕВЕ УРАЖЕННЯ</a:t>
            </a:r>
          </a:p>
          <a:p>
            <a:r>
              <a:t>• Чергові стрільці з рушницями: Призначаються в кожній групі/відділенні, озброєні помповими рушницями 12к та автоматами.</a:t>
            </a:r>
          </a:p>
          <a:p>
            <a:r>
              <a:t>• Знищення FPV та ББ: Збиття дронів на підльоті картеччю з помпових рушниць.</a:t>
            </a:r>
          </a:p>
          <a:p>
            <a:r>
              <a:t>• Вогонь по вертольотах: Зосереджений вогонь стрілецької зброї по низьких вертольотах — тільки за наказом командира.</a:t>
            </a:r>
          </a:p>
          <a:p/>
          <a:p>
            <a:r>
              <a:t>3. ІНЖЕНЕРНИЙ ЗАХИСТ</a:t>
            </a:r>
          </a:p>
          <a:p>
            <a:r>
              <a:t>• Протидронові сітки: Монтуються над окопами, ходами сполучення, входами до бліндажів та маршрутами.</a:t>
            </a:r>
          </a:p>
          <a:p>
            <a:r>
              <a:t>• Колючий (спіральний) дріт: Обов'язковий над траншеями — ефективно зупиняє FPV на оптоволокні.</a:t>
            </a:r>
          </a:p>
          <a:p>
            <a:r>
              <a:t>• Екранування техніки: Встановлення протидронових екранів, сіток і решіток на всю бойову та колісну техніку.</a:t>
            </a:r>
          </a:p>
          <a:p/>
          <a:p>
            <a:r>
              <a:t>4. МАСКУВАННЯ ТА ЖИВУЧІСТЬ</a:t>
            </a:r>
          </a:p>
          <a:p>
            <a:r>
              <a:t>• Антитепловізійний захист: Маскування позицій, бліндажів, гарячої техніки антитепловізійними пончо/накидками.</a:t>
            </a:r>
          </a:p>
          <a:p>
            <a:r>
              <a:t>• Хибні позиції та макети: Обладнання фейкових опорних пунктів та макетів техніки для виснаження БК ворога.</a:t>
            </a:r>
          </a:p>
          <a:p>
            <a:r>
              <a:t>• Перекриті укриття: Особовий склад розміщується виключно в укриттях з надійним накатом і перекриттям.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slide: 4</a:t>
            </a:r>
          </a:p>
          <a:p>
            <a:r>
              <a:t>Visual formatting of supplied material; content not independently verified.</a:t>
            </a:r>
          </a:p>
          <a:p/>
          <a:p>
            <a:r>
              <a:t>БОЙОВИЙ ПОРЯДОК РТГР</a:t>
            </a:r>
          </a:p>
          <a:p/>
          <a:p>
            <a:r>
              <a:t>Система протидії засобам повітряного нападу противника</a:t>
            </a:r>
          </a:p>
          <a:p>
            <a:r>
              <a:t>Комплекс заходів підрозділів роти щодо зриву повітряної розвідки та відбиття атак ЗПН</a:t>
            </a:r>
          </a:p>
          <a:p/>
          <a:p>
            <a:r>
              <a:t>1. РОЗВІДКА ТА ОПОВІЩЕННЯ</a:t>
            </a:r>
          </a:p>
          <a:p>
            <a:r>
              <a:t>• Пости спостереження (ПС): Ведуть візуальне та акустичне спостереження за повітрям.</a:t>
            </a:r>
          </a:p>
          <a:p>
            <a:r>
              <a:t>• Нічний час: Обов'язкове залучення тепловізійних приладів на ПС для виявлення БпЛА.</a:t>
            </a:r>
          </a:p>
          <a:p>
            <a:r>
              <a:t>• Система старшого начальника: Своєчасне отримання сигналів оповіщення про зліт авіації та пуски КАБ.</a:t>
            </a:r>
          </a:p>
          <a:p/>
          <a:p>
            <a:r>
              <a:t>2. ВОГНЕВЕ УРАЖЕННЯ</a:t>
            </a:r>
          </a:p>
          <a:p>
            <a:r>
              <a:t>• Чергові стрільці з рушницями: Призначаються в кожній групі/відділенні, озброєні помповими рушницями 12к та автоматами.</a:t>
            </a:r>
          </a:p>
          <a:p>
            <a:r>
              <a:t>• Знищення FPV та ББ: Збиття дронів на підльоті картеччю з помпових рушниць.</a:t>
            </a:r>
          </a:p>
          <a:p>
            <a:r>
              <a:t>• Вогонь по вертольотах: Зосереджений вогонь стрілецької зброї по низьких вертольотах — тільки за наказом командира.</a:t>
            </a:r>
          </a:p>
          <a:p/>
          <a:p>
            <a:r>
              <a:t>3. ІНЖЕНЕРНИЙ ЗАХИСТ</a:t>
            </a:r>
          </a:p>
          <a:p>
            <a:r>
              <a:t>• Протидронові сітки: Монтуються над окопами, ходами сполучення, входами до бліндажів та маршрутами.</a:t>
            </a:r>
          </a:p>
          <a:p>
            <a:r>
              <a:t>• Колючий (спіральний) дріт: Обов'язковий над траншеями — ефективно зупиняє FPV на оптоволокні.</a:t>
            </a:r>
          </a:p>
          <a:p>
            <a:r>
              <a:t>• Екранування техніки: Встановлення протидронових екранів, сіток і решіток на всю бойову та колісну техніку.</a:t>
            </a:r>
          </a:p>
          <a:p/>
          <a:p>
            <a:r>
              <a:t>4. МАСКУВАННЯ ТА ЖИВУЧІСТЬ</a:t>
            </a:r>
          </a:p>
          <a:p>
            <a:r>
              <a:t>• Антитепловізійний захист: Маскування позицій, бліндажів, гарячої техніки антитепловізійними пончо/накидками.</a:t>
            </a:r>
          </a:p>
          <a:p>
            <a:r>
              <a:t>• Хибні позиції та макети: Обладнання фейкових опорних пунктів та макетів техніки для виснаження БК ворога.</a:t>
            </a:r>
          </a:p>
          <a:p>
            <a:r>
              <a:t>• Перекриті укриття: Особовий склад розміщується виключно в укриттях з надійним накатом і перекриттям.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slide: 5</a:t>
            </a:r>
          </a:p>
          <a:p>
            <a:r>
              <a:t>Visual formatting of supplied material; content not independently verified.</a:t>
            </a:r>
          </a:p>
          <a:p/>
          <a:p>
            <a:r>
              <a:t>ТАКТИЧНИЙ ЕПІЗОД 2.1</a:t>
            </a:r>
          </a:p>
          <a:p/>
          <a:p>
            <a:r>
              <a:t>Засадні дії підрозділів у лісовому масиві</a:t>
            </a:r>
          </a:p>
          <a:p>
            <a:r>
              <a:t>Обладнання укриттів типу «лисяча нора» під деревами, скритність засади та безпечний відхід</a:t>
            </a:r>
          </a:p>
          <a:p/>
          <a:p>
            <a:r>
              <a:t>ДІЇ ПОВІТРЯНОГО ПРОТИВНИКА</a:t>
            </a:r>
          </a:p>
          <a:p>
            <a:r>
              <a:t>• До підходу противника: Цілодобова розвідка районів засад. Вдень/вночі 3–4 коптери з тепловізорами шукають входи в нори та демаскуючі ознаки інженерних робіт; 1–2 літаки — глибинна розвідка та артилерія.</a:t>
            </a:r>
          </a:p>
          <a:p>
            <a:r>
              <a:t>• Під час висування ворога: Розвідувальні коптери супроводжують передові групи противника, ведучи розвідку маршруту безпосередньо перед ними.</a:t>
            </a:r>
          </a:p>
          <a:p>
            <a:r>
              <a:t>• Після відкриття вогню із засади: Масовані удари FPV по розкритих позиціях (10–15 одночасно, загалом до 25–30/добу), скиди боєприпасів.</a:t>
            </a:r>
          </a:p>
          <a:p>
            <a:r>
              <a:t>• Ураження засобів і техніки: ББ «Ланцет»/«Скальпель» (до 2–3 на добу), активне переслідування наших груп, що відходять.</a:t>
            </a:r>
          </a:p>
          <a:p>
            <a:r>
              <a:t>• Авіація: Застосування тактичної авіації по малих засадних групах у лісі малоймовірне.</a:t>
            </a:r>
          </a:p>
          <a:p/>
          <a:p>
            <a:r>
              <a:t>ПРОТИДІЯ ТА ДІЇ СВОЇХ ВІЙСЬК</a:t>
            </a:r>
          </a:p>
          <a:p>
            <a:r>
              <a:t>• Акустичне виявлення — пріоритет: У лісовому масиві БпЛА виявляються на слух значно раніше, ніж візуально. Пости спостереження орієнтуються на звук; вночі — тепловізори.</a:t>
            </a:r>
          </a:p>
          <a:p>
            <a:r>
              <a:t>• Скритність до бою: Засади та входи до «лисячих нор» ретельно маскувати від тепловізорів (термонакидки, природний дерен).</a:t>
            </a:r>
          </a:p>
          <a:p>
            <a:r>
              <a:t>• Сувора заборона вогню по дронах: Вогонь по ворожих БпЛА над засадою відкривати ВИКЛЮЧНО за командою командира — щоб завчасно не демаскувати засідку!</a:t>
            </a:r>
          </a:p>
          <a:p>
            <a:r>
              <a:t>• Чергові стрільці у кожній групі: Після відкриття бою знищення FPV та скидів покладається на стрільців з помповими рушницями (картеч).</a:t>
            </a:r>
          </a:p>
          <a:p>
            <a:r>
              <a:t>• Прикриття відходу: Чергові стрільці рушницями прикривають відхід груп на запасні позиції від переслідуючих FPV.</a:t>
            </a:r>
          </a:p>
          <a:p>
            <a:r>
              <a:t>• Інженерний бар'єр: Над входами до укриттів обов'язкові протидронові сітки; бійці перебувають виключно в укриттях з накатним перекриттям.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slide: 5</a:t>
            </a:r>
          </a:p>
          <a:p>
            <a:r>
              <a:t>Visual formatting of supplied material; content not independently verified.</a:t>
            </a:r>
          </a:p>
          <a:p/>
          <a:p>
            <a:r>
              <a:t>ТАКТИЧНИЙ ЕПІЗОД 2.1</a:t>
            </a:r>
          </a:p>
          <a:p/>
          <a:p>
            <a:r>
              <a:t>Засадні дії підрозділів у лісовому масиві</a:t>
            </a:r>
          </a:p>
          <a:p>
            <a:r>
              <a:t>Обладнання укриттів типу «лисяча нора» під деревами, скритність засади та безпечний відхід</a:t>
            </a:r>
          </a:p>
          <a:p/>
          <a:p>
            <a:r>
              <a:t>ДІЇ ПОВІТРЯНОГО ПРОТИВНИКА</a:t>
            </a:r>
          </a:p>
          <a:p>
            <a:r>
              <a:t>• До підходу противника: Цілодобова розвідка районів засад. Вдень/вночі 3–4 коптери з тепловізорами шукають входи в нори та демаскуючі ознаки інженерних робіт; 1–2 літаки — глибинна розвідка та артилерія.</a:t>
            </a:r>
          </a:p>
          <a:p>
            <a:r>
              <a:t>• Під час висування ворога: Розвідувальні коптери супроводжують передові групи противника, ведучи розвідку маршруту безпосередньо перед ними.</a:t>
            </a:r>
          </a:p>
          <a:p>
            <a:r>
              <a:t>• Після відкриття вогню із засади: Масовані удари FPV по розкритих позиціях (10–15 одночасно, загалом до 25–30/добу), скиди боєприпасів.</a:t>
            </a:r>
          </a:p>
          <a:p>
            <a:r>
              <a:t>• Ураження засобів і техніки: ББ «Ланцет»/«Скальпель» (до 2–3 на добу), активне переслідування наших груп, що відходять.</a:t>
            </a:r>
          </a:p>
          <a:p>
            <a:r>
              <a:t>• Авіація: Застосування тактичної авіації по малих засадних групах у лісі малоймовірне.</a:t>
            </a:r>
          </a:p>
          <a:p/>
          <a:p>
            <a:r>
              <a:t>ПРОТИДІЯ ТА ДІЇ СВОЇХ ВІЙСЬК</a:t>
            </a:r>
          </a:p>
          <a:p>
            <a:r>
              <a:t>• Акустичне виявлення — пріоритет: У лісовому масиві БпЛА виявляються на слух значно раніше, ніж візуально. Пости спостереження орієнтуються на звук; вночі — тепловізори.</a:t>
            </a:r>
          </a:p>
          <a:p>
            <a:r>
              <a:t>• Скритність до бою: Засади та входи до «лисячих нор» ретельно маскувати від тепловізорів (термонакидки, природний дерен).</a:t>
            </a:r>
          </a:p>
          <a:p>
            <a:r>
              <a:t>• Сувора заборона вогню по дронах: Вогонь по ворожих БпЛА над засадою відкривати ВИКЛЮЧНО за командою командира — щоб завчасно не демаскувати засідку!</a:t>
            </a:r>
          </a:p>
          <a:p>
            <a:r>
              <a:t>• Чергові стрільці у кожній групі: Після відкриття бою знищення FPV та скидів покладається на стрільців з помповими рушницями (картеч).</a:t>
            </a:r>
          </a:p>
          <a:p>
            <a:r>
              <a:t>• Прикриття відходу: Чергові стрільці рушницями прикривають відхід груп на запасні позиції від переслідуючих FPV.</a:t>
            </a:r>
          </a:p>
          <a:p>
            <a:r>
              <a:t>• Інженерний бар'єр: Над входами до укриттів обов'язкові протидронові сітки; бійці перебувають виключно в укриттях з накатним перекриттям.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slide: 5</a:t>
            </a:r>
          </a:p>
          <a:p>
            <a:r>
              <a:t>Visual formatting of supplied material; content not independently verified.</a:t>
            </a:r>
          </a:p>
          <a:p/>
          <a:p>
            <a:r>
              <a:t>ТАКТИЧНИЙ ЕПІЗОД 2.1</a:t>
            </a:r>
          </a:p>
          <a:p/>
          <a:p>
            <a:r>
              <a:t>Засадні дії підрозділів у лісовому масиві</a:t>
            </a:r>
          </a:p>
          <a:p>
            <a:r>
              <a:t>Обладнання укриттів типу «лисяча нора» під деревами, скритність засади та безпечний відхід</a:t>
            </a:r>
          </a:p>
          <a:p/>
          <a:p>
            <a:r>
              <a:t>ДІЇ ПОВІТРЯНОГО ПРОТИВНИКА</a:t>
            </a:r>
          </a:p>
          <a:p>
            <a:r>
              <a:t>• До підходу противника: Цілодобова розвідка районів засад. Вдень/вночі 3–4 коптери з тепловізорами шукають входи в нори та демаскуючі ознаки інженерних робіт; 1–2 літаки — глибинна розвідка та артилерія.</a:t>
            </a:r>
          </a:p>
          <a:p>
            <a:r>
              <a:t>• Під час висування ворога: Розвідувальні коптери супроводжують передові групи противника, ведучи розвідку маршруту безпосередньо перед ними.</a:t>
            </a:r>
          </a:p>
          <a:p>
            <a:r>
              <a:t>• Після відкриття вогню із засади: Масовані удари FPV по розкритих позиціях (10–15 одночасно, загалом до 25–30/добу), скиди боєприпасів.</a:t>
            </a:r>
          </a:p>
          <a:p>
            <a:r>
              <a:t>• Ураження засобів і техніки: ББ «Ланцет»/«Скальпель» (до 2–3 на добу), активне переслідування наших груп, що відходять.</a:t>
            </a:r>
          </a:p>
          <a:p>
            <a:r>
              <a:t>• Авіація: Застосування тактичної авіації по малих засадних групах у лісі малоймовірне.</a:t>
            </a:r>
          </a:p>
          <a:p/>
          <a:p>
            <a:r>
              <a:t>ПРОТИДІЯ ТА ДІЇ СВОЇХ ВІЙСЬК</a:t>
            </a:r>
          </a:p>
          <a:p>
            <a:r>
              <a:t>• Акустичне виявлення — пріоритет: У лісовому масиві БпЛА виявляються на слух значно раніше, ніж візуально. Пости спостереження орієнтуються на звук; вночі — тепловізори.</a:t>
            </a:r>
          </a:p>
          <a:p>
            <a:r>
              <a:t>• Скритність до бою: Засади та входи до «лисячих нор» ретельно маскувати від тепловізорів (термонакидки, природний дерен).</a:t>
            </a:r>
          </a:p>
          <a:p>
            <a:r>
              <a:t>• Сувора заборона вогню по дронах: Вогонь по ворожих БпЛА над засадою відкривати ВИКЛЮЧНО за командою командира — щоб завчасно не демаскувати засідку!</a:t>
            </a:r>
          </a:p>
          <a:p>
            <a:r>
              <a:t>• Чергові стрільці у кожній групі: Після відкриття бою знищення FPV та скидів покладається на стрільців з помповими рушницями (картеч).</a:t>
            </a:r>
          </a:p>
          <a:p>
            <a:r>
              <a:t>• Прикриття відходу: Чергові стрільці рушницями прикривають відхід груп на запасні позиції від переслідуючих FPV.</a:t>
            </a:r>
          </a:p>
          <a:p>
            <a:r>
              <a:t>• Інженерний бар'єр: Над входами до укриттів обов'язкові протидронові сітки; бійці перебувають виключно в укриттях з накатним перекриттям.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slide: 6</a:t>
            </a:r>
          </a:p>
          <a:p>
            <a:r>
              <a:t>Visual formatting of supplied material; content not independently verified.</a:t>
            </a:r>
          </a:p>
          <a:p/>
          <a:p>
            <a:r>
              <a:t>ТАКТИЧНИЙ ЕПІЗОД 2.2</a:t>
            </a:r>
          </a:p>
          <a:p/>
          <a:p>
            <a:r>
              <a:t>Автономні дії РТГр: Підготовка до активної оборони</a:t>
            </a:r>
          </a:p>
          <a:p>
            <a:r>
              <a:t>Фортифікаційне обладнання рубежів, інженерні роботи, створення логістики та прикриття маневру</a:t>
            </a:r>
          </a:p>
          <a:p/>
          <a:p>
            <a:r>
              <a:t>ДІЇ ПОВІТРЯНОГО ПРОТИВНИКА</a:t>
            </a:r>
          </a:p>
          <a:p>
            <a:r>
              <a:t>• Розвідка районів робіт та доріг: 3–4 розвідувальні коптери одночасно + 1–2 літакові БпЛА виявляють райони зосередження, рубежі інженерних робіт та маршрути підвозу.</a:t>
            </a:r>
          </a:p>
          <a:p>
            <a:r>
              <a:t>• Полювання на інженерну техніку: Виявлена інженерна техніка (екскаватори, шляхопрокладачі) та транспорт уражаються ББ «Ланцет»/«Скальпель» — до 3–5 на добу.</a:t>
            </a:r>
          </a:p>
          <a:p>
            <a:r>
              <a:t>• FPV-терор по особовому складу: Масовані удари FPV-дронами по позиціях і рубежах фортифікації — до 25–30 на добу.</a:t>
            </a:r>
          </a:p>
          <a:p>
            <a:r>
              <a:t>• Дрони в режимі очікування: На маршрутах маневру, підвезення БК та евакуації противник виставляє до 4–6 FPV-дронів у режимі очікування на землі/перешкодах.</a:t>
            </a:r>
          </a:p>
          <a:p>
            <a:r>
              <a:t>• Удари тактичної авіації (КАБ): По опорних пунктах і місцях розташування роти можливі скиди керованих авіабомб із Су-34/Су-35 (до 1 вильоту на добу).</a:t>
            </a:r>
          </a:p>
          <a:p/>
          <a:p>
            <a:r>
              <a:t>ПРОТИДІЯ ТА ДІЇ СВОЇХ ВІЙСЬК</a:t>
            </a:r>
          </a:p>
          <a:p>
            <a:r>
              <a:t>• Мережа постів спостереження: Розгортання ПС у районах розташування, на місцях інженерних робіт і вздовж маршрутів. Вночі — обов'язкові тепловізори.</a:t>
            </a:r>
          </a:p>
          <a:p>
            <a:r>
              <a:t>• Оповіщення про авіацію/КАБ: Постійна інтеграція з системою оповіщення старшого начальника для своєчасного зайняття укриттів особовим складом.</a:t>
            </a:r>
          </a:p>
          <a:p>
            <a:r>
              <a:t>• Прикриття робіт і конвоїв: Чергові стрільці з помповими рушницями та автоматами чергують безпосередньо біля інженерних груп та на бортах транспортних засобів.</a:t>
            </a:r>
          </a:p>
          <a:p>
            <a:r>
              <a:t>• Дистанційна ліквідація дронів-засідок: Виявлені FPV-дрони в режимі очікування на маршрутах знищуються дистанційно вогнем стрілецької зброї без наближення.</a:t>
            </a:r>
          </a:p>
          <a:p>
            <a:r>
              <a:t>• Інженерний захист маршрутів: Обладнання протидронових сіток та загороджень із колючого (спірального) дроту над вузькими місцями та перехрестями.</a:t>
            </a:r>
          </a:p>
          <a:p>
            <a:r>
              <a:t>• Маскування техніки та запасів: Обов'язкові антидронові екрани на транспорті; маскування складів БК; створення хибних районів і макетів техніки.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slide: 6</a:t>
            </a:r>
          </a:p>
          <a:p>
            <a:r>
              <a:t>Visual formatting of supplied material; content not independently verified.</a:t>
            </a:r>
          </a:p>
          <a:p/>
          <a:p>
            <a:r>
              <a:t>ТАКТИЧНИЙ ЕПІЗОД 2.2</a:t>
            </a:r>
          </a:p>
          <a:p/>
          <a:p>
            <a:r>
              <a:t>Автономні дії РТГр: Підготовка до активної оборони</a:t>
            </a:r>
          </a:p>
          <a:p>
            <a:r>
              <a:t>Фортифікаційне обладнання рубежів, інженерні роботи, створення логістики та прикриття маневру</a:t>
            </a:r>
          </a:p>
          <a:p/>
          <a:p>
            <a:r>
              <a:t>ДІЇ ПОВІТРЯНОГО ПРОТИВНИКА</a:t>
            </a:r>
          </a:p>
          <a:p>
            <a:r>
              <a:t>• Розвідка районів робіт та доріг: 3–4 розвідувальні коптери одночасно + 1–2 літакові БпЛА виявляють райони зосередження, рубежі інженерних робіт та маршрути підвозу.</a:t>
            </a:r>
          </a:p>
          <a:p>
            <a:r>
              <a:t>• Полювання на інженерну техніку: Виявлена інженерна техніка (екскаватори, шляхопрокладачі) та транспорт уражаються ББ «Ланцет»/«Скальпель» — до 3–5 на добу.</a:t>
            </a:r>
          </a:p>
          <a:p>
            <a:r>
              <a:t>• FPV-терор по особовому складу: Масовані удари FPV-дронами по позиціях і рубежах фортифікації — до 25–30 на добу.</a:t>
            </a:r>
          </a:p>
          <a:p>
            <a:r>
              <a:t>• Дрони в режимі очікування: На маршрутах маневру, підвезення БК та евакуації противник виставляє до 4–6 FPV-дронів у режимі очікування на землі/перешкодах.</a:t>
            </a:r>
          </a:p>
          <a:p>
            <a:r>
              <a:t>• Удари тактичної авіації (КАБ): По опорних пунктах і місцях розташування роти можливі скиди керованих авіабомб із Су-34/Су-35 (до 1 вильоту на добу).</a:t>
            </a:r>
          </a:p>
          <a:p/>
          <a:p>
            <a:r>
              <a:t>ПРОТИДІЯ ТА ДІЇ СВОЇХ ВІЙСЬК</a:t>
            </a:r>
          </a:p>
          <a:p>
            <a:r>
              <a:t>• Мережа постів спостереження: Розгортання ПС у районах розташування, на місцях інженерних робіт і вздовж маршрутів. Вночі — обов'язкові тепловізори.</a:t>
            </a:r>
          </a:p>
          <a:p>
            <a:r>
              <a:t>• Оповіщення про авіацію/КАБ: Постійна інтеграція з системою оповіщення старшого начальника для своєчасного зайняття укриттів особовим складом.</a:t>
            </a:r>
          </a:p>
          <a:p>
            <a:r>
              <a:t>• Прикриття робіт і конвоїв: Чергові стрільці з помповими рушницями та автоматами чергують безпосередньо біля інженерних груп та на бортах транспортних засобів.</a:t>
            </a:r>
          </a:p>
          <a:p>
            <a:r>
              <a:t>• Дистанційна ліквідація дронів-засідок: Виявлені FPV-дрони в режимі очікування на маршрутах знищуються дистанційно вогнем стрілецької зброї без наближення.</a:t>
            </a:r>
          </a:p>
          <a:p>
            <a:r>
              <a:t>• Інженерний захист маршрутів: Обладнання протидронових сіток та загороджень із колючого (спірального) дроту над вузькими місцями та перехрестями.</a:t>
            </a:r>
          </a:p>
          <a:p>
            <a:r>
              <a:t>• Маскування техніки та запасів: Обов'язкові антидронові екрани на транспорті; маскування складів БК; створення хибних районів і макетів техніки.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slide: 6</a:t>
            </a:r>
          </a:p>
          <a:p>
            <a:r>
              <a:t>Visual formatting of supplied material; content not independently verified.</a:t>
            </a:r>
          </a:p>
          <a:p/>
          <a:p>
            <a:r>
              <a:t>ТАКТИЧНИЙ ЕПІЗОД 2.2</a:t>
            </a:r>
          </a:p>
          <a:p/>
          <a:p>
            <a:r>
              <a:t>Автономні дії РТГр: Підготовка до активної оборони</a:t>
            </a:r>
          </a:p>
          <a:p>
            <a:r>
              <a:t>Фортифікаційне обладнання рубежів, інженерні роботи, створення логістики та прикриття маневру</a:t>
            </a:r>
          </a:p>
          <a:p/>
          <a:p>
            <a:r>
              <a:t>ДІЇ ПОВІТРЯНОГО ПРОТИВНИКА</a:t>
            </a:r>
          </a:p>
          <a:p>
            <a:r>
              <a:t>• Розвідка районів робіт та доріг: 3–4 розвідувальні коптери одночасно + 1–2 літакові БпЛА виявляють райони зосередження, рубежі інженерних робіт та маршрути підвозу.</a:t>
            </a:r>
          </a:p>
          <a:p>
            <a:r>
              <a:t>• Полювання на інженерну техніку: Виявлена інженерна техніка (екскаватори, шляхопрокладачі) та транспорт уражаються ББ «Ланцет»/«Скальпель» — до 3–5 на добу.</a:t>
            </a:r>
          </a:p>
          <a:p>
            <a:r>
              <a:t>• FPV-терор по особовому складу: Масовані удари FPV-дронами по позиціях і рубежах фортифікації — до 25–30 на добу.</a:t>
            </a:r>
          </a:p>
          <a:p>
            <a:r>
              <a:t>• Дрони в режимі очікування: На маршрутах маневру, підвезення БК та евакуації противник виставляє до 4–6 FPV-дронів у режимі очікування на землі/перешкодах.</a:t>
            </a:r>
          </a:p>
          <a:p>
            <a:r>
              <a:t>• Удари тактичної авіації (КАБ): По опорних пунктах і місцях розташування роти можливі скиди керованих авіабомб із Су-34/Су-35 (до 1 вильоту на добу).</a:t>
            </a:r>
          </a:p>
          <a:p/>
          <a:p>
            <a:r>
              <a:t>ПРОТИДІЯ ТА ДІЇ СВОЇХ ВІЙСЬК</a:t>
            </a:r>
          </a:p>
          <a:p>
            <a:r>
              <a:t>• Мережа постів спостереження: Розгортання ПС у районах розташування, на місцях інженерних робіт і вздовж маршрутів. Вночі — обов'язкові тепловізори.</a:t>
            </a:r>
          </a:p>
          <a:p>
            <a:r>
              <a:t>• Оповіщення про авіацію/КАБ: Постійна інтеграція з системою оповіщення старшого начальника для своєчасного зайняття укриттів особовим складом.</a:t>
            </a:r>
          </a:p>
          <a:p>
            <a:r>
              <a:t>• Прикриття робіт і конвоїв: Чергові стрільці з помповими рушницями та автоматами чергують безпосередньо біля інженерних груп та на бортах транспортних засобів.</a:t>
            </a:r>
          </a:p>
          <a:p>
            <a:r>
              <a:t>• Дистанційна ліквідація дронів-засідок: Виявлені FPV-дрони в режимі очікування на маршрутах знищуються дистанційно вогнем стрілецької зброї без наближення.</a:t>
            </a:r>
          </a:p>
          <a:p>
            <a:r>
              <a:t>• Інженерний захист маршрутів: Обладнання протидронових сіток та загороджень із колючого (спірального) дроту над вузькими місцями та перехрестями.</a:t>
            </a:r>
          </a:p>
          <a:p>
            <a:r>
              <a:t>• Маскування техніки та запасів: Обов'язкові антидронові екрани на транспорті; маскування складів БК; створення хибних районів і макетів техніки.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slide: 7</a:t>
            </a:r>
          </a:p>
          <a:p>
            <a:r>
              <a:t>Visual formatting of supplied material; content not independently verified.</a:t>
            </a:r>
          </a:p>
          <a:p/>
          <a:p>
            <a:r>
              <a:t>ТАКТИЧНИЙ ЕПІЗОД 2.3</a:t>
            </a:r>
          </a:p>
          <a:p/>
          <a:p>
            <a:r>
              <a:t>Ближній бій у лісовому масиві та кругова оборона</a:t>
            </a:r>
          </a:p>
          <a:p>
            <a:r>
              <a:t>Відбиття штурму, відбиття авіаційних ударів і дій засобів повітряного нападу в умовах блокування</a:t>
            </a:r>
          </a:p>
          <a:p/>
          <a:p>
            <a:r>
              <a:t>ДІЇ ПОВІТРЯНОГО ПРОТИВНИКА</a:t>
            </a:r>
          </a:p>
          <a:p>
            <a:r>
              <a:t>• Супровід штурмовиків ворога: 3–4 розвідувальні коптери ведуть безперервну розвідку наших вогневих точок і одночасно супроводжують ворожу піхоту.</a:t>
            </a:r>
          </a:p>
          <a:p>
            <a:r>
              <a:t>• Шквал FPV під час штурму: Масовані удари FPV-дронами по сковуваній позиції — до 10–15 одночасно, загалом до 25–30 на добу + скиди з коптерів.</a:t>
            </a:r>
          </a:p>
          <a:p>
            <a:r>
              <a:t>• Ураження бронетехніки та ПТРК: Точкові удари баражуючими боєприпасами («Ланцет») — до 3–5 на добу по бойових машинах і вогневих позиціях.</a:t>
            </a:r>
          </a:p>
          <a:p>
            <a:r>
              <a:t>• Удари штурмової та армійської авіації: Підтримка наступу до 2 пар вертольотів (Ка-52, Мі-28, Мі-24) з НАР і ПТКР + до 2 пар штурмовиків Су-25.</a:t>
            </a:r>
          </a:p>
          <a:p>
            <a:r>
              <a:t>• Блокування при оточенні: У разі ведення бою в оточенні — виставлення 4–6 FPV-дронів у режимі очікування для зриву спроб евакуації та доставки БК.</a:t>
            </a:r>
          </a:p>
          <a:p/>
          <a:p>
            <a:r>
              <a:t>ПРОТИДІЯ ТА ДІЇ СВОЇХ ВІЙСЬК</a:t>
            </a:r>
          </a:p>
          <a:p>
            <a:r>
              <a:t>• Кругове 360° спостереження: Пости спостереження ведуть безперервний круговий нагляд за повітрям (візуал, слух; вночі — тепловізори), взаємодіють з СН.</a:t>
            </a:r>
          </a:p>
          <a:p>
            <a:r>
              <a:t>• Штатна протиповітряна ланка у відділеннях: У кожній групі/відділенні призначається черговий стрілець з помповою рушницею 12к та автоматом для відбиття атак FPV.</a:t>
            </a:r>
          </a:p>
          <a:p>
            <a:r>
              <a:t>• Вогонь по вертольотах: При прольоті вертольотів на малих висотах відкривається зосереджений вогонь зі стрілецької зброї — за наказом командира.</a:t>
            </a:r>
          </a:p>
          <a:p>
            <a:r>
              <a:t>• Інженерний захист окопів і траншей: Над усіма окопами й ходами сполучення натягуються протидронові сітки та спіральний дріт (блокує оптичне волокно FPV).</a:t>
            </a:r>
          </a:p>
          <a:p>
            <a:r>
              <a:t>• Захист техніки та позицій: Бронетехніка прикривається сітчастими екранами; позиції маскуються під рельєф і крони дерев; бійці — тільки під накатом.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slide: 7</a:t>
            </a:r>
          </a:p>
          <a:p>
            <a:r>
              <a:t>Visual formatting of supplied material; content not independently verified.</a:t>
            </a:r>
          </a:p>
          <a:p/>
          <a:p>
            <a:r>
              <a:t>ТАКТИЧНИЙ ЕПІЗОД 2.3</a:t>
            </a:r>
          </a:p>
          <a:p/>
          <a:p>
            <a:r>
              <a:t>Ближній бій у лісовому масиві та кругова оборона</a:t>
            </a:r>
          </a:p>
          <a:p>
            <a:r>
              <a:t>Відбиття штурму, відбиття авіаційних ударів і дій засобів повітряного нападу в умовах блокування</a:t>
            </a:r>
          </a:p>
          <a:p/>
          <a:p>
            <a:r>
              <a:t>ДІЇ ПОВІТРЯНОГО ПРОТИВНИКА</a:t>
            </a:r>
          </a:p>
          <a:p>
            <a:r>
              <a:t>• Супровід штурмовиків ворога: 3–4 розвідувальні коптери ведуть безперервну розвідку наших вогневих точок і одночасно супроводжують ворожу піхоту.</a:t>
            </a:r>
          </a:p>
          <a:p>
            <a:r>
              <a:t>• Шквал FPV під час штурму: Масовані удари FPV-дронами по сковуваній позиції — до 10–15 одночасно, загалом до 25–30 на добу + скиди з коптерів.</a:t>
            </a:r>
          </a:p>
          <a:p>
            <a:r>
              <a:t>• Ураження бронетехніки та ПТРК: Точкові удари баражуючими боєприпасами («Ланцет») — до 3–5 на добу по бойових машинах і вогневих позиціях.</a:t>
            </a:r>
          </a:p>
          <a:p>
            <a:r>
              <a:t>• Удари штурмової та армійської авіації: Підтримка наступу до 2 пар вертольотів (Ка-52, Мі-28, Мі-24) з НАР і ПТКР + до 2 пар штурмовиків Су-25.</a:t>
            </a:r>
          </a:p>
          <a:p>
            <a:r>
              <a:t>• Блокування при оточенні: У разі ведення бою в оточенні — виставлення 4–6 FPV-дронів у режимі очікування для зриву спроб евакуації та доставки БК.</a:t>
            </a:r>
          </a:p>
          <a:p/>
          <a:p>
            <a:r>
              <a:t>ПРОТИДІЯ ТА ДІЇ СВОЇХ ВІЙСЬК</a:t>
            </a:r>
          </a:p>
          <a:p>
            <a:r>
              <a:t>• Кругове 360° спостереження: Пости спостереження ведуть безперервний круговий нагляд за повітрям (візуал, слух; вночі — тепловізори), взаємодіють з СН.</a:t>
            </a:r>
          </a:p>
          <a:p>
            <a:r>
              <a:t>• Штатна протиповітряна ланка у відділеннях: У кожній групі/відділенні призначається черговий стрілець з помповою рушницею 12к та автоматом для відбиття атак FPV.</a:t>
            </a:r>
          </a:p>
          <a:p>
            <a:r>
              <a:t>• Вогонь по вертольотах: При прольоті вертольотів на малих висотах відкривається зосереджений вогонь зі стрілецької зброї — за наказом командира.</a:t>
            </a:r>
          </a:p>
          <a:p>
            <a:r>
              <a:t>• Інженерний захист окопів і траншей: Над усіма окопами й ходами сполучення натягуються протидронові сітки та спіральний дріт (блокує оптичне волокно FPV).</a:t>
            </a:r>
          </a:p>
          <a:p>
            <a:r>
              <a:t>• Захист техніки та позицій: Бронетехніка прикривається сітчастими екранами; позиції маскуються під рельєф і крони дерев; бійці — тільки під накатом.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slide: 7</a:t>
            </a:r>
          </a:p>
          <a:p>
            <a:r>
              <a:t>Visual formatting of supplied material; content not independently verified.</a:t>
            </a:r>
          </a:p>
          <a:p/>
          <a:p>
            <a:r>
              <a:t>ТАКТИЧНИЙ ЕПІЗОД 2.3</a:t>
            </a:r>
          </a:p>
          <a:p/>
          <a:p>
            <a:r>
              <a:t>Ближній бій у лісовому масиві та кругова оборона</a:t>
            </a:r>
          </a:p>
          <a:p>
            <a:r>
              <a:t>Відбиття штурму, відбиття авіаційних ударів і дій засобів повітряного нападу в умовах блокування</a:t>
            </a:r>
          </a:p>
          <a:p/>
          <a:p>
            <a:r>
              <a:t>ДІЇ ПОВІТРЯНОГО ПРОТИВНИКА</a:t>
            </a:r>
          </a:p>
          <a:p>
            <a:r>
              <a:t>• Супровід штурмовиків ворога: 3–4 розвідувальні коптери ведуть безперервну розвідку наших вогневих точок і одночасно супроводжують ворожу піхоту.</a:t>
            </a:r>
          </a:p>
          <a:p>
            <a:r>
              <a:t>• Шквал FPV під час штурму: Масовані удари FPV-дронами по сковуваній позиції — до 10–15 одночасно, загалом до 25–30 на добу + скиди з коптерів.</a:t>
            </a:r>
          </a:p>
          <a:p>
            <a:r>
              <a:t>• Ураження бронетехніки та ПТРК: Точкові удари баражуючими боєприпасами («Ланцет») — до 3–5 на добу по бойових машинах і вогневих позиціях.</a:t>
            </a:r>
          </a:p>
          <a:p>
            <a:r>
              <a:t>• Удари штурмової та армійської авіації: Підтримка наступу до 2 пар вертольотів (Ка-52, Мі-28, Мі-24) з НАР і ПТКР + до 2 пар штурмовиків Су-25.</a:t>
            </a:r>
          </a:p>
          <a:p>
            <a:r>
              <a:t>• Блокування при оточенні: У разі ведення бою в оточенні — виставлення 4–6 FPV-дронів у режимі очікування для зриву спроб евакуації та доставки БК.</a:t>
            </a:r>
          </a:p>
          <a:p/>
          <a:p>
            <a:r>
              <a:t>ПРОТИДІЯ ТА ДІЇ СВОЇХ ВІЙСЬК</a:t>
            </a:r>
          </a:p>
          <a:p>
            <a:r>
              <a:t>• Кругове 360° спостереження: Пости спостереження ведуть безперервний круговий нагляд за повітрям (візуал, слух; вночі — тепловізори), взаємодіють з СН.</a:t>
            </a:r>
          </a:p>
          <a:p>
            <a:r>
              <a:t>• Штатна протиповітряна ланка у відділеннях: У кожній групі/відділенні призначається черговий стрілець з помповою рушницею 12к та автоматом для відбиття атак FPV.</a:t>
            </a:r>
          </a:p>
          <a:p>
            <a:r>
              <a:t>• Вогонь по вертольотах: При прольоті вертольотів на малих висотах відкривається зосереджений вогонь зі стрілецької зброї — за наказом командира.</a:t>
            </a:r>
          </a:p>
          <a:p>
            <a:r>
              <a:t>• Інженерний захист окопів і траншей: Над усіма окопами й ходами сполучення натягуються протидронові сітки та спіральний дріт (блокує оптичне волокно FPV).</a:t>
            </a:r>
          </a:p>
          <a:p>
            <a:r>
              <a:t>• Захист техніки та позицій: Бронетехніка прикривається сітчастими екранами; позиції маскуються під рельєф і крони дерев; бійці — тільки під накатом.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slide: 8</a:t>
            </a:r>
          </a:p>
          <a:p>
            <a:r>
              <a:t>Visual formatting of supplied material; content not independently verified.</a:t>
            </a:r>
          </a:p>
          <a:p/>
          <a:p>
            <a:r>
              <a:t>ПАМ'ЯТКА ТА ВИСНОВКИ</a:t>
            </a:r>
          </a:p>
          <a:p/>
          <a:p>
            <a:r>
              <a:t>Зведена матриця протидії загрозам та правила живучості РТГр</a:t>
            </a:r>
          </a:p>
          <a:p>
            <a:r>
              <a:t>Швидкий алгоритм дій підрозділу за типами ворожих засобів повітряного нападу</a:t>
            </a:r>
          </a:p>
          <a:p/>
          <a:p>
            <a:r>
              <a:t>ТИП ЗАГРОЗИ</a:t>
            </a:r>
          </a:p>
          <a:p/>
          <a:p>
            <a:r>
              <a:t>ПАРАМЕТРИ ВОРОГА</a:t>
            </a:r>
          </a:p>
          <a:p/>
          <a:p>
            <a:r>
              <a:t>СПОСІБ ВИЯВЛЕННЯ</a:t>
            </a:r>
          </a:p>
          <a:p/>
          <a:p>
            <a:r>
              <a:t>ОСНОВНИЙ СПОСІБ ПРОТИДІЇ ТА ЗАХИСТУ</a:t>
            </a:r>
          </a:p>
          <a:p/>
          <a:p>
            <a:r>
              <a:t>FPV-дрони (ударні / скиди)</a:t>
            </a:r>
          </a:p>
          <a:p/>
          <a:p>
            <a:r>
              <a:t>25–30/добу, нальоти по 10–15 од., 4–6 у засідках</a:t>
            </a:r>
          </a:p>
          <a:p/>
          <a:p>
            <a:r>
              <a:t>Акустично (гул пропелерів), візуально на ПС, тепловізори вночі</a:t>
            </a:r>
          </a:p>
          <a:p/>
          <a:p>
            <a:r>
              <a:t>Чергові стрільці з помповими рушницями (картеч); сітки й спіральний дріт (від оптоволокна); вогонь на маршрутах.</a:t>
            </a:r>
          </a:p>
          <a:p/>
          <a:p>
            <a:r>
              <a:t>Баражуючі ББ («Ланцет»)</a:t>
            </a:r>
          </a:p>
          <a:p/>
          <a:p>
            <a:r>
              <a:t>3–5/добу, високоточні по техніці/ОП</a:t>
            </a:r>
          </a:p>
          <a:p/>
          <a:p>
            <a:r>
              <a:t>Літакові БпЛА-навідники, оптичні пости, система оповіщення</a:t>
            </a:r>
          </a:p>
          <a:p/>
          <a:p>
            <a:r>
              <a:t>Маскування техніки антитепловізійними чохлами; протидронові решітки/екрани; макети та хибні позиції.</a:t>
            </a:r>
          </a:p>
          <a:p/>
          <a:p>
            <a:r>
              <a:t>Розвідувальні БпЛА</a:t>
            </a:r>
          </a:p>
          <a:p/>
          <a:p>
            <a:r>
              <a:t>3–4 коптери над ротою цілодобово, 1–2 крила</a:t>
            </a:r>
          </a:p>
          <a:p/>
          <a:p>
            <a:r>
              <a:t>Акустичні ПС (у лісі слухати в першу чергу), тепловізори</a:t>
            </a:r>
          </a:p>
          <a:p/>
          <a:p>
            <a:r>
              <a:t>У засадах ВОГОНЬ НЕ ВІДКРИВАТИ до наказу КР; антитепловізійні пончо; повне перекриття укриттів «лисяча нора».</a:t>
            </a:r>
          </a:p>
          <a:p/>
          <a:p>
            <a:r>
              <a:t>Авіація (КАБ, Су-25, Ка-52)</a:t>
            </a:r>
          </a:p>
          <a:p/>
          <a:p>
            <a:r>
              <a:t>Су-34 (до 1 вильоту), Су-25 (до 2 пар), вертольоти (до 2 пар)</a:t>
            </a:r>
          </a:p>
          <a:p/>
          <a:p>
            <a:r>
              <a:t>Система оповіщення старшого начальника, візуальні ПС</a:t>
            </a:r>
          </a:p>
          <a:p/>
          <a:p>
            <a:r>
              <a:t>Негайне зайняття капітальних укриттів з перекриттям; зосереджений вогонь зі стрілецької зброї по низьких вертольотах.</a:t>
            </a:r>
          </a:p>
          <a:p/>
          <a:p>
            <a:r>
              <a:t>ЗОЛОТІ ПРАВИЛА ЖИВУЧОСТІ РОТНОЇ ТАКТИЧНОЇ ГРУПИ:</a:t>
            </a:r>
          </a:p>
          <a:p>
            <a:r>
              <a:t>1. ЧЕРГОВИЙ СТРІЛЕЦЬ З РУШНИЦЕЮ 12к — у кожному відділенні: це головний щит від раптових нальотів FPV та скидів.</a:t>
            </a:r>
          </a:p>
          <a:p>
            <a:r>
              <a:t>2. СПІРАЛЬНИЙ ДРІТ ТА СІТКА — обов'язкові над усіма траншеями й ходами (гарантований зрив оптоволоконних FPV).</a:t>
            </a:r>
          </a:p>
          <a:p>
            <a:r>
              <a:t>3. ДИСЦИПЛІНА ВОГНЮ В ЗАСАДІ: ніколи не стріляти по дрону до відкриття засади, аби не підставити підрозділ під наліт.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slide: 8</a:t>
            </a:r>
          </a:p>
          <a:p>
            <a:r>
              <a:t>Visual formatting of supplied material; content not independently verified.</a:t>
            </a:r>
          </a:p>
          <a:p/>
          <a:p>
            <a:r>
              <a:t>ПАМ'ЯТКА ТА ВИСНОВКИ</a:t>
            </a:r>
          </a:p>
          <a:p/>
          <a:p>
            <a:r>
              <a:t>Зведена матриця протидії загрозам та правила живучості РТГр</a:t>
            </a:r>
          </a:p>
          <a:p>
            <a:r>
              <a:t>Швидкий алгоритм дій підрозділу за типами ворожих засобів повітряного нападу</a:t>
            </a:r>
          </a:p>
          <a:p/>
          <a:p>
            <a:r>
              <a:t>ТИП ЗАГРОЗИ</a:t>
            </a:r>
          </a:p>
          <a:p/>
          <a:p>
            <a:r>
              <a:t>ПАРАМЕТРИ ВОРОГА</a:t>
            </a:r>
          </a:p>
          <a:p/>
          <a:p>
            <a:r>
              <a:t>СПОСІБ ВИЯВЛЕННЯ</a:t>
            </a:r>
          </a:p>
          <a:p/>
          <a:p>
            <a:r>
              <a:t>ОСНОВНИЙ СПОСІБ ПРОТИДІЇ ТА ЗАХИСТУ</a:t>
            </a:r>
          </a:p>
          <a:p/>
          <a:p>
            <a:r>
              <a:t>FPV-дрони (ударні / скиди)</a:t>
            </a:r>
          </a:p>
          <a:p/>
          <a:p>
            <a:r>
              <a:t>25–30/добу, нальоти по 10–15 од., 4–6 у засідках</a:t>
            </a:r>
          </a:p>
          <a:p/>
          <a:p>
            <a:r>
              <a:t>Акустично (гул пропелерів), візуально на ПС, тепловізори вночі</a:t>
            </a:r>
          </a:p>
          <a:p/>
          <a:p>
            <a:r>
              <a:t>Чергові стрільці з помповими рушницями (картеч); сітки й спіральний дріт (від оптоволокна); вогонь на маршрутах.</a:t>
            </a:r>
          </a:p>
          <a:p/>
          <a:p>
            <a:r>
              <a:t>Баражуючі ББ («Ланцет»)</a:t>
            </a:r>
          </a:p>
          <a:p/>
          <a:p>
            <a:r>
              <a:t>3–5/добу, високоточні по техніці/ОП</a:t>
            </a:r>
          </a:p>
          <a:p/>
          <a:p>
            <a:r>
              <a:t>Літакові БпЛА-навідники, оптичні пости, система оповіщення</a:t>
            </a:r>
          </a:p>
          <a:p/>
          <a:p>
            <a:r>
              <a:t>Маскування техніки антитепловізійними чохлами; протидронові решітки/екрани; макети та хибні позиції.</a:t>
            </a:r>
          </a:p>
          <a:p/>
          <a:p>
            <a:r>
              <a:t>Розвідувальні БпЛА</a:t>
            </a:r>
          </a:p>
          <a:p/>
          <a:p>
            <a:r>
              <a:t>3–4 коптери над ротою цілодобово, 1–2 крила</a:t>
            </a:r>
          </a:p>
          <a:p/>
          <a:p>
            <a:r>
              <a:t>Акустичні ПС (у лісі слухати в першу чергу), тепловізори</a:t>
            </a:r>
          </a:p>
          <a:p/>
          <a:p>
            <a:r>
              <a:t>У засадах ВОГОНЬ НЕ ВІДКРИВАТИ до наказу КР; антитепловізійні пончо; повне перекриття укриттів «лисяча нора».</a:t>
            </a:r>
          </a:p>
          <a:p/>
          <a:p>
            <a:r>
              <a:t>Авіація (КАБ, Су-25, Ка-52)</a:t>
            </a:r>
          </a:p>
          <a:p/>
          <a:p>
            <a:r>
              <a:t>Су-34 (до 1 вильоту), Су-25 (до 2 пар), вертольоти (до 2 пар)</a:t>
            </a:r>
          </a:p>
          <a:p/>
          <a:p>
            <a:r>
              <a:t>Система оповіщення старшого начальника, візуальні ПС</a:t>
            </a:r>
          </a:p>
          <a:p/>
          <a:p>
            <a:r>
              <a:t>Негайне зайняття капітальних укриттів з перекриттям; зосереджений вогонь зі стрілецької зброї по низьких вертольотах.</a:t>
            </a:r>
          </a:p>
          <a:p/>
          <a:p>
            <a:r>
              <a:t>ЗОЛОТІ ПРАВИЛА ЖИВУЧОСТІ РОТНОЇ ТАКТИЧНОЇ ГРУПИ:</a:t>
            </a:r>
          </a:p>
          <a:p>
            <a:r>
              <a:t>1. ЧЕРГОВИЙ СТРІЛЕЦЬ З РУШНИЦЕЮ 12к — у кожному відділенні: це головний щит від раптових нальотів FPV та скидів.</a:t>
            </a:r>
          </a:p>
          <a:p>
            <a:r>
              <a:t>2. СПІРАЛЬНИЙ ДРІТ ТА СІТКА — обов'язкові над усіма траншеями й ходами (гарантований зрив оптоволоконних FPV).</a:t>
            </a:r>
          </a:p>
          <a:p>
            <a:r>
              <a:t>3. ДИСЦИПЛІНА ВОГНЮ В ЗАСАДІ: ніколи не стріляти по дрону до відкриття засади, аби не підставити підрозділ під наліт.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slide: 8</a:t>
            </a:r>
          </a:p>
          <a:p>
            <a:r>
              <a:t>Visual formatting of supplied material; content not independently verified.</a:t>
            </a:r>
          </a:p>
          <a:p/>
          <a:p>
            <a:r>
              <a:t>ПАМ'ЯТКА ТА ВИСНОВКИ</a:t>
            </a:r>
          </a:p>
          <a:p/>
          <a:p>
            <a:r>
              <a:t>Зведена матриця протидії загрозам та правила живучості РТГр</a:t>
            </a:r>
          </a:p>
          <a:p>
            <a:r>
              <a:t>Швидкий алгоритм дій підрозділу за типами ворожих засобів повітряного нападу</a:t>
            </a:r>
          </a:p>
          <a:p/>
          <a:p>
            <a:r>
              <a:t>ТИП ЗАГРОЗИ</a:t>
            </a:r>
          </a:p>
          <a:p/>
          <a:p>
            <a:r>
              <a:t>ПАРАМЕТРИ ВОРОГА</a:t>
            </a:r>
          </a:p>
          <a:p/>
          <a:p>
            <a:r>
              <a:t>СПОСІБ ВИЯВЛЕННЯ</a:t>
            </a:r>
          </a:p>
          <a:p/>
          <a:p>
            <a:r>
              <a:t>ОСНОВНИЙ СПОСІБ ПРОТИДІЇ ТА ЗАХИСТУ</a:t>
            </a:r>
          </a:p>
          <a:p/>
          <a:p>
            <a:r>
              <a:t>FPV-дрони (ударні / скиди)</a:t>
            </a:r>
          </a:p>
          <a:p/>
          <a:p>
            <a:r>
              <a:t>25–30/добу, нальоти по 10–15 од., 4–6 у засідках</a:t>
            </a:r>
          </a:p>
          <a:p/>
          <a:p>
            <a:r>
              <a:t>Акустично (гул пропелерів), візуально на ПС, тепловізори вночі</a:t>
            </a:r>
          </a:p>
          <a:p/>
          <a:p>
            <a:r>
              <a:t>Чергові стрільці з помповими рушницями (картеч); сітки й спіральний дріт (від оптоволокна); вогонь на маршрутах.</a:t>
            </a:r>
          </a:p>
          <a:p/>
          <a:p>
            <a:r>
              <a:t>Баражуючі ББ («Ланцет»)</a:t>
            </a:r>
          </a:p>
          <a:p/>
          <a:p>
            <a:r>
              <a:t>3–5/добу, високоточні по техніці/ОП</a:t>
            </a:r>
          </a:p>
          <a:p/>
          <a:p>
            <a:r>
              <a:t>Літакові БпЛА-навідники, оптичні пости, система оповіщення</a:t>
            </a:r>
          </a:p>
          <a:p/>
          <a:p>
            <a:r>
              <a:t>Маскування техніки антитепловізійними чохлами; протидронові решітки/екрани; макети та хибні позиції.</a:t>
            </a:r>
          </a:p>
          <a:p/>
          <a:p>
            <a:r>
              <a:t>Розвідувальні БпЛА</a:t>
            </a:r>
          </a:p>
          <a:p/>
          <a:p>
            <a:r>
              <a:t>3–4 коптери над ротою цілодобово, 1–2 крила</a:t>
            </a:r>
          </a:p>
          <a:p/>
          <a:p>
            <a:r>
              <a:t>Акустичні ПС (у лісі слухати в першу чергу), тепловізори</a:t>
            </a:r>
          </a:p>
          <a:p/>
          <a:p>
            <a:r>
              <a:t>У засадах ВОГОНЬ НЕ ВІДКРИВАТИ до наказу КР; антитепловізійні пончо; повне перекриття укриттів «лисяча нора».</a:t>
            </a:r>
          </a:p>
          <a:p/>
          <a:p>
            <a:r>
              <a:t>Авіація (КАБ, Су-25, Ка-52)</a:t>
            </a:r>
          </a:p>
          <a:p/>
          <a:p>
            <a:r>
              <a:t>Су-34 (до 1 вильоту), Су-25 (до 2 пар), вертольоти (до 2 пар)</a:t>
            </a:r>
          </a:p>
          <a:p/>
          <a:p>
            <a:r>
              <a:t>Система оповіщення старшого начальника, візуальні ПС</a:t>
            </a:r>
          </a:p>
          <a:p/>
          <a:p>
            <a:r>
              <a:t>Негайне зайняття капітальних укриттів з перекриттям; зосереджений вогонь зі стрілецької зброї по низьких вертольотах.</a:t>
            </a:r>
          </a:p>
          <a:p/>
          <a:p>
            <a:r>
              <a:t>ЗОЛОТІ ПРАВИЛА ЖИВУЧОСТІ РОТНОЇ ТАКТИЧНОЇ ГРУПИ:</a:t>
            </a:r>
          </a:p>
          <a:p>
            <a:r>
              <a:t>1. ЧЕРГОВИЙ СТРІЛЕЦЬ З РУШНИЦЕЮ 12к — у кожному відділенні: це головний щит від раптових нальотів FPV та скидів.</a:t>
            </a:r>
          </a:p>
          <a:p>
            <a:r>
              <a:t>2. СПІРАЛЬНИЙ ДРІТ ТА СІТКА — обов'язкові над усіма траншеями й ходами (гарантований зрив оптоволоконних FPV).</a:t>
            </a:r>
          </a:p>
          <a:p>
            <a:r>
              <a:t>3. ДИСЦИПЛІНА ВОГНЮ В ЗАСАДІ: ніколи не стріляти по дрону до відкриття засади, аби не підставити підрозділ під наліт.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9601200" cy="2151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9AD78"/>
                </a:solidFill>
                <a:latin typeface="Segoe UI Semibold"/>
              </a:rPr>
              <a:t>ТАКТИЧНА</a:t>
            </a:r>
            <a:r>
              <a:rPr sz="1100" b="1">
                <a:solidFill>
                  <a:srgbClr val="C9AD78"/>
                </a:solidFill>
                <a:latin typeface="Segoe UI Semibold"/>
              </a:rPr>
              <a:t> ПІДГОТОВКА</a:t>
            </a:r>
            <a:r>
              <a:rPr sz="1100" b="1">
                <a:solidFill>
                  <a:srgbClr val="C9AD78"/>
                </a:solidFill>
                <a:latin typeface="Segoe UI Semibold"/>
              </a:rPr>
              <a:t> |</a:t>
            </a:r>
            <a:r>
              <a:rPr sz="1100" b="1">
                <a:solidFill>
                  <a:srgbClr val="C9AD78"/>
                </a:solidFill>
                <a:latin typeface="Segoe UI Semibold"/>
              </a:rPr>
              <a:t> РОТНІ</a:t>
            </a:r>
            <a:r>
              <a:rPr sz="1100" b="1">
                <a:solidFill>
                  <a:srgbClr val="C9AD78"/>
                </a:solidFill>
                <a:latin typeface="Segoe UI Semibold"/>
              </a:rPr>
              <a:t> ТАКТИЧНІ</a:t>
            </a:r>
            <a:r>
              <a:rPr sz="1100" b="1">
                <a:solidFill>
                  <a:srgbClr val="C9AD78"/>
                </a:solidFill>
                <a:latin typeface="Segoe UI Semibold"/>
              </a:rPr>
              <a:t> НАВЧАННЯ</a:t>
            </a:r>
            <a:r>
              <a:rPr sz="1100" b="1">
                <a:solidFill>
                  <a:srgbClr val="C9AD78"/>
                </a:solidFill>
                <a:latin typeface="Segoe UI Semibold"/>
              </a:rPr>
              <a:t> (РТН)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34440"/>
            <a:ext cx="1005840" cy="25400"/>
          </a:xfrm>
          <a:prstGeom prst="rect">
            <a:avLst/>
          </a:prstGeom>
          <a:solidFill>
            <a:srgbClr val="C9A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27632"/>
            <a:ext cx="9738360" cy="18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4773"/>
              </a:lnSpc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F3F1EB"/>
                </a:solidFill>
                <a:latin typeface="Segoe UI Semibold"/>
              </a:rPr>
              <a:t>Дії</a:t>
            </a:r>
            <a:r>
              <a:rPr sz="4300" b="1">
                <a:solidFill>
                  <a:srgbClr val="F3F1EB"/>
                </a:solidFill>
                <a:latin typeface="Segoe UI Semibold"/>
              </a:rPr>
              <a:t> повітряного</a:t>
            </a:r>
            <a:r>
              <a:rPr sz="4300" b="1">
                <a:solidFill>
                  <a:srgbClr val="F3F1EB"/>
                </a:solidFill>
                <a:latin typeface="Segoe UI Semibold"/>
              </a:rPr>
              <a:t> противника</a:t>
            </a:r>
            <a:r>
              <a:rPr sz="4300" b="1">
                <a:solidFill>
                  <a:srgbClr val="F3F1EB"/>
                </a:solidFill>
                <a:latin typeface="Segoe UI Semibold"/>
              </a:rPr>
              <a:t> та</a:t>
            </a:r>
            <a:br/>
            <a:r>
              <a:rPr sz="4300" b="1">
                <a:solidFill>
                  <a:srgbClr val="F3F1EB"/>
                </a:solidFill>
                <a:latin typeface="Segoe UI Semibold"/>
              </a:rPr>
              <a:t>заходи</a:t>
            </a:r>
            <a:r>
              <a:rPr sz="4300" b="1">
                <a:solidFill>
                  <a:srgbClr val="F3F1EB"/>
                </a:solidFill>
                <a:latin typeface="Segoe UI Semibold"/>
              </a:rPr>
              <a:t> протидії</a:t>
            </a:r>
            <a:r>
              <a:rPr sz="4300" b="1">
                <a:solidFill>
                  <a:srgbClr val="F3F1EB"/>
                </a:solidFill>
                <a:latin typeface="Segoe UI Semibold"/>
              </a:rPr>
              <a:t> засобам</a:t>
            </a:r>
            <a:br/>
            <a:r>
              <a:rPr sz="4300" b="1">
                <a:solidFill>
                  <a:srgbClr val="F3F1EB"/>
                </a:solidFill>
                <a:latin typeface="Segoe UI Semibold"/>
              </a:rPr>
              <a:t>повітряного</a:t>
            </a:r>
            <a:r>
              <a:rPr sz="4300" b="1">
                <a:solidFill>
                  <a:srgbClr val="F3F1EB"/>
                </a:solidFill>
                <a:latin typeface="Segoe UI Semibold"/>
              </a:rPr>
              <a:t> нападу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971925"/>
            <a:ext cx="8412480" cy="619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A5ADBA"/>
                </a:solidFill>
                <a:latin typeface="Segoe UI"/>
              </a:rPr>
              <a:t>Організація</a:t>
            </a:r>
            <a:r>
              <a:rPr sz="1900" b="0">
                <a:solidFill>
                  <a:srgbClr val="A5ADBA"/>
                </a:solidFill>
                <a:latin typeface="Segoe UI"/>
              </a:rPr>
              <a:t> спостереження,</a:t>
            </a:r>
            <a:r>
              <a:rPr sz="1900" b="0">
                <a:solidFill>
                  <a:srgbClr val="A5ADBA"/>
                </a:solidFill>
                <a:latin typeface="Segoe UI"/>
              </a:rPr>
              <a:t> вогневого</a:t>
            </a:r>
            <a:r>
              <a:rPr sz="1900" b="0">
                <a:solidFill>
                  <a:srgbClr val="A5ADBA"/>
                </a:solidFill>
                <a:latin typeface="Segoe UI"/>
              </a:rPr>
              <a:t> прикриття,</a:t>
            </a:r>
            <a:r>
              <a:rPr sz="1900" b="0">
                <a:solidFill>
                  <a:srgbClr val="A5ADBA"/>
                </a:solidFill>
                <a:latin typeface="Segoe UI"/>
              </a:rPr>
              <a:t> інженерного</a:t>
            </a:r>
            <a:r>
              <a:rPr sz="1900" b="0">
                <a:solidFill>
                  <a:srgbClr val="A5ADBA"/>
                </a:solidFill>
                <a:latin typeface="Segoe UI"/>
              </a:rPr>
              <a:t> захисту</a:t>
            </a:r>
            <a:r>
              <a:rPr sz="1900" b="0">
                <a:solidFill>
                  <a:srgbClr val="A5ADBA"/>
                </a:solidFill>
                <a:latin typeface="Segoe UI"/>
              </a:rPr>
              <a:t> та</a:t>
            </a:r>
            <a:br/>
            <a:r>
              <a:rPr sz="1900" b="0">
                <a:solidFill>
                  <a:srgbClr val="A5ADBA"/>
                </a:solidFill>
                <a:latin typeface="Segoe UI"/>
              </a:rPr>
              <a:t>живучості</a:t>
            </a:r>
            <a:r>
              <a:rPr sz="1900" b="0">
                <a:solidFill>
                  <a:srgbClr val="A5ADBA"/>
                </a:solidFill>
                <a:latin typeface="Segoe UI"/>
              </a:rPr>
              <a:t> РТГр</a:t>
            </a:r>
            <a:r>
              <a:rPr sz="1900" b="0">
                <a:solidFill>
                  <a:srgbClr val="A5ADBA"/>
                </a:solidFill>
                <a:latin typeface="Segoe UI"/>
              </a:rPr>
              <a:t> у</a:t>
            </a:r>
            <a:r>
              <a:rPr sz="1900" b="0">
                <a:solidFill>
                  <a:srgbClr val="A5ADBA"/>
                </a:solidFill>
                <a:latin typeface="Segoe UI"/>
              </a:rPr>
              <a:t> типових</a:t>
            </a:r>
            <a:r>
              <a:rPr sz="1900" b="0">
                <a:solidFill>
                  <a:srgbClr val="A5ADBA"/>
                </a:solidFill>
                <a:latin typeface="Segoe UI"/>
              </a:rPr>
              <a:t> тактичних</a:t>
            </a:r>
            <a:r>
              <a:rPr sz="1900" b="0">
                <a:solidFill>
                  <a:srgbClr val="A5ADBA"/>
                </a:solidFill>
                <a:latin typeface="Segoe UI"/>
              </a:rPr>
              <a:t> епізодах</a:t>
            </a:r>
            <a:r>
              <a:rPr sz="1900" b="0">
                <a:solidFill>
                  <a:srgbClr val="A5ADBA"/>
                </a:solidFill>
                <a:latin typeface="Segoe UI"/>
              </a:rPr>
              <a:t> сучасного</a:t>
            </a:r>
            <a:r>
              <a:rPr sz="1900" b="0">
                <a:solidFill>
                  <a:srgbClr val="A5ADBA"/>
                </a:solidFill>
                <a:latin typeface="Segoe UI"/>
              </a:rPr>
              <a:t> бою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5212080"/>
            <a:ext cx="1627632" cy="469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3304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9AD78"/>
                </a:solidFill>
                <a:latin typeface="Segoe UI Semibold"/>
              </a:rPr>
              <a:t>РТН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391656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7132320" cy="1851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5ADBA"/>
                </a:solidFill>
                <a:latin typeface="Segoe UI"/>
              </a:rPr>
              <a:t>РТН</a:t>
            </a:r>
            <a:r>
              <a:rPr sz="900" b="0">
                <a:solidFill>
                  <a:srgbClr val="A5ADBA"/>
                </a:solidFill>
                <a:latin typeface="Segoe UI"/>
              </a:rPr>
              <a:t> /</a:t>
            </a:r>
            <a:r>
              <a:rPr sz="900" b="0">
                <a:solidFill>
                  <a:srgbClr val="A5ADBA"/>
                </a:solidFill>
                <a:latin typeface="Segoe UI"/>
              </a:rPr>
              <a:t> МАТЕРІАЛИ</a:t>
            </a:r>
            <a:r>
              <a:rPr sz="900" b="0">
                <a:solidFill>
                  <a:srgbClr val="A5ADBA"/>
                </a:solidFill>
                <a:latin typeface="Segoe UI"/>
              </a:rPr>
              <a:t> БРИФІНГУ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64808"/>
            <a:ext cx="1444752" cy="2001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9AD78"/>
                </a:solidFill>
                <a:latin typeface="Segoe UI"/>
              </a:rPr>
              <a:t>01</a:t>
            </a:r>
            <a:r>
              <a:rPr sz="1000" b="0">
                <a:solidFill>
                  <a:srgbClr val="C9AD78"/>
                </a:solidFill>
                <a:latin typeface="Segoe UI"/>
              </a:rPr>
              <a:t> /</a:t>
            </a:r>
            <a:r>
              <a:rPr sz="1000" b="0">
                <a:solidFill>
                  <a:srgbClr val="C9AD78"/>
                </a:solidFill>
                <a:latin typeface="Segoe UI"/>
              </a:rPr>
              <a:t>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93192"/>
            <a:ext cx="11003279" cy="2076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AD78"/>
                </a:solidFill>
                <a:latin typeface="Segoe UI Semibold"/>
              </a:rPr>
              <a:t>ТАКТИЧНА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ПІДГОТОВКА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|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РОТНІ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ТАКТИЧНІ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НАВЧАННЯ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(РТН)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79" cy="469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1EB"/>
                </a:solidFill>
                <a:latin typeface="Segoe UI Semibold"/>
              </a:rPr>
              <a:t>Зміст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брифінгу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65504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84960"/>
            <a:ext cx="594360" cy="3649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C9AD78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584960"/>
            <a:ext cx="2926080" cy="5897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ЗАСОБИ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НАПАДУ</a:t>
            </a:r>
            <a:br/>
            <a:r>
              <a:rPr sz="1800" b="1">
                <a:solidFill>
                  <a:srgbClr val="F3F1EB"/>
                </a:solidFill>
                <a:latin typeface="Segoe UI Semibold"/>
              </a:rPr>
              <a:t>ПРОТИВНИКА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1584960"/>
            <a:ext cx="6793992" cy="6395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3F1EB"/>
                </a:solidFill>
                <a:latin typeface="Segoe UI"/>
              </a:rPr>
              <a:t>Авіація</a:t>
            </a:r>
            <a:r>
              <a:rPr sz="2000" b="0">
                <a:solidFill>
                  <a:srgbClr val="F3F1EB"/>
                </a:solidFill>
                <a:latin typeface="Segoe UI"/>
              </a:rPr>
              <a:t> (Су-34,</a:t>
            </a:r>
            <a:r>
              <a:rPr sz="2000" b="0">
                <a:solidFill>
                  <a:srgbClr val="F3F1EB"/>
                </a:solidFill>
                <a:latin typeface="Segoe UI"/>
              </a:rPr>
              <a:t> Су-25,</a:t>
            </a:r>
            <a:r>
              <a:rPr sz="2000" b="0">
                <a:solidFill>
                  <a:srgbClr val="F3F1EB"/>
                </a:solidFill>
                <a:latin typeface="Segoe UI"/>
              </a:rPr>
              <a:t> вертольоти),</a:t>
            </a:r>
            <a:r>
              <a:rPr sz="2000" b="0">
                <a:solidFill>
                  <a:srgbClr val="F3F1EB"/>
                </a:solidFill>
                <a:latin typeface="Segoe UI"/>
              </a:rPr>
              <a:t> БпЛА-розвідники,</a:t>
            </a:r>
            <a:r>
              <a:rPr sz="2000" b="0">
                <a:solidFill>
                  <a:srgbClr val="F3F1EB"/>
                </a:solidFill>
                <a:latin typeface="Segoe UI"/>
              </a:rPr>
              <a:t> FPV</a:t>
            </a:r>
            <a:br/>
            <a:r>
              <a:rPr sz="2000" b="0">
                <a:solidFill>
                  <a:srgbClr val="F3F1EB"/>
                </a:solidFill>
                <a:latin typeface="Segoe UI"/>
              </a:rPr>
              <a:t>(до</a:t>
            </a:r>
            <a:r>
              <a:rPr sz="2000" b="0">
                <a:solidFill>
                  <a:srgbClr val="F3F1EB"/>
                </a:solidFill>
                <a:latin typeface="Segoe UI"/>
              </a:rPr>
              <a:t> 30/добу)</a:t>
            </a:r>
            <a:r>
              <a:rPr sz="2000" b="0">
                <a:solidFill>
                  <a:srgbClr val="F3F1EB"/>
                </a:solidFill>
                <a:latin typeface="Segoe UI"/>
              </a:rPr>
              <a:t> та</a:t>
            </a:r>
            <a:r>
              <a:rPr sz="2000" b="0">
                <a:solidFill>
                  <a:srgbClr val="F3F1EB"/>
                </a:solidFill>
                <a:latin typeface="Segoe UI"/>
              </a:rPr>
              <a:t> баражуючі</a:t>
            </a:r>
            <a:r>
              <a:rPr sz="2000" b="0">
                <a:solidFill>
                  <a:srgbClr val="F3F1EB"/>
                </a:solidFill>
                <a:latin typeface="Segoe UI"/>
              </a:rPr>
              <a:t> боєприпаси</a:t>
            </a:r>
            <a:r>
              <a:rPr sz="2000" b="0">
                <a:solidFill>
                  <a:srgbClr val="F3F1EB"/>
                </a:solidFill>
                <a:latin typeface="Segoe UI"/>
              </a:rPr>
              <a:t> («Ланцет»)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462276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0876"/>
            <a:ext cx="594360" cy="3649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C9AD78"/>
                </a:solidFill>
                <a:latin typeface="Segoe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690876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ТАКТИЧНІ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ЕПІЗОДИ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690876"/>
            <a:ext cx="6793992" cy="9342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3F1EB"/>
                </a:solidFill>
                <a:latin typeface="Segoe UI"/>
              </a:rPr>
              <a:t>1.</a:t>
            </a:r>
            <a:r>
              <a:rPr sz="2000" b="0">
                <a:solidFill>
                  <a:srgbClr val="F3F1EB"/>
                </a:solidFill>
                <a:latin typeface="Segoe UI"/>
              </a:rPr>
              <a:t> Засади</a:t>
            </a:r>
            <a:r>
              <a:rPr sz="2000" b="0">
                <a:solidFill>
                  <a:srgbClr val="F3F1EB"/>
                </a:solidFill>
                <a:latin typeface="Segoe UI"/>
              </a:rPr>
              <a:t> в</a:t>
            </a:r>
            <a:r>
              <a:rPr sz="2000" b="0">
                <a:solidFill>
                  <a:srgbClr val="F3F1EB"/>
                </a:solidFill>
                <a:latin typeface="Segoe UI"/>
              </a:rPr>
              <a:t> лісі</a:t>
            </a:r>
            <a:r>
              <a:rPr sz="2000" b="0">
                <a:solidFill>
                  <a:srgbClr val="F3F1EB"/>
                </a:solidFill>
                <a:latin typeface="Segoe UI"/>
              </a:rPr>
              <a:t> («лисячі</a:t>
            </a:r>
            <a:r>
              <a:rPr sz="2000" b="0">
                <a:solidFill>
                  <a:srgbClr val="F3F1EB"/>
                </a:solidFill>
                <a:latin typeface="Segoe UI"/>
              </a:rPr>
              <a:t> нори»)</a:t>
            </a:r>
          </a:p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3F1EB"/>
                </a:solidFill>
                <a:latin typeface="Segoe UI"/>
              </a:rPr>
              <a:t>2.</a:t>
            </a:r>
            <a:r>
              <a:rPr sz="2000" b="0">
                <a:solidFill>
                  <a:srgbClr val="F3F1EB"/>
                </a:solidFill>
                <a:latin typeface="Segoe UI"/>
              </a:rPr>
              <a:t> Автономні</a:t>
            </a:r>
            <a:r>
              <a:rPr sz="2000" b="0">
                <a:solidFill>
                  <a:srgbClr val="F3F1EB"/>
                </a:solidFill>
                <a:latin typeface="Segoe UI"/>
              </a:rPr>
              <a:t> дії</a:t>
            </a:r>
            <a:r>
              <a:rPr sz="2000" b="0">
                <a:solidFill>
                  <a:srgbClr val="F3F1EB"/>
                </a:solidFill>
                <a:latin typeface="Segoe UI"/>
              </a:rPr>
              <a:t> та</a:t>
            </a:r>
            <a:r>
              <a:rPr sz="2000" b="0">
                <a:solidFill>
                  <a:srgbClr val="F3F1EB"/>
                </a:solidFill>
                <a:latin typeface="Segoe UI"/>
              </a:rPr>
              <a:t> інженерні</a:t>
            </a:r>
            <a:r>
              <a:rPr sz="2000" b="0">
                <a:solidFill>
                  <a:srgbClr val="F3F1EB"/>
                </a:solidFill>
                <a:latin typeface="Segoe UI"/>
              </a:rPr>
              <a:t> роботи</a:t>
            </a:r>
          </a:p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3F1EB"/>
                </a:solidFill>
                <a:latin typeface="Segoe UI"/>
              </a:rPr>
              <a:t>3.</a:t>
            </a:r>
            <a:r>
              <a:rPr sz="2000" b="0">
                <a:solidFill>
                  <a:srgbClr val="F3F1EB"/>
                </a:solidFill>
                <a:latin typeface="Segoe UI"/>
              </a:rPr>
              <a:t> Ближній</a:t>
            </a:r>
            <a:r>
              <a:rPr sz="2000" b="0">
                <a:solidFill>
                  <a:srgbClr val="F3F1EB"/>
                </a:solidFill>
                <a:latin typeface="Segoe UI"/>
              </a:rPr>
              <a:t> бій</a:t>
            </a:r>
            <a:r>
              <a:rPr sz="2000" b="0">
                <a:solidFill>
                  <a:srgbClr val="F3F1EB"/>
                </a:solidFill>
                <a:latin typeface="Segoe UI"/>
              </a:rPr>
              <a:t> у</a:t>
            </a:r>
            <a:r>
              <a:rPr sz="2000" b="0">
                <a:solidFill>
                  <a:srgbClr val="F3F1EB"/>
                </a:solidFill>
                <a:latin typeface="Segoe UI"/>
              </a:rPr>
              <a:t> лісі</a:t>
            </a:r>
            <a:r>
              <a:rPr sz="2000" b="0">
                <a:solidFill>
                  <a:srgbClr val="F3F1EB"/>
                </a:solidFill>
                <a:latin typeface="Segoe UI"/>
              </a:rPr>
              <a:t> та</a:t>
            </a:r>
            <a:r>
              <a:rPr sz="2000" b="0">
                <a:solidFill>
                  <a:srgbClr val="F3F1EB"/>
                </a:solidFill>
                <a:latin typeface="Segoe UI"/>
              </a:rPr>
              <a:t> кругова</a:t>
            </a:r>
            <a:r>
              <a:rPr sz="2000" b="0">
                <a:solidFill>
                  <a:srgbClr val="F3F1EB"/>
                </a:solidFill>
                <a:latin typeface="Segoe UI"/>
              </a:rPr>
              <a:t> оборона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862831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091431"/>
            <a:ext cx="594360" cy="3649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C9AD78"/>
                </a:solidFill>
                <a:latin typeface="Segoe U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091431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СИСТЕМА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ПРОТИДІЇ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РТГр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4091431"/>
            <a:ext cx="6793992" cy="9342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3F1EB"/>
                </a:solidFill>
                <a:latin typeface="Segoe UI"/>
              </a:rPr>
              <a:t>Пости</a:t>
            </a:r>
            <a:r>
              <a:rPr sz="2000" b="0">
                <a:solidFill>
                  <a:srgbClr val="F3F1EB"/>
                </a:solidFill>
                <a:latin typeface="Segoe UI"/>
              </a:rPr>
              <a:t> спостереження</a:t>
            </a:r>
            <a:r>
              <a:rPr sz="2000" b="0">
                <a:solidFill>
                  <a:srgbClr val="F3F1EB"/>
                </a:solidFill>
                <a:latin typeface="Segoe UI"/>
              </a:rPr>
              <a:t> (візуал</a:t>
            </a:r>
            <a:r>
              <a:rPr sz="2000" b="0">
                <a:solidFill>
                  <a:srgbClr val="F3F1EB"/>
                </a:solidFill>
                <a:latin typeface="Segoe UI"/>
              </a:rPr>
              <a:t> +</a:t>
            </a:r>
            <a:r>
              <a:rPr sz="2000" b="0">
                <a:solidFill>
                  <a:srgbClr val="F3F1EB"/>
                </a:solidFill>
                <a:latin typeface="Segoe UI"/>
              </a:rPr>
              <a:t> акустика),</a:t>
            </a:r>
            <a:r>
              <a:rPr sz="2000" b="0">
                <a:solidFill>
                  <a:srgbClr val="F3F1EB"/>
                </a:solidFill>
                <a:latin typeface="Segoe UI"/>
              </a:rPr>
              <a:t> чергові</a:t>
            </a:r>
            <a:br/>
            <a:r>
              <a:rPr sz="2000" b="0">
                <a:solidFill>
                  <a:srgbClr val="F3F1EB"/>
                </a:solidFill>
                <a:latin typeface="Segoe UI"/>
              </a:rPr>
              <a:t>стрільці</a:t>
            </a:r>
            <a:r>
              <a:rPr sz="2000" b="0">
                <a:solidFill>
                  <a:srgbClr val="F3F1EB"/>
                </a:solidFill>
                <a:latin typeface="Segoe UI"/>
              </a:rPr>
              <a:t> (рушниці</a:t>
            </a:r>
            <a:r>
              <a:rPr sz="2000" b="0">
                <a:solidFill>
                  <a:srgbClr val="F3F1EB"/>
                </a:solidFill>
                <a:latin typeface="Segoe UI"/>
              </a:rPr>
              <a:t> 12к),</a:t>
            </a:r>
            <a:r>
              <a:rPr sz="2000" b="0">
                <a:solidFill>
                  <a:srgbClr val="F3F1EB"/>
                </a:solidFill>
                <a:latin typeface="Segoe UI"/>
              </a:rPr>
              <a:t> протидронові</a:t>
            </a:r>
            <a:r>
              <a:rPr sz="2000" b="0">
                <a:solidFill>
                  <a:srgbClr val="F3F1EB"/>
                </a:solidFill>
                <a:latin typeface="Segoe UI"/>
              </a:rPr>
              <a:t> сітки,</a:t>
            </a:r>
            <a:r>
              <a:rPr sz="2000" b="0">
                <a:solidFill>
                  <a:srgbClr val="F3F1EB"/>
                </a:solidFill>
                <a:latin typeface="Segoe UI"/>
              </a:rPr>
              <a:t> захист</a:t>
            </a:r>
            <a:r>
              <a:rPr sz="2000" b="0">
                <a:solidFill>
                  <a:srgbClr val="F3F1EB"/>
                </a:solidFill>
                <a:latin typeface="Segoe UI"/>
              </a:rPr>
              <a:t> від</a:t>
            </a:r>
            <a:br/>
            <a:r>
              <a:rPr sz="2000" b="0">
                <a:solidFill>
                  <a:srgbClr val="F3F1EB"/>
                </a:solidFill>
                <a:latin typeface="Segoe UI"/>
              </a:rPr>
              <a:t>оптоволокна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742432"/>
            <a:ext cx="11003279" cy="2526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A5ADBA"/>
                </a:solidFill>
                <a:latin typeface="Segoe UI"/>
              </a:rPr>
              <a:t>Підрозділи</a:t>
            </a:r>
            <a:r>
              <a:rPr sz="1350" b="0">
                <a:solidFill>
                  <a:srgbClr val="A5ADBA"/>
                </a:solidFill>
                <a:latin typeface="Segoe UI"/>
              </a:rPr>
              <a:t> тактичного</a:t>
            </a:r>
            <a:r>
              <a:rPr sz="1350" b="0">
                <a:solidFill>
                  <a:srgbClr val="A5ADBA"/>
                </a:solidFill>
                <a:latin typeface="Segoe UI"/>
              </a:rPr>
              <a:t> рівня:</a:t>
            </a:r>
            <a:r>
              <a:rPr sz="1350" b="0">
                <a:solidFill>
                  <a:srgbClr val="A5ADBA"/>
                </a:solidFill>
                <a:latin typeface="Segoe UI"/>
              </a:rPr>
              <a:t> Рота</a:t>
            </a:r>
            <a:r>
              <a:rPr sz="1350" b="0">
                <a:solidFill>
                  <a:srgbClr val="A5ADBA"/>
                </a:solidFill>
                <a:latin typeface="Segoe UI"/>
              </a:rPr>
              <a:t> /</a:t>
            </a:r>
            <a:r>
              <a:rPr sz="1350" b="0">
                <a:solidFill>
                  <a:srgbClr val="A5ADBA"/>
                </a:solidFill>
                <a:latin typeface="Segoe UI"/>
              </a:rPr>
              <a:t> Ротна</a:t>
            </a:r>
            <a:r>
              <a:rPr sz="1350" b="0">
                <a:solidFill>
                  <a:srgbClr val="A5ADBA"/>
                </a:solidFill>
                <a:latin typeface="Segoe UI"/>
              </a:rPr>
              <a:t> тактична</a:t>
            </a:r>
            <a:r>
              <a:rPr sz="1350" b="0">
                <a:solidFill>
                  <a:srgbClr val="A5ADBA"/>
                </a:solidFill>
                <a:latin typeface="Segoe UI"/>
              </a:rPr>
              <a:t> група</a:t>
            </a:r>
            <a:r>
              <a:rPr sz="1350" b="0">
                <a:solidFill>
                  <a:srgbClr val="A5ADBA"/>
                </a:solidFill>
                <a:latin typeface="Segoe UI"/>
              </a:rPr>
              <a:t> (РТГр)</a:t>
            </a:r>
            <a:r>
              <a:rPr sz="1350" b="0">
                <a:solidFill>
                  <a:srgbClr val="A5ADBA"/>
                </a:solidFill>
                <a:latin typeface="Segoe UI"/>
              </a:rPr>
              <a:t> |</a:t>
            </a:r>
            <a:r>
              <a:rPr sz="1350" b="0">
                <a:solidFill>
                  <a:srgbClr val="A5ADBA"/>
                </a:solidFill>
                <a:latin typeface="Segoe UI"/>
              </a:rPr>
              <a:t> Досвід</a:t>
            </a:r>
            <a:r>
              <a:rPr sz="1350" b="0">
                <a:solidFill>
                  <a:srgbClr val="A5ADBA"/>
                </a:solidFill>
                <a:latin typeface="Segoe UI"/>
              </a:rPr>
              <a:t> бойових</a:t>
            </a:r>
            <a:r>
              <a:rPr sz="1350" b="0">
                <a:solidFill>
                  <a:srgbClr val="A5ADBA"/>
                </a:solidFill>
                <a:latin typeface="Segoe UI"/>
              </a:rPr>
              <a:t> дій</a:t>
            </a:r>
            <a:r>
              <a:rPr sz="1350" b="0">
                <a:solidFill>
                  <a:srgbClr val="A5ADBA"/>
                </a:solidFill>
                <a:latin typeface="Segoe UI"/>
              </a:rPr>
              <a:t> та</a:t>
            </a:r>
            <a:r>
              <a:rPr sz="1350" b="0">
                <a:solidFill>
                  <a:srgbClr val="A5ADBA"/>
                </a:solidFill>
                <a:latin typeface="Segoe UI"/>
              </a:rPr>
              <a:t> РТН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391656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7132320" cy="1851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5ADBA"/>
                </a:solidFill>
                <a:latin typeface="Segoe UI"/>
              </a:rPr>
              <a:t>РТН</a:t>
            </a:r>
            <a:r>
              <a:rPr sz="900" b="0">
                <a:solidFill>
                  <a:srgbClr val="A5ADBA"/>
                </a:solidFill>
                <a:latin typeface="Segoe UI"/>
              </a:rPr>
              <a:t> /</a:t>
            </a:r>
            <a:r>
              <a:rPr sz="900" b="0">
                <a:solidFill>
                  <a:srgbClr val="A5ADBA"/>
                </a:solidFill>
                <a:latin typeface="Segoe UI"/>
              </a:rPr>
              <a:t> МАТЕРІАЛИ</a:t>
            </a:r>
            <a:r>
              <a:rPr sz="900" b="0">
                <a:solidFill>
                  <a:srgbClr val="A5ADBA"/>
                </a:solidFill>
                <a:latin typeface="Segoe UI"/>
              </a:rPr>
              <a:t> БРИФІНГУ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6464808"/>
            <a:ext cx="1444752" cy="2001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9AD78"/>
                </a:solidFill>
                <a:latin typeface="Segoe UI"/>
              </a:rPr>
              <a:t>02</a:t>
            </a:r>
            <a:r>
              <a:rPr sz="1000" b="0">
                <a:solidFill>
                  <a:srgbClr val="C9AD78"/>
                </a:solidFill>
                <a:latin typeface="Segoe UI"/>
              </a:rPr>
              <a:t> /</a:t>
            </a:r>
            <a:r>
              <a:rPr sz="1000" b="0">
                <a:solidFill>
                  <a:srgbClr val="C9AD78"/>
                </a:solidFill>
                <a:latin typeface="Segoe UI"/>
              </a:rPr>
              <a:t>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93192"/>
            <a:ext cx="11003279" cy="2076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AD78"/>
                </a:solidFill>
                <a:latin typeface="Segoe UI Semibold"/>
              </a:rPr>
              <a:t>ОЦІНКА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ОБСТАНОВКИ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79" cy="8884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1EB"/>
                </a:solidFill>
                <a:latin typeface="Segoe UI Semibold"/>
              </a:rPr>
              <a:t>Склад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та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інтенсивність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засобів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повітряного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нападу</a:t>
            </a:r>
            <a:br/>
            <a:r>
              <a:rPr sz="3000" b="1">
                <a:solidFill>
                  <a:srgbClr val="F3F1EB"/>
                </a:solidFill>
                <a:latin typeface="Segoe UI Semibold"/>
              </a:rPr>
              <a:t>противника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93164"/>
            <a:ext cx="11003279" cy="2602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A5ADBA"/>
                </a:solidFill>
                <a:latin typeface="Segoe UI"/>
              </a:rPr>
              <a:t>Імовірний</a:t>
            </a:r>
            <a:r>
              <a:rPr sz="1450" b="0">
                <a:solidFill>
                  <a:srgbClr val="A5ADBA"/>
                </a:solidFill>
                <a:latin typeface="Segoe UI"/>
              </a:rPr>
              <a:t> розподіл</a:t>
            </a:r>
            <a:r>
              <a:rPr sz="1450" b="0">
                <a:solidFill>
                  <a:srgbClr val="A5ADBA"/>
                </a:solidFill>
                <a:latin typeface="Segoe UI"/>
              </a:rPr>
              <a:t> повітряних</a:t>
            </a:r>
            <a:r>
              <a:rPr sz="1450" b="0">
                <a:solidFill>
                  <a:srgbClr val="A5ADBA"/>
                </a:solidFill>
                <a:latin typeface="Segoe UI"/>
              </a:rPr>
              <a:t> засобів</a:t>
            </a:r>
            <a:r>
              <a:rPr sz="1450" b="0">
                <a:solidFill>
                  <a:srgbClr val="A5ADBA"/>
                </a:solidFill>
                <a:latin typeface="Segoe UI"/>
              </a:rPr>
              <a:t> ураження</a:t>
            </a:r>
            <a:r>
              <a:rPr sz="1450" b="0">
                <a:solidFill>
                  <a:srgbClr val="A5ADBA"/>
                </a:solidFill>
                <a:latin typeface="Segoe UI"/>
              </a:rPr>
              <a:t> та</a:t>
            </a:r>
            <a:r>
              <a:rPr sz="1450" b="0">
                <a:solidFill>
                  <a:srgbClr val="A5ADBA"/>
                </a:solidFill>
                <a:latin typeface="Segoe UI"/>
              </a:rPr>
              <a:t> розвідки</a:t>
            </a:r>
            <a:r>
              <a:rPr sz="1450" b="0">
                <a:solidFill>
                  <a:srgbClr val="A5ADBA"/>
                </a:solidFill>
                <a:latin typeface="Segoe UI"/>
              </a:rPr>
              <a:t> в</a:t>
            </a:r>
            <a:r>
              <a:rPr sz="1450" b="0">
                <a:solidFill>
                  <a:srgbClr val="A5ADBA"/>
                </a:solidFill>
                <a:latin typeface="Segoe UI"/>
              </a:rPr>
              <a:t> районі</a:t>
            </a:r>
            <a:r>
              <a:rPr sz="1450" b="0">
                <a:solidFill>
                  <a:srgbClr val="A5ADBA"/>
                </a:solidFill>
                <a:latin typeface="Segoe UI"/>
              </a:rPr>
              <a:t> дій</a:t>
            </a:r>
            <a:r>
              <a:rPr sz="1450" b="0">
                <a:solidFill>
                  <a:srgbClr val="A5ADBA"/>
                </a:solidFill>
                <a:latin typeface="Segoe UI"/>
              </a:rPr>
              <a:t> РТГр</a:t>
            </a:r>
            <a:r>
              <a:rPr sz="1450" b="0">
                <a:solidFill>
                  <a:srgbClr val="A5ADBA"/>
                </a:solidFill>
                <a:latin typeface="Segoe UI"/>
              </a:rPr>
              <a:t> протягом</a:t>
            </a:r>
            <a:r>
              <a:rPr sz="1450" b="0">
                <a:solidFill>
                  <a:srgbClr val="A5ADBA"/>
                </a:solidFill>
                <a:latin typeface="Segoe UI"/>
              </a:rPr>
              <a:t> доби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108835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328291"/>
            <a:ext cx="6126480" cy="3275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F3F1EB"/>
                </a:solidFill>
                <a:latin typeface="Segoe UI Semibold"/>
              </a:rPr>
              <a:t>Тактична</a:t>
            </a:r>
            <a:r>
              <a:rPr sz="1850" b="1">
                <a:solidFill>
                  <a:srgbClr val="F3F1EB"/>
                </a:solidFill>
                <a:latin typeface="Segoe UI Semibold"/>
              </a:rPr>
              <a:t> авіація</a:t>
            </a:r>
            <a:r>
              <a:rPr sz="1850" b="1">
                <a:solidFill>
                  <a:srgbClr val="F3F1EB"/>
                </a:solidFill>
                <a:latin typeface="Segoe UI Semibold"/>
              </a:rPr>
              <a:t> (Су-34,</a:t>
            </a:r>
            <a:r>
              <a:rPr sz="1850" b="1">
                <a:solidFill>
                  <a:srgbClr val="F3F1EB"/>
                </a:solidFill>
                <a:latin typeface="Segoe UI Semibold"/>
              </a:rPr>
              <a:t> Су-35)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34072" y="2310003"/>
            <a:ext cx="4160520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9AD78"/>
                </a:solidFill>
                <a:latin typeface="Segoe UI Semibold"/>
              </a:rPr>
              <a:t>до</a:t>
            </a:r>
            <a:r>
              <a:rPr sz="2400" b="1">
                <a:solidFill>
                  <a:srgbClr val="C9AD78"/>
                </a:solidFill>
                <a:latin typeface="Segoe UI Semibold"/>
              </a:rPr>
              <a:t> 1</a:t>
            </a:r>
            <a:r>
              <a:rPr sz="2400" b="1">
                <a:solidFill>
                  <a:srgbClr val="C9AD78"/>
                </a:solidFill>
                <a:latin typeface="Segoe UI Semibold"/>
              </a:rPr>
              <a:t> літако-вильоту</a:t>
            </a:r>
            <a:r>
              <a:rPr sz="2400" b="1">
                <a:solidFill>
                  <a:srgbClr val="C9AD78"/>
                </a:solidFill>
                <a:latin typeface="Segoe UI Semibold"/>
              </a:rPr>
              <a:t> /</a:t>
            </a:r>
            <a:r>
              <a:rPr sz="2400" b="1">
                <a:solidFill>
                  <a:srgbClr val="C9AD78"/>
                </a:solidFill>
                <a:latin typeface="Segoe UI Semibold"/>
              </a:rPr>
              <a:t> добу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11399"/>
            <a:ext cx="11003279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5ADBA"/>
                </a:solidFill>
                <a:latin typeface="Segoe UI"/>
              </a:rPr>
              <a:t>Застосування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керованих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авіаційних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бомб</a:t>
            </a:r>
            <a:r>
              <a:rPr sz="1800" b="0">
                <a:solidFill>
                  <a:srgbClr val="A5ADBA"/>
                </a:solidFill>
                <a:latin typeface="Segoe UI"/>
              </a:rPr>
              <a:t> (КАБ)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по</a:t>
            </a:r>
            <a:r>
              <a:rPr sz="1800" b="0">
                <a:solidFill>
                  <a:srgbClr val="A5ADBA"/>
                </a:solidFill>
                <a:latin typeface="Segoe UI"/>
              </a:rPr>
              <a:t> опорних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пунктах</a:t>
            </a:r>
            <a:r>
              <a:rPr sz="1800" b="0">
                <a:solidFill>
                  <a:srgbClr val="A5ADBA"/>
                </a:solidFill>
                <a:latin typeface="Segoe UI"/>
              </a:rPr>
              <a:t> і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районах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зосередження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роти.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314319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497199"/>
            <a:ext cx="6126480" cy="3275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F3F1EB"/>
                </a:solidFill>
                <a:latin typeface="Segoe UI Semibold"/>
              </a:rPr>
              <a:t>Штурмова</a:t>
            </a:r>
            <a:r>
              <a:rPr sz="1850" b="1">
                <a:solidFill>
                  <a:srgbClr val="F3F1EB"/>
                </a:solidFill>
                <a:latin typeface="Segoe UI Semibold"/>
              </a:rPr>
              <a:t> авіація</a:t>
            </a:r>
            <a:r>
              <a:rPr sz="1850" b="1">
                <a:solidFill>
                  <a:srgbClr val="F3F1EB"/>
                </a:solidFill>
                <a:latin typeface="Segoe UI Semibold"/>
              </a:rPr>
              <a:t> (Су-25)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4072" y="3478911"/>
            <a:ext cx="4160520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9AD78"/>
                </a:solidFill>
                <a:latin typeface="Segoe UI Semibold"/>
              </a:rPr>
              <a:t>до</a:t>
            </a:r>
            <a:r>
              <a:rPr sz="2400" b="1">
                <a:solidFill>
                  <a:srgbClr val="C9AD78"/>
                </a:solidFill>
                <a:latin typeface="Segoe UI Semibold"/>
              </a:rPr>
              <a:t> 2</a:t>
            </a:r>
            <a:r>
              <a:rPr sz="2400" b="1">
                <a:solidFill>
                  <a:srgbClr val="C9AD78"/>
                </a:solidFill>
                <a:latin typeface="Segoe UI Semibold"/>
              </a:rPr>
              <a:t> пар</a:t>
            </a:r>
            <a:r>
              <a:rPr sz="2400" b="1">
                <a:solidFill>
                  <a:srgbClr val="C9AD78"/>
                </a:solidFill>
                <a:latin typeface="Segoe UI Semibold"/>
              </a:rPr>
              <a:t> /</a:t>
            </a:r>
            <a:r>
              <a:rPr sz="2400" b="1">
                <a:solidFill>
                  <a:srgbClr val="C9AD78"/>
                </a:solidFill>
                <a:latin typeface="Segoe UI Semibold"/>
              </a:rPr>
              <a:t> добу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80307"/>
            <a:ext cx="11003279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5ADBA"/>
                </a:solidFill>
                <a:latin typeface="Segoe UI"/>
              </a:rPr>
              <a:t>Безпосередня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вогнева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підтримка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наступаючих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штурмових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груп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некерованими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ракетами</a:t>
            </a:r>
            <a:r>
              <a:rPr sz="1800" b="0">
                <a:solidFill>
                  <a:srgbClr val="A5ADBA"/>
                </a:solidFill>
                <a:latin typeface="Segoe UI"/>
              </a:rPr>
              <a:t> (НАР).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483227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666107"/>
            <a:ext cx="6126480" cy="3275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F3F1EB"/>
                </a:solidFill>
                <a:latin typeface="Segoe UI Semibold"/>
              </a:rPr>
              <a:t>Армійська</a:t>
            </a:r>
            <a:r>
              <a:rPr sz="1850" b="1">
                <a:solidFill>
                  <a:srgbClr val="F3F1EB"/>
                </a:solidFill>
                <a:latin typeface="Segoe UI Semibold"/>
              </a:rPr>
              <a:t> авіація</a:t>
            </a:r>
            <a:r>
              <a:rPr sz="1850" b="1">
                <a:solidFill>
                  <a:srgbClr val="F3F1EB"/>
                </a:solidFill>
                <a:latin typeface="Segoe UI Semibold"/>
              </a:rPr>
              <a:t> (Ка-52,</a:t>
            </a:r>
            <a:r>
              <a:rPr sz="1850" b="1">
                <a:solidFill>
                  <a:srgbClr val="F3F1EB"/>
                </a:solidFill>
                <a:latin typeface="Segoe UI Semibold"/>
              </a:rPr>
              <a:t> Мі-28,</a:t>
            </a:r>
            <a:r>
              <a:rPr sz="1850" b="1">
                <a:solidFill>
                  <a:srgbClr val="F3F1EB"/>
                </a:solidFill>
                <a:latin typeface="Segoe UI Semibold"/>
              </a:rPr>
              <a:t> Мі-24)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34072" y="4647819"/>
            <a:ext cx="4160520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9AD78"/>
                </a:solidFill>
                <a:latin typeface="Segoe UI Semibold"/>
              </a:rPr>
              <a:t>до</a:t>
            </a:r>
            <a:r>
              <a:rPr sz="2400" b="1">
                <a:solidFill>
                  <a:srgbClr val="C9AD78"/>
                </a:solidFill>
                <a:latin typeface="Segoe UI Semibold"/>
              </a:rPr>
              <a:t> 2</a:t>
            </a:r>
            <a:r>
              <a:rPr sz="2400" b="1">
                <a:solidFill>
                  <a:srgbClr val="C9AD78"/>
                </a:solidFill>
                <a:latin typeface="Segoe UI Semibold"/>
              </a:rPr>
              <a:t> пар</a:t>
            </a:r>
            <a:r>
              <a:rPr sz="2400" b="1">
                <a:solidFill>
                  <a:srgbClr val="C9AD78"/>
                </a:solidFill>
                <a:latin typeface="Segoe UI Semibold"/>
              </a:rPr>
              <a:t> /</a:t>
            </a:r>
            <a:r>
              <a:rPr sz="2400" b="1">
                <a:solidFill>
                  <a:srgbClr val="C9AD78"/>
                </a:solidFill>
                <a:latin typeface="Segoe UI Semibold"/>
              </a:rPr>
              <a:t> добу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149215"/>
            <a:ext cx="11003279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5ADBA"/>
                </a:solidFill>
                <a:latin typeface="Segoe UI"/>
              </a:rPr>
              <a:t>Удари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вертольотів</a:t>
            </a:r>
            <a:r>
              <a:rPr sz="1800" b="0">
                <a:solidFill>
                  <a:srgbClr val="A5ADBA"/>
                </a:solidFill>
                <a:latin typeface="Segoe UI"/>
              </a:rPr>
              <a:t> з</a:t>
            </a:r>
            <a:r>
              <a:rPr sz="1800" b="0">
                <a:solidFill>
                  <a:srgbClr val="A5ADBA"/>
                </a:solidFill>
                <a:latin typeface="Segoe UI"/>
              </a:rPr>
              <a:t> малих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висот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ракетами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ПТКР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НАР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по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позиціях,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вогневих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засобах</a:t>
            </a:r>
            <a:r>
              <a:rPr sz="1800" b="0">
                <a:solidFill>
                  <a:srgbClr val="A5ADBA"/>
                </a:solidFill>
                <a:latin typeface="Segoe UI"/>
              </a:rPr>
              <a:t> і</a:t>
            </a:r>
            <a:r>
              <a:rPr sz="1800" b="0">
                <a:solidFill>
                  <a:srgbClr val="A5ADBA"/>
                </a:solidFill>
                <a:latin typeface="Segoe UI"/>
              </a:rPr>
              <a:t> бронетехніці.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391656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7132320" cy="1851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5ADBA"/>
                </a:solidFill>
                <a:latin typeface="Segoe UI"/>
              </a:rPr>
              <a:t>РТН</a:t>
            </a:r>
            <a:r>
              <a:rPr sz="900" b="0">
                <a:solidFill>
                  <a:srgbClr val="A5ADBA"/>
                </a:solidFill>
                <a:latin typeface="Segoe UI"/>
              </a:rPr>
              <a:t> /</a:t>
            </a:r>
            <a:r>
              <a:rPr sz="900" b="0">
                <a:solidFill>
                  <a:srgbClr val="A5ADBA"/>
                </a:solidFill>
                <a:latin typeface="Segoe UI"/>
              </a:rPr>
              <a:t> МАТЕРІАЛИ</a:t>
            </a:r>
            <a:r>
              <a:rPr sz="900" b="0">
                <a:solidFill>
                  <a:srgbClr val="A5ADBA"/>
                </a:solidFill>
                <a:latin typeface="Segoe UI"/>
              </a:rPr>
              <a:t> БРИФІНГУ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6464808"/>
            <a:ext cx="1444752" cy="2001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9AD78"/>
                </a:solidFill>
                <a:latin typeface="Segoe UI"/>
              </a:rPr>
              <a:t>03</a:t>
            </a:r>
            <a:r>
              <a:rPr sz="1000" b="0">
                <a:solidFill>
                  <a:srgbClr val="C9AD78"/>
                </a:solidFill>
                <a:latin typeface="Segoe UI"/>
              </a:rPr>
              <a:t> /</a:t>
            </a:r>
            <a:r>
              <a:rPr sz="1000" b="0">
                <a:solidFill>
                  <a:srgbClr val="C9AD78"/>
                </a:solidFill>
                <a:latin typeface="Segoe UI"/>
              </a:rPr>
              <a:t>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93192"/>
            <a:ext cx="11003279" cy="2076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AD78"/>
                </a:solidFill>
                <a:latin typeface="Segoe UI Semibold"/>
              </a:rPr>
              <a:t>ОЦІНКА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ОБСТАНОВКИ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79" cy="8884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1EB"/>
                </a:solidFill>
                <a:latin typeface="Segoe UI Semibold"/>
              </a:rPr>
              <a:t>Склад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та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інтенсивність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засобів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повітряного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нападу</a:t>
            </a:r>
            <a:br/>
            <a:r>
              <a:rPr sz="3000" b="1">
                <a:solidFill>
                  <a:srgbClr val="F3F1EB"/>
                </a:solidFill>
                <a:latin typeface="Segoe UI Semibold"/>
              </a:rPr>
              <a:t>противника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784604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004060"/>
            <a:ext cx="6126480" cy="3275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F3F1EB"/>
                </a:solidFill>
                <a:latin typeface="Segoe UI Semibold"/>
              </a:rPr>
              <a:t>Розвідувальні</a:t>
            </a:r>
            <a:r>
              <a:rPr sz="1850" b="1">
                <a:solidFill>
                  <a:srgbClr val="F3F1EB"/>
                </a:solidFill>
                <a:latin typeface="Segoe UI Semibold"/>
              </a:rPr>
              <a:t> БпЛА</a:t>
            </a:r>
            <a:r>
              <a:rPr sz="1850" b="1">
                <a:solidFill>
                  <a:srgbClr val="F3F1EB"/>
                </a:solidFill>
                <a:latin typeface="Segoe UI Semibold"/>
              </a:rPr>
              <a:t> (Коптери</a:t>
            </a:r>
            <a:r>
              <a:rPr sz="1850" b="1">
                <a:solidFill>
                  <a:srgbClr val="F3F1EB"/>
                </a:solidFill>
                <a:latin typeface="Segoe UI Semibold"/>
              </a:rPr>
              <a:t> +</a:t>
            </a:r>
            <a:r>
              <a:rPr sz="1850" b="1">
                <a:solidFill>
                  <a:srgbClr val="F3F1EB"/>
                </a:solidFill>
                <a:latin typeface="Segoe UI Semibold"/>
              </a:rPr>
              <a:t> Літакові)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34072" y="1985772"/>
            <a:ext cx="4160520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9AD78"/>
                </a:solidFill>
                <a:latin typeface="Segoe UI Semibold"/>
              </a:rPr>
              <a:t>3–4</a:t>
            </a:r>
            <a:r>
              <a:rPr sz="2400" b="1">
                <a:solidFill>
                  <a:srgbClr val="C9AD78"/>
                </a:solidFill>
                <a:latin typeface="Segoe UI Semibold"/>
              </a:rPr>
              <a:t> коптери</a:t>
            </a:r>
            <a:r>
              <a:rPr sz="2400" b="1">
                <a:solidFill>
                  <a:srgbClr val="C9AD78"/>
                </a:solidFill>
                <a:latin typeface="Segoe UI Semibold"/>
              </a:rPr>
              <a:t> +</a:t>
            </a:r>
            <a:r>
              <a:rPr sz="2400" b="1">
                <a:solidFill>
                  <a:srgbClr val="C9AD78"/>
                </a:solidFill>
                <a:latin typeface="Segoe UI Semibold"/>
              </a:rPr>
              <a:t> 1–2</a:t>
            </a:r>
            <a:r>
              <a:rPr sz="2400" b="1">
                <a:solidFill>
                  <a:srgbClr val="C9AD78"/>
                </a:solidFill>
                <a:latin typeface="Segoe UI Semibold"/>
              </a:rPr>
              <a:t> літаки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87168"/>
            <a:ext cx="11003279" cy="5897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5ADBA"/>
                </a:solidFill>
                <a:latin typeface="Segoe UI"/>
              </a:rPr>
              <a:t>Коптери</a:t>
            </a:r>
            <a:r>
              <a:rPr sz="1800" b="0">
                <a:solidFill>
                  <a:srgbClr val="A5ADBA"/>
                </a:solidFill>
                <a:latin typeface="Segoe UI"/>
              </a:rPr>
              <a:t> —</a:t>
            </a:r>
            <a:r>
              <a:rPr sz="1800" b="0">
                <a:solidFill>
                  <a:srgbClr val="A5ADBA"/>
                </a:solidFill>
                <a:latin typeface="Segoe UI"/>
              </a:rPr>
              <a:t> безперервно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над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ротою;</a:t>
            </a:r>
            <a:r>
              <a:rPr sz="1800" b="0">
                <a:solidFill>
                  <a:srgbClr val="A5ADBA"/>
                </a:solidFill>
                <a:latin typeface="Segoe UI"/>
              </a:rPr>
              <a:t> літакові</a:t>
            </a:r>
            <a:r>
              <a:rPr sz="1800" b="0">
                <a:solidFill>
                  <a:srgbClr val="A5ADBA"/>
                </a:solidFill>
                <a:latin typeface="Segoe UI"/>
              </a:rPr>
              <a:t> БпЛА</a:t>
            </a:r>
            <a:r>
              <a:rPr sz="1800" b="0">
                <a:solidFill>
                  <a:srgbClr val="A5ADBA"/>
                </a:solidFill>
                <a:latin typeface="Segoe UI"/>
              </a:rPr>
              <a:t> —</a:t>
            </a:r>
            <a:r>
              <a:rPr sz="1800" b="0">
                <a:solidFill>
                  <a:srgbClr val="A5ADBA"/>
                </a:solidFill>
                <a:latin typeface="Segoe UI"/>
              </a:rPr>
              <a:t> корегування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вогню</a:t>
            </a:r>
            <a:r>
              <a:rPr sz="1800" b="0">
                <a:solidFill>
                  <a:srgbClr val="A5ADBA"/>
                </a:solidFill>
                <a:latin typeface="Segoe UI"/>
              </a:rPr>
              <a:t> артилерії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наведення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боєприпасів.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259836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442716"/>
            <a:ext cx="6126480" cy="3275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F3F1EB"/>
                </a:solidFill>
                <a:latin typeface="Segoe UI Semibold"/>
              </a:rPr>
              <a:t>Ударні</a:t>
            </a:r>
            <a:r>
              <a:rPr sz="1850" b="1">
                <a:solidFill>
                  <a:srgbClr val="F3F1EB"/>
                </a:solidFill>
                <a:latin typeface="Segoe UI Semibold"/>
              </a:rPr>
              <a:t> FPV-дрони</a:t>
            </a:r>
            <a:r>
              <a:rPr sz="1850" b="1">
                <a:solidFill>
                  <a:srgbClr val="F3F1EB"/>
                </a:solidFill>
                <a:latin typeface="Segoe UI Semibold"/>
              </a:rPr>
              <a:t> (FPV-камікадзе)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34072" y="3424428"/>
            <a:ext cx="4160520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9AD78"/>
                </a:solidFill>
                <a:latin typeface="Segoe UI Semibold"/>
              </a:rPr>
              <a:t>25–30</a:t>
            </a:r>
            <a:r>
              <a:rPr sz="2400" b="1">
                <a:solidFill>
                  <a:srgbClr val="C9AD78"/>
                </a:solidFill>
                <a:latin typeface="Segoe UI Semibold"/>
              </a:rPr>
              <a:t> /</a:t>
            </a:r>
            <a:r>
              <a:rPr sz="2400" b="1">
                <a:solidFill>
                  <a:srgbClr val="C9AD78"/>
                </a:solidFill>
                <a:latin typeface="Segoe UI Semibold"/>
              </a:rPr>
              <a:t> добу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25824"/>
            <a:ext cx="11003279" cy="5897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5ADBA"/>
                </a:solidFill>
                <a:latin typeface="Segoe UI"/>
              </a:rPr>
              <a:t>Масовані</a:t>
            </a:r>
            <a:r>
              <a:rPr sz="1800" b="0">
                <a:solidFill>
                  <a:srgbClr val="A5ADBA"/>
                </a:solidFill>
                <a:latin typeface="Segoe UI"/>
              </a:rPr>
              <a:t> удари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до</a:t>
            </a:r>
            <a:r>
              <a:rPr sz="1800" b="0">
                <a:solidFill>
                  <a:srgbClr val="A5ADBA"/>
                </a:solidFill>
                <a:latin typeface="Segoe UI"/>
              </a:rPr>
              <a:t> 10–15</a:t>
            </a:r>
            <a:r>
              <a:rPr sz="1800" b="0">
                <a:solidFill>
                  <a:srgbClr val="A5ADBA"/>
                </a:solidFill>
                <a:latin typeface="Segoe UI"/>
              </a:rPr>
              <a:t> одночасно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по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розкритих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позиціях;</a:t>
            </a:r>
            <a:r>
              <a:rPr sz="1800" b="0">
                <a:solidFill>
                  <a:srgbClr val="A5ADBA"/>
                </a:solidFill>
                <a:latin typeface="Segoe UI"/>
              </a:rPr>
              <a:t> 4–6</a:t>
            </a:r>
            <a:r>
              <a:rPr sz="1800" b="0">
                <a:solidFill>
                  <a:srgbClr val="A5ADBA"/>
                </a:solidFill>
                <a:latin typeface="Segoe UI"/>
              </a:rPr>
              <a:t> дронів</a:t>
            </a:r>
            <a:r>
              <a:rPr sz="1800" b="0">
                <a:solidFill>
                  <a:srgbClr val="A5ADBA"/>
                </a:solidFill>
                <a:latin typeface="Segoe UI"/>
              </a:rPr>
              <a:t> у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режимі</a:t>
            </a:r>
            <a:r>
              <a:rPr sz="1800" b="0">
                <a:solidFill>
                  <a:srgbClr val="A5ADBA"/>
                </a:solidFill>
                <a:latin typeface="Segoe UI"/>
              </a:rPr>
              <a:t> очікування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шляхах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маневру.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4698492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881372"/>
            <a:ext cx="6126480" cy="3275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F3F1EB"/>
                </a:solidFill>
                <a:latin typeface="Segoe UI Semibold"/>
              </a:rPr>
              <a:t>Баражуючі</a:t>
            </a:r>
            <a:r>
              <a:rPr sz="1850" b="1">
                <a:solidFill>
                  <a:srgbClr val="F3F1EB"/>
                </a:solidFill>
                <a:latin typeface="Segoe UI Semibold"/>
              </a:rPr>
              <a:t> боєприпаси</a:t>
            </a:r>
            <a:r>
              <a:rPr sz="1850" b="1">
                <a:solidFill>
                  <a:srgbClr val="F3F1EB"/>
                </a:solidFill>
                <a:latin typeface="Segoe UI Semibold"/>
              </a:rPr>
              <a:t> («Ланцет»,</a:t>
            </a:r>
            <a:r>
              <a:rPr sz="1850" b="1">
                <a:solidFill>
                  <a:srgbClr val="F3F1EB"/>
                </a:solidFill>
                <a:latin typeface="Segoe UI Semibold"/>
              </a:rPr>
              <a:t> «Скальпель»)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34072" y="4863084"/>
            <a:ext cx="4160520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9AD78"/>
                </a:solidFill>
                <a:latin typeface="Segoe UI Semibold"/>
              </a:rPr>
              <a:t>до</a:t>
            </a:r>
            <a:r>
              <a:rPr sz="2400" b="1">
                <a:solidFill>
                  <a:srgbClr val="C9AD78"/>
                </a:solidFill>
                <a:latin typeface="Segoe UI Semibold"/>
              </a:rPr>
              <a:t> 3–5</a:t>
            </a:r>
            <a:r>
              <a:rPr sz="2400" b="1">
                <a:solidFill>
                  <a:srgbClr val="C9AD78"/>
                </a:solidFill>
                <a:latin typeface="Segoe UI Semibold"/>
              </a:rPr>
              <a:t> /</a:t>
            </a:r>
            <a:r>
              <a:rPr sz="2400" b="1">
                <a:solidFill>
                  <a:srgbClr val="C9AD78"/>
                </a:solidFill>
                <a:latin typeface="Segoe UI Semibold"/>
              </a:rPr>
              <a:t> добу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364480"/>
            <a:ext cx="11003279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5ADBA"/>
                </a:solidFill>
                <a:latin typeface="Segoe UI"/>
              </a:rPr>
              <a:t>Високоточне</a:t>
            </a:r>
            <a:r>
              <a:rPr sz="1800" b="0">
                <a:solidFill>
                  <a:srgbClr val="A5ADBA"/>
                </a:solidFill>
                <a:latin typeface="Segoe UI"/>
              </a:rPr>
              <a:t> ураження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виявленої</a:t>
            </a:r>
            <a:r>
              <a:rPr sz="1800" b="0">
                <a:solidFill>
                  <a:srgbClr val="A5ADBA"/>
                </a:solidFill>
                <a:latin typeface="Segoe UI"/>
              </a:rPr>
              <a:t> інженерної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техніки,</a:t>
            </a:r>
            <a:r>
              <a:rPr sz="1800" b="0">
                <a:solidFill>
                  <a:srgbClr val="A5ADBA"/>
                </a:solidFill>
                <a:latin typeface="Segoe UI"/>
              </a:rPr>
              <a:t> транспорту,</a:t>
            </a:r>
            <a:r>
              <a:rPr sz="1800" b="0">
                <a:solidFill>
                  <a:srgbClr val="A5ADBA"/>
                </a:solidFill>
                <a:latin typeface="Segoe UI"/>
              </a:rPr>
              <a:t> артилерії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пунктів</a:t>
            </a:r>
            <a:r>
              <a:rPr sz="1800" b="0">
                <a:solidFill>
                  <a:srgbClr val="A5ADBA"/>
                </a:solidFill>
                <a:latin typeface="Segoe UI"/>
              </a:rPr>
              <a:t> управління.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391656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7132320" cy="1851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5ADBA"/>
                </a:solidFill>
                <a:latin typeface="Segoe UI"/>
              </a:rPr>
              <a:t>РТН</a:t>
            </a:r>
            <a:r>
              <a:rPr sz="900" b="0">
                <a:solidFill>
                  <a:srgbClr val="A5ADBA"/>
                </a:solidFill>
                <a:latin typeface="Segoe UI"/>
              </a:rPr>
              <a:t> /</a:t>
            </a:r>
            <a:r>
              <a:rPr sz="900" b="0">
                <a:solidFill>
                  <a:srgbClr val="A5ADBA"/>
                </a:solidFill>
                <a:latin typeface="Segoe UI"/>
              </a:rPr>
              <a:t> МАТЕРІАЛИ</a:t>
            </a:r>
            <a:r>
              <a:rPr sz="900" b="0">
                <a:solidFill>
                  <a:srgbClr val="A5ADBA"/>
                </a:solidFill>
                <a:latin typeface="Segoe UI"/>
              </a:rPr>
              <a:t> БРИФІНГУ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6464808"/>
            <a:ext cx="1444752" cy="2001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9AD78"/>
                </a:solidFill>
                <a:latin typeface="Segoe UI"/>
              </a:rPr>
              <a:t>04</a:t>
            </a:r>
            <a:r>
              <a:rPr sz="1000" b="0">
                <a:solidFill>
                  <a:srgbClr val="C9AD78"/>
                </a:solidFill>
                <a:latin typeface="Segoe UI"/>
              </a:rPr>
              <a:t> /</a:t>
            </a:r>
            <a:r>
              <a:rPr sz="1000" b="0">
                <a:solidFill>
                  <a:srgbClr val="C9AD78"/>
                </a:solidFill>
                <a:latin typeface="Segoe UI"/>
              </a:rPr>
              <a:t>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93192"/>
            <a:ext cx="11003279" cy="2076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AD78"/>
                </a:solidFill>
                <a:latin typeface="Segoe UI Semibold"/>
              </a:rPr>
              <a:t>ОЦІНКА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ОБСТАНОВКИ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79" cy="469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1EB"/>
                </a:solidFill>
                <a:latin typeface="Segoe UI Semibold"/>
              </a:rPr>
              <a:t>Ударні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FPV-дрони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(FPV-камікадзе)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74064"/>
            <a:ext cx="11003279" cy="2602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A5ADBA"/>
                </a:solidFill>
                <a:latin typeface="Segoe UI"/>
              </a:rPr>
              <a:t>Імовірний</a:t>
            </a:r>
            <a:r>
              <a:rPr sz="1450" b="0">
                <a:solidFill>
                  <a:srgbClr val="A5ADBA"/>
                </a:solidFill>
                <a:latin typeface="Segoe UI"/>
              </a:rPr>
              <a:t> розподіл</a:t>
            </a:r>
            <a:r>
              <a:rPr sz="1450" b="0">
                <a:solidFill>
                  <a:srgbClr val="A5ADBA"/>
                </a:solidFill>
                <a:latin typeface="Segoe UI"/>
              </a:rPr>
              <a:t> повітряних</a:t>
            </a:r>
            <a:r>
              <a:rPr sz="1450" b="0">
                <a:solidFill>
                  <a:srgbClr val="A5ADBA"/>
                </a:solidFill>
                <a:latin typeface="Segoe UI"/>
              </a:rPr>
              <a:t> засобів</a:t>
            </a:r>
            <a:r>
              <a:rPr sz="1450" b="0">
                <a:solidFill>
                  <a:srgbClr val="A5ADBA"/>
                </a:solidFill>
                <a:latin typeface="Segoe UI"/>
              </a:rPr>
              <a:t> ураження</a:t>
            </a:r>
            <a:r>
              <a:rPr sz="1450" b="0">
                <a:solidFill>
                  <a:srgbClr val="A5ADBA"/>
                </a:solidFill>
                <a:latin typeface="Segoe UI"/>
              </a:rPr>
              <a:t> та</a:t>
            </a:r>
            <a:r>
              <a:rPr sz="1450" b="0">
                <a:solidFill>
                  <a:srgbClr val="A5ADBA"/>
                </a:solidFill>
                <a:latin typeface="Segoe UI"/>
              </a:rPr>
              <a:t> розвідки</a:t>
            </a:r>
            <a:r>
              <a:rPr sz="1450" b="0">
                <a:solidFill>
                  <a:srgbClr val="A5ADBA"/>
                </a:solidFill>
                <a:latin typeface="Segoe UI"/>
              </a:rPr>
              <a:t> в</a:t>
            </a:r>
            <a:r>
              <a:rPr sz="1450" b="0">
                <a:solidFill>
                  <a:srgbClr val="A5ADBA"/>
                </a:solidFill>
                <a:latin typeface="Segoe UI"/>
              </a:rPr>
              <a:t> районі</a:t>
            </a:r>
            <a:r>
              <a:rPr sz="1450" b="0">
                <a:solidFill>
                  <a:srgbClr val="A5ADBA"/>
                </a:solidFill>
                <a:latin typeface="Segoe UI"/>
              </a:rPr>
              <a:t> дій</a:t>
            </a:r>
            <a:r>
              <a:rPr sz="1450" b="0">
                <a:solidFill>
                  <a:srgbClr val="A5ADBA"/>
                </a:solidFill>
                <a:latin typeface="Segoe UI"/>
              </a:rPr>
              <a:t> РТГр</a:t>
            </a:r>
            <a:r>
              <a:rPr sz="1450" b="0">
                <a:solidFill>
                  <a:srgbClr val="A5ADBA"/>
                </a:solidFill>
                <a:latin typeface="Segoe UI"/>
              </a:rPr>
              <a:t> протягом</a:t>
            </a:r>
            <a:r>
              <a:rPr sz="1450" b="0">
                <a:solidFill>
                  <a:srgbClr val="A5ADBA"/>
                </a:solidFill>
                <a:latin typeface="Segoe UI"/>
              </a:rPr>
              <a:t> доби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89735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514600"/>
            <a:ext cx="6126480" cy="1277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9660"/>
              </a:lnSpc>
              <a:spcBef>
                <a:spcPts val="0"/>
              </a:spcBef>
              <a:spcAft>
                <a:spcPts val="0"/>
              </a:spcAft>
            </a:pPr>
            <a:r>
              <a:rPr sz="9200" b="0">
                <a:solidFill>
                  <a:srgbClr val="C9AD78"/>
                </a:solidFill>
                <a:latin typeface="Segoe UI"/>
              </a:rPr>
              <a:t>25–30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4023360"/>
            <a:ext cx="5303520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A5ADBA"/>
                </a:solidFill>
                <a:latin typeface="Segoe UI"/>
              </a:rPr>
              <a:t>/</a:t>
            </a:r>
            <a:r>
              <a:rPr sz="2400" b="0">
                <a:solidFill>
                  <a:srgbClr val="A5ADBA"/>
                </a:solidFill>
                <a:latin typeface="Segoe UI"/>
              </a:rPr>
              <a:t> добу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715768"/>
            <a:ext cx="4279392" cy="18486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3F1EB"/>
                </a:solidFill>
                <a:latin typeface="Segoe UI"/>
              </a:rPr>
              <a:t>Масовані</a:t>
            </a:r>
            <a:r>
              <a:rPr sz="2400" b="0">
                <a:solidFill>
                  <a:srgbClr val="F3F1EB"/>
                </a:solidFill>
                <a:latin typeface="Segoe UI"/>
              </a:rPr>
              <a:t> удари</a:t>
            </a:r>
            <a:r>
              <a:rPr sz="2400" b="0">
                <a:solidFill>
                  <a:srgbClr val="F3F1EB"/>
                </a:solidFill>
                <a:latin typeface="Segoe UI"/>
              </a:rPr>
              <a:t> до</a:t>
            </a:r>
            <a:r>
              <a:rPr sz="2400" b="0">
                <a:solidFill>
                  <a:srgbClr val="F3F1EB"/>
                </a:solidFill>
                <a:latin typeface="Segoe UI"/>
              </a:rPr>
              <a:t> 10–15</a:t>
            </a:r>
            <a:br/>
            <a:r>
              <a:rPr sz="2400" b="0">
                <a:solidFill>
                  <a:srgbClr val="F3F1EB"/>
                </a:solidFill>
                <a:latin typeface="Segoe UI"/>
              </a:rPr>
              <a:t>одночасно</a:t>
            </a:r>
            <a:r>
              <a:rPr sz="2400" b="0">
                <a:solidFill>
                  <a:srgbClr val="F3F1EB"/>
                </a:solidFill>
                <a:latin typeface="Segoe UI"/>
              </a:rPr>
              <a:t> по</a:t>
            </a:r>
            <a:r>
              <a:rPr sz="2400" b="0">
                <a:solidFill>
                  <a:srgbClr val="F3F1EB"/>
                </a:solidFill>
                <a:latin typeface="Segoe UI"/>
              </a:rPr>
              <a:t> розкритих</a:t>
            </a:r>
            <a:br/>
            <a:r>
              <a:rPr sz="2400" b="0">
                <a:solidFill>
                  <a:srgbClr val="F3F1EB"/>
                </a:solidFill>
                <a:latin typeface="Segoe UI"/>
              </a:rPr>
              <a:t>позиціях;</a:t>
            </a:r>
            <a:r>
              <a:rPr sz="2400" b="0">
                <a:solidFill>
                  <a:srgbClr val="F3F1EB"/>
                </a:solidFill>
                <a:latin typeface="Segoe UI"/>
              </a:rPr>
              <a:t> 4–6</a:t>
            </a:r>
            <a:r>
              <a:rPr sz="2400" b="0">
                <a:solidFill>
                  <a:srgbClr val="F3F1EB"/>
                </a:solidFill>
                <a:latin typeface="Segoe UI"/>
              </a:rPr>
              <a:t> дронів</a:t>
            </a:r>
            <a:r>
              <a:rPr sz="2400" b="0">
                <a:solidFill>
                  <a:srgbClr val="F3F1EB"/>
                </a:solidFill>
                <a:latin typeface="Segoe UI"/>
              </a:rPr>
              <a:t> у</a:t>
            </a:r>
            <a:br/>
            <a:r>
              <a:rPr sz="2400" b="0">
                <a:solidFill>
                  <a:srgbClr val="F3F1EB"/>
                </a:solidFill>
                <a:latin typeface="Segoe UI"/>
              </a:rPr>
              <a:t>режимі</a:t>
            </a:r>
            <a:r>
              <a:rPr sz="2400" b="0">
                <a:solidFill>
                  <a:srgbClr val="F3F1EB"/>
                </a:solidFill>
                <a:latin typeface="Segoe UI"/>
              </a:rPr>
              <a:t> очікування</a:t>
            </a:r>
            <a:r>
              <a:rPr sz="2400" b="0">
                <a:solidFill>
                  <a:srgbClr val="F3F1EB"/>
                </a:solidFill>
                <a:latin typeface="Segoe UI"/>
              </a:rPr>
              <a:t> на</a:t>
            </a:r>
            <a:r>
              <a:rPr sz="2400" b="0">
                <a:solidFill>
                  <a:srgbClr val="F3F1EB"/>
                </a:solidFill>
                <a:latin typeface="Segoe UI"/>
              </a:rPr>
              <a:t> шляхах</a:t>
            </a:r>
            <a:br/>
            <a:r>
              <a:rPr sz="2400" b="0">
                <a:solidFill>
                  <a:srgbClr val="F3F1EB"/>
                </a:solidFill>
                <a:latin typeface="Segoe UI"/>
              </a:rPr>
              <a:t>маневру.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391656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7132320" cy="1851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5ADBA"/>
                </a:solidFill>
                <a:latin typeface="Segoe UI"/>
              </a:rPr>
              <a:t>РТН</a:t>
            </a:r>
            <a:r>
              <a:rPr sz="900" b="0">
                <a:solidFill>
                  <a:srgbClr val="A5ADBA"/>
                </a:solidFill>
                <a:latin typeface="Segoe UI"/>
              </a:rPr>
              <a:t> /</a:t>
            </a:r>
            <a:r>
              <a:rPr sz="900" b="0">
                <a:solidFill>
                  <a:srgbClr val="A5ADBA"/>
                </a:solidFill>
                <a:latin typeface="Segoe UI"/>
              </a:rPr>
              <a:t> МАТЕРІАЛИ</a:t>
            </a:r>
            <a:r>
              <a:rPr sz="900" b="0">
                <a:solidFill>
                  <a:srgbClr val="A5ADBA"/>
                </a:solidFill>
                <a:latin typeface="Segoe UI"/>
              </a:rPr>
              <a:t> БРИФІНГУ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6464808"/>
            <a:ext cx="1444752" cy="2001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9AD78"/>
                </a:solidFill>
                <a:latin typeface="Segoe UI"/>
              </a:rPr>
              <a:t>05</a:t>
            </a:r>
            <a:r>
              <a:rPr sz="1000" b="0">
                <a:solidFill>
                  <a:srgbClr val="C9AD78"/>
                </a:solidFill>
                <a:latin typeface="Segoe UI"/>
              </a:rPr>
              <a:t> /</a:t>
            </a:r>
            <a:r>
              <a:rPr sz="1000" b="0">
                <a:solidFill>
                  <a:srgbClr val="C9AD78"/>
                </a:solidFill>
                <a:latin typeface="Segoe UI"/>
              </a:rPr>
              <a:t>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93192"/>
            <a:ext cx="11003279" cy="2076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AD78"/>
                </a:solidFill>
                <a:latin typeface="Segoe UI Semibold"/>
              </a:rPr>
              <a:t>ТАКТИКА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ВОРОГА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79" cy="469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1EB"/>
                </a:solidFill>
                <a:latin typeface="Segoe UI Semibold"/>
              </a:rPr>
              <a:t>Характер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та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способи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дій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повітряного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противника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74064"/>
            <a:ext cx="11003279" cy="2602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A5ADBA"/>
                </a:solidFill>
                <a:latin typeface="Segoe UI"/>
              </a:rPr>
              <a:t>Алгоритм</a:t>
            </a:r>
            <a:r>
              <a:rPr sz="1450" b="0">
                <a:solidFill>
                  <a:srgbClr val="A5ADBA"/>
                </a:solidFill>
                <a:latin typeface="Segoe UI"/>
              </a:rPr>
              <a:t> розвідувально-ударного</a:t>
            </a:r>
            <a:r>
              <a:rPr sz="1450" b="0">
                <a:solidFill>
                  <a:srgbClr val="A5ADBA"/>
                </a:solidFill>
                <a:latin typeface="Segoe UI"/>
              </a:rPr>
              <a:t> комплексу</a:t>
            </a:r>
            <a:r>
              <a:rPr sz="1450" b="0">
                <a:solidFill>
                  <a:srgbClr val="A5ADBA"/>
                </a:solidFill>
                <a:latin typeface="Segoe UI"/>
              </a:rPr>
              <a:t> противника</a:t>
            </a:r>
            <a:r>
              <a:rPr sz="1450" b="0">
                <a:solidFill>
                  <a:srgbClr val="A5ADBA"/>
                </a:solidFill>
                <a:latin typeface="Segoe UI"/>
              </a:rPr>
              <a:t> в</a:t>
            </a:r>
            <a:r>
              <a:rPr sz="1450" b="0">
                <a:solidFill>
                  <a:srgbClr val="A5ADBA"/>
                </a:solidFill>
                <a:latin typeface="Segoe UI"/>
              </a:rPr>
              <a:t> ході</a:t>
            </a:r>
            <a:r>
              <a:rPr sz="1450" b="0">
                <a:solidFill>
                  <a:srgbClr val="A5ADBA"/>
                </a:solidFill>
                <a:latin typeface="Segoe UI"/>
              </a:rPr>
              <a:t> ведення</a:t>
            </a:r>
            <a:r>
              <a:rPr sz="1450" b="0">
                <a:solidFill>
                  <a:srgbClr val="A5ADBA"/>
                </a:solidFill>
                <a:latin typeface="Segoe UI"/>
              </a:rPr>
              <a:t> бойових</a:t>
            </a:r>
            <a:r>
              <a:rPr sz="1450" b="0">
                <a:solidFill>
                  <a:srgbClr val="A5ADBA"/>
                </a:solidFill>
                <a:latin typeface="Segoe UI"/>
              </a:rPr>
              <a:t> дій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89735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09191"/>
            <a:ext cx="5239512" cy="739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5427"/>
              </a:lnSpc>
              <a:spcBef>
                <a:spcPts val="0"/>
              </a:spcBef>
              <a:spcAft>
                <a:spcPts val="0"/>
              </a:spcAft>
            </a:pPr>
            <a:r>
              <a:rPr sz="4600" b="0">
                <a:solidFill>
                  <a:srgbClr val="C9AD78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21991"/>
            <a:ext cx="52395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1.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ЦІЛОДОБОВА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РОЗВІДКА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24/7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133470"/>
            <a:ext cx="5239512" cy="2675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711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A5ADBA"/>
                </a:solidFill>
                <a:latin typeface="Segoe UI"/>
              </a:rPr>
              <a:t>Безперервний</a:t>
            </a:r>
            <a:r>
              <a:rPr sz="1450" b="0">
                <a:solidFill>
                  <a:srgbClr val="A5ADBA"/>
                </a:solidFill>
                <a:latin typeface="Segoe UI"/>
              </a:rPr>
              <a:t> моніторинг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56507"/>
            <a:ext cx="5239512" cy="562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3F1EB"/>
                </a:solidFill>
                <a:latin typeface="Segoe UI"/>
              </a:rPr>
              <a:t>•</a:t>
            </a:r>
            <a:r>
              <a:rPr sz="1800" b="0">
                <a:solidFill>
                  <a:srgbClr val="F3F1EB"/>
                </a:solidFill>
                <a:latin typeface="Segoe UI"/>
              </a:rPr>
              <a:t> Постійне</a:t>
            </a:r>
            <a:r>
              <a:rPr sz="1800" b="0">
                <a:solidFill>
                  <a:srgbClr val="F3F1EB"/>
                </a:solidFill>
                <a:latin typeface="Segoe UI"/>
              </a:rPr>
              <a:t> чергування</a:t>
            </a:r>
            <a:r>
              <a:rPr sz="1800" b="0">
                <a:solidFill>
                  <a:srgbClr val="F3F1EB"/>
                </a:solidFill>
                <a:latin typeface="Segoe UI"/>
              </a:rPr>
              <a:t> 3–4</a:t>
            </a:r>
            <a:r>
              <a:rPr sz="1800" b="0">
                <a:solidFill>
                  <a:srgbClr val="F3F1EB"/>
                </a:solidFill>
                <a:latin typeface="Segoe UI"/>
              </a:rPr>
              <a:t> коптерів</a:t>
            </a:r>
            <a:r>
              <a:rPr sz="1800" b="0">
                <a:solidFill>
                  <a:srgbClr val="F3F1EB"/>
                </a:solidFill>
                <a:latin typeface="Segoe UI"/>
              </a:rPr>
              <a:t> над</a:t>
            </a:r>
            <a:br/>
            <a:r>
              <a:rPr sz="1800" b="0">
                <a:solidFill>
                  <a:srgbClr val="F3F1EB"/>
                </a:solidFill>
                <a:latin typeface="Segoe UI"/>
              </a:rPr>
              <a:t>позиціями</a:t>
            </a:r>
            <a:r>
              <a:rPr sz="1800" b="0">
                <a:solidFill>
                  <a:srgbClr val="F3F1EB"/>
                </a:solidFill>
                <a:latin typeface="Segoe UI"/>
              </a:rPr>
              <a:t> роти.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210303"/>
            <a:ext cx="5239512" cy="562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3F1EB"/>
                </a:solidFill>
                <a:latin typeface="Segoe UI"/>
              </a:rPr>
              <a:t>•</a:t>
            </a:r>
            <a:r>
              <a:rPr sz="1800" b="0">
                <a:solidFill>
                  <a:srgbClr val="F3F1EB"/>
                </a:solidFill>
                <a:latin typeface="Segoe UI"/>
              </a:rPr>
              <a:t> Вдень</a:t>
            </a:r>
            <a:r>
              <a:rPr sz="1800" b="0">
                <a:solidFill>
                  <a:srgbClr val="F3F1EB"/>
                </a:solidFill>
                <a:latin typeface="Segoe UI"/>
              </a:rPr>
              <a:t> —</a:t>
            </a:r>
            <a:r>
              <a:rPr sz="1800" b="0">
                <a:solidFill>
                  <a:srgbClr val="F3F1EB"/>
                </a:solidFill>
                <a:latin typeface="Segoe UI"/>
              </a:rPr>
              <a:t> оптичний</a:t>
            </a:r>
            <a:r>
              <a:rPr sz="1800" b="0">
                <a:solidFill>
                  <a:srgbClr val="F3F1EB"/>
                </a:solidFill>
                <a:latin typeface="Segoe UI"/>
              </a:rPr>
              <a:t> пошук</a:t>
            </a:r>
            <a:r>
              <a:rPr sz="1800" b="0">
                <a:solidFill>
                  <a:srgbClr val="F3F1EB"/>
                </a:solidFill>
                <a:latin typeface="Segoe UI"/>
              </a:rPr>
              <a:t> руху,</a:t>
            </a:r>
            <a:r>
              <a:rPr sz="1800" b="0">
                <a:solidFill>
                  <a:srgbClr val="F3F1EB"/>
                </a:solidFill>
                <a:latin typeface="Segoe UI"/>
              </a:rPr>
              <a:t> траншей,</a:t>
            </a:r>
            <a:br/>
            <a:r>
              <a:rPr sz="1800" b="0">
                <a:solidFill>
                  <a:srgbClr val="F3F1EB"/>
                </a:solidFill>
                <a:latin typeface="Segoe UI"/>
              </a:rPr>
              <a:t>бліндажів.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864099"/>
            <a:ext cx="5239512" cy="306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3F1EB"/>
                </a:solidFill>
                <a:latin typeface="Segoe UI"/>
              </a:rPr>
              <a:t>•</a:t>
            </a:r>
            <a:r>
              <a:rPr sz="1800" b="0">
                <a:solidFill>
                  <a:srgbClr val="F3F1EB"/>
                </a:solidFill>
                <a:latin typeface="Segoe UI"/>
              </a:rPr>
              <a:t> Вночі</a:t>
            </a:r>
            <a:r>
              <a:rPr sz="1800" b="0">
                <a:solidFill>
                  <a:srgbClr val="F3F1EB"/>
                </a:solidFill>
                <a:latin typeface="Segoe UI"/>
              </a:rPr>
              <a:t> —</a:t>
            </a:r>
            <a:r>
              <a:rPr sz="1800" b="0">
                <a:solidFill>
                  <a:srgbClr val="F3F1EB"/>
                </a:solidFill>
                <a:latin typeface="Segoe UI"/>
              </a:rPr>
              <a:t> суцільний</a:t>
            </a:r>
            <a:r>
              <a:rPr sz="1800" b="0">
                <a:solidFill>
                  <a:srgbClr val="F3F1EB"/>
                </a:solidFill>
                <a:latin typeface="Segoe UI"/>
              </a:rPr>
              <a:t> тепловізійний</a:t>
            </a:r>
            <a:r>
              <a:rPr sz="1800" b="0">
                <a:solidFill>
                  <a:srgbClr val="F3F1EB"/>
                </a:solidFill>
                <a:latin typeface="Segoe UI"/>
              </a:rPr>
              <a:t> контроль.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261863"/>
            <a:ext cx="5239512" cy="562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3F1EB"/>
                </a:solidFill>
                <a:latin typeface="Segoe UI"/>
              </a:rPr>
              <a:t>•</a:t>
            </a:r>
            <a:r>
              <a:rPr sz="1800" b="0">
                <a:solidFill>
                  <a:srgbClr val="F3F1EB"/>
                </a:solidFill>
                <a:latin typeface="Segoe UI"/>
              </a:rPr>
              <a:t> 1–2</a:t>
            </a:r>
            <a:r>
              <a:rPr sz="1800" b="0">
                <a:solidFill>
                  <a:srgbClr val="F3F1EB"/>
                </a:solidFill>
                <a:latin typeface="Segoe UI"/>
              </a:rPr>
              <a:t> літакові</a:t>
            </a:r>
            <a:r>
              <a:rPr sz="1800" b="0">
                <a:solidFill>
                  <a:srgbClr val="F3F1EB"/>
                </a:solidFill>
                <a:latin typeface="Segoe UI"/>
              </a:rPr>
              <a:t> БпЛА</a:t>
            </a:r>
            <a:r>
              <a:rPr sz="1800" b="0">
                <a:solidFill>
                  <a:srgbClr val="F3F1EB"/>
                </a:solidFill>
                <a:latin typeface="Segoe UI"/>
              </a:rPr>
              <a:t> контролюють</a:t>
            </a:r>
            <a:r>
              <a:rPr sz="1800" b="0">
                <a:solidFill>
                  <a:srgbClr val="F3F1EB"/>
                </a:solidFill>
                <a:latin typeface="Segoe UI"/>
              </a:rPr>
              <a:t> оперативну</a:t>
            </a:r>
            <a:br/>
            <a:r>
              <a:rPr sz="1800" b="0">
                <a:solidFill>
                  <a:srgbClr val="F3F1EB"/>
                </a:solidFill>
                <a:latin typeface="Segoe UI"/>
              </a:rPr>
              <a:t>глибину</a:t>
            </a:r>
            <a:r>
              <a:rPr sz="1800" b="0">
                <a:solidFill>
                  <a:srgbClr val="F3F1EB"/>
                </a:solidFill>
                <a:latin typeface="Segoe UI"/>
              </a:rPr>
              <a:t> та</a:t>
            </a:r>
            <a:r>
              <a:rPr sz="1800" b="0">
                <a:solidFill>
                  <a:srgbClr val="F3F1EB"/>
                </a:solidFill>
                <a:latin typeface="Segoe UI"/>
              </a:rPr>
              <a:t> наводять</a:t>
            </a:r>
            <a:r>
              <a:rPr sz="1800" b="0">
                <a:solidFill>
                  <a:srgbClr val="F3F1EB"/>
                </a:solidFill>
                <a:latin typeface="Segoe UI"/>
              </a:rPr>
              <a:t> ББ.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09191"/>
            <a:ext cx="5239512" cy="739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5427"/>
              </a:lnSpc>
              <a:spcBef>
                <a:spcPts val="0"/>
              </a:spcBef>
              <a:spcAft>
                <a:spcPts val="0"/>
              </a:spcAft>
            </a:pPr>
            <a:r>
              <a:rPr sz="4600" b="0">
                <a:solidFill>
                  <a:srgbClr val="C9AD78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721991"/>
            <a:ext cx="52395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2.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МИТТЄВЕ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ТА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МАСОВАНЕ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УРАЖЕННЯ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133470"/>
            <a:ext cx="5239512" cy="2675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711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A5ADBA"/>
                </a:solidFill>
                <a:latin typeface="Segoe UI"/>
              </a:rPr>
              <a:t>Розвідувально-ударний</a:t>
            </a:r>
            <a:r>
              <a:rPr sz="1450" b="0">
                <a:solidFill>
                  <a:srgbClr val="A5ADBA"/>
                </a:solidFill>
                <a:latin typeface="Segoe UI"/>
              </a:rPr>
              <a:t> цикл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556507"/>
            <a:ext cx="5239512" cy="562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3F1EB"/>
                </a:solidFill>
                <a:latin typeface="Segoe UI"/>
              </a:rPr>
              <a:t>•</a:t>
            </a:r>
            <a:r>
              <a:rPr sz="1800" b="0">
                <a:solidFill>
                  <a:srgbClr val="F3F1EB"/>
                </a:solidFill>
                <a:latin typeface="Segoe UI"/>
              </a:rPr>
              <a:t> Ураження</a:t>
            </a:r>
            <a:r>
              <a:rPr sz="1800" b="0">
                <a:solidFill>
                  <a:srgbClr val="F3F1EB"/>
                </a:solidFill>
                <a:latin typeface="Segoe UI"/>
              </a:rPr>
              <a:t> FPV</a:t>
            </a:r>
            <a:r>
              <a:rPr sz="1800" b="0">
                <a:solidFill>
                  <a:srgbClr val="F3F1EB"/>
                </a:solidFill>
                <a:latin typeface="Segoe UI"/>
              </a:rPr>
              <a:t> або</a:t>
            </a:r>
            <a:r>
              <a:rPr sz="1800" b="0">
                <a:solidFill>
                  <a:srgbClr val="F3F1EB"/>
                </a:solidFill>
                <a:latin typeface="Segoe UI"/>
              </a:rPr>
              <a:t> ББ</a:t>
            </a:r>
            <a:r>
              <a:rPr sz="1800" b="0">
                <a:solidFill>
                  <a:srgbClr val="F3F1EB"/>
                </a:solidFill>
                <a:latin typeface="Segoe UI"/>
              </a:rPr>
              <a:t> безпосередньо</a:t>
            </a:r>
            <a:r>
              <a:rPr sz="1800" b="0">
                <a:solidFill>
                  <a:srgbClr val="F3F1EB"/>
                </a:solidFill>
                <a:latin typeface="Segoe UI"/>
              </a:rPr>
              <a:t> після</a:t>
            </a:r>
            <a:br/>
            <a:r>
              <a:rPr sz="1800" b="0">
                <a:solidFill>
                  <a:srgbClr val="F3F1EB"/>
                </a:solidFill>
                <a:latin typeface="Segoe UI"/>
              </a:rPr>
              <a:t>фіксації</a:t>
            </a:r>
            <a:r>
              <a:rPr sz="1800" b="0">
                <a:solidFill>
                  <a:srgbClr val="F3F1EB"/>
                </a:solidFill>
                <a:latin typeface="Segoe UI"/>
              </a:rPr>
              <a:t> цілі.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210303"/>
            <a:ext cx="5239512" cy="562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3F1EB"/>
                </a:solidFill>
                <a:latin typeface="Segoe UI"/>
              </a:rPr>
              <a:t>•</a:t>
            </a:r>
            <a:r>
              <a:rPr sz="1800" b="0">
                <a:solidFill>
                  <a:srgbClr val="F3F1EB"/>
                </a:solidFill>
                <a:latin typeface="Segoe UI"/>
              </a:rPr>
              <a:t> По</a:t>
            </a:r>
            <a:r>
              <a:rPr sz="1800" b="0">
                <a:solidFill>
                  <a:srgbClr val="F3F1EB"/>
                </a:solidFill>
                <a:latin typeface="Segoe UI"/>
              </a:rPr>
              <a:t> розкритих</a:t>
            </a:r>
            <a:r>
              <a:rPr sz="1800" b="0">
                <a:solidFill>
                  <a:srgbClr val="F3F1EB"/>
                </a:solidFill>
                <a:latin typeface="Segoe UI"/>
              </a:rPr>
              <a:t> позиціях</a:t>
            </a:r>
            <a:r>
              <a:rPr sz="1800" b="0">
                <a:solidFill>
                  <a:srgbClr val="F3F1EB"/>
                </a:solidFill>
                <a:latin typeface="Segoe UI"/>
              </a:rPr>
              <a:t> —</a:t>
            </a:r>
            <a:r>
              <a:rPr sz="1800" b="0">
                <a:solidFill>
                  <a:srgbClr val="F3F1EB"/>
                </a:solidFill>
                <a:latin typeface="Segoe UI"/>
              </a:rPr>
              <a:t> концентровані</a:t>
            </a:r>
            <a:br/>
            <a:r>
              <a:rPr sz="1800" b="0">
                <a:solidFill>
                  <a:srgbClr val="F3F1EB"/>
                </a:solidFill>
                <a:latin typeface="Segoe UI"/>
              </a:rPr>
              <a:t>масовані</a:t>
            </a:r>
            <a:r>
              <a:rPr sz="1800" b="0">
                <a:solidFill>
                  <a:srgbClr val="F3F1EB"/>
                </a:solidFill>
                <a:latin typeface="Segoe UI"/>
              </a:rPr>
              <a:t> нальоти</a:t>
            </a:r>
            <a:r>
              <a:rPr sz="1800" b="0">
                <a:solidFill>
                  <a:srgbClr val="F3F1EB"/>
                </a:solidFill>
                <a:latin typeface="Segoe UI"/>
              </a:rPr>
              <a:t> по</a:t>
            </a:r>
            <a:r>
              <a:rPr sz="1800" b="0">
                <a:solidFill>
                  <a:srgbClr val="F3F1EB"/>
                </a:solidFill>
                <a:latin typeface="Segoe UI"/>
              </a:rPr>
              <a:t> 10–15</a:t>
            </a:r>
            <a:r>
              <a:rPr sz="1800" b="0">
                <a:solidFill>
                  <a:srgbClr val="F3F1EB"/>
                </a:solidFill>
                <a:latin typeface="Segoe UI"/>
              </a:rPr>
              <a:t> FPV</a:t>
            </a:r>
            <a:r>
              <a:rPr sz="1800" b="0">
                <a:solidFill>
                  <a:srgbClr val="F3F1EB"/>
                </a:solidFill>
                <a:latin typeface="Segoe UI"/>
              </a:rPr>
              <a:t> одночасно.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864099"/>
            <a:ext cx="5239512" cy="562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3F1EB"/>
                </a:solidFill>
                <a:latin typeface="Segoe UI"/>
              </a:rPr>
              <a:t>•</a:t>
            </a:r>
            <a:r>
              <a:rPr sz="1800" b="0">
                <a:solidFill>
                  <a:srgbClr val="F3F1EB"/>
                </a:solidFill>
                <a:latin typeface="Segoe UI"/>
              </a:rPr>
              <a:t> Скиди</a:t>
            </a:r>
            <a:r>
              <a:rPr sz="1800" b="0">
                <a:solidFill>
                  <a:srgbClr val="F3F1EB"/>
                </a:solidFill>
                <a:latin typeface="Segoe UI"/>
              </a:rPr>
              <a:t> боєприпасів</a:t>
            </a:r>
            <a:r>
              <a:rPr sz="1800" b="0">
                <a:solidFill>
                  <a:srgbClr val="F3F1EB"/>
                </a:solidFill>
                <a:latin typeface="Segoe UI"/>
              </a:rPr>
              <a:t> для</a:t>
            </a:r>
            <a:r>
              <a:rPr sz="1800" b="0">
                <a:solidFill>
                  <a:srgbClr val="F3F1EB"/>
                </a:solidFill>
                <a:latin typeface="Segoe UI"/>
              </a:rPr>
              <a:t> вибивання</a:t>
            </a:r>
            <a:r>
              <a:rPr sz="1800" b="0">
                <a:solidFill>
                  <a:srgbClr val="F3F1EB"/>
                </a:solidFill>
                <a:latin typeface="Segoe UI"/>
              </a:rPr>
              <a:t> піхоти</a:t>
            </a:r>
            <a:r>
              <a:rPr sz="1800" b="0">
                <a:solidFill>
                  <a:srgbClr val="F3F1EB"/>
                </a:solidFill>
                <a:latin typeface="Segoe UI"/>
              </a:rPr>
              <a:t> з</a:t>
            </a:r>
            <a:br/>
            <a:r>
              <a:rPr sz="1800" b="0">
                <a:solidFill>
                  <a:srgbClr val="F3F1EB"/>
                </a:solidFill>
                <a:latin typeface="Segoe UI"/>
              </a:rPr>
              <a:t>відкритих</a:t>
            </a:r>
            <a:r>
              <a:rPr sz="1800" b="0">
                <a:solidFill>
                  <a:srgbClr val="F3F1EB"/>
                </a:solidFill>
                <a:latin typeface="Segoe UI"/>
              </a:rPr>
              <a:t> щілин.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517895"/>
            <a:ext cx="5239512" cy="562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3F1EB"/>
                </a:solidFill>
                <a:latin typeface="Segoe UI"/>
              </a:rPr>
              <a:t>•</a:t>
            </a:r>
            <a:r>
              <a:rPr sz="1800" b="0">
                <a:solidFill>
                  <a:srgbClr val="F3F1EB"/>
                </a:solidFill>
                <a:latin typeface="Segoe UI"/>
              </a:rPr>
              <a:t> Полювання</a:t>
            </a:r>
            <a:r>
              <a:rPr sz="1800" b="0">
                <a:solidFill>
                  <a:srgbClr val="F3F1EB"/>
                </a:solidFill>
                <a:latin typeface="Segoe UI"/>
              </a:rPr>
              <a:t> за</a:t>
            </a:r>
            <a:r>
              <a:rPr sz="1800" b="0">
                <a:solidFill>
                  <a:srgbClr val="F3F1EB"/>
                </a:solidFill>
                <a:latin typeface="Segoe UI"/>
              </a:rPr>
              <a:t> бронетехнікою</a:t>
            </a:r>
            <a:r>
              <a:rPr sz="1800" b="0">
                <a:solidFill>
                  <a:srgbClr val="F3F1EB"/>
                </a:solidFill>
                <a:latin typeface="Segoe UI"/>
              </a:rPr>
              <a:t> ББ</a:t>
            </a:r>
            <a:br/>
            <a:r>
              <a:rPr sz="1800" b="0">
                <a:solidFill>
                  <a:srgbClr val="F3F1EB"/>
                </a:solidFill>
                <a:latin typeface="Segoe UI"/>
              </a:rPr>
              <a:t>«Ланцет»/«Скальпель».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391656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7132320" cy="1851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5ADBA"/>
                </a:solidFill>
                <a:latin typeface="Segoe UI"/>
              </a:rPr>
              <a:t>РТН</a:t>
            </a:r>
            <a:r>
              <a:rPr sz="900" b="0">
                <a:solidFill>
                  <a:srgbClr val="A5ADBA"/>
                </a:solidFill>
                <a:latin typeface="Segoe UI"/>
              </a:rPr>
              <a:t> /</a:t>
            </a:r>
            <a:r>
              <a:rPr sz="900" b="0">
                <a:solidFill>
                  <a:srgbClr val="A5ADBA"/>
                </a:solidFill>
                <a:latin typeface="Segoe UI"/>
              </a:rPr>
              <a:t> МАТЕРІАЛИ</a:t>
            </a:r>
            <a:r>
              <a:rPr sz="900" b="0">
                <a:solidFill>
                  <a:srgbClr val="A5ADBA"/>
                </a:solidFill>
                <a:latin typeface="Segoe UI"/>
              </a:rPr>
              <a:t> БРИФІНГУ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6464808"/>
            <a:ext cx="1444752" cy="2001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9AD78"/>
                </a:solidFill>
                <a:latin typeface="Segoe UI"/>
              </a:rPr>
              <a:t>06</a:t>
            </a:r>
            <a:r>
              <a:rPr sz="1000" b="0">
                <a:solidFill>
                  <a:srgbClr val="C9AD78"/>
                </a:solidFill>
                <a:latin typeface="Segoe UI"/>
              </a:rPr>
              <a:t> /</a:t>
            </a:r>
            <a:r>
              <a:rPr sz="1000" b="0">
                <a:solidFill>
                  <a:srgbClr val="C9AD78"/>
                </a:solidFill>
                <a:latin typeface="Segoe UI"/>
              </a:rPr>
              <a:t>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93192"/>
            <a:ext cx="11003279" cy="2076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AD78"/>
                </a:solidFill>
                <a:latin typeface="Segoe UI Semibold"/>
              </a:rPr>
              <a:t>ТАКТИКА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ВОРОГА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79" cy="469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1EB"/>
                </a:solidFill>
                <a:latin typeface="Segoe UI Semibold"/>
              </a:rPr>
              <a:t>Характер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та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способи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дій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повітряного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противника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65504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84960"/>
            <a:ext cx="5239512" cy="739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5427"/>
              </a:lnSpc>
              <a:spcBef>
                <a:spcPts val="0"/>
              </a:spcBef>
              <a:spcAft>
                <a:spcPts val="0"/>
              </a:spcAft>
            </a:pPr>
            <a:r>
              <a:rPr sz="4600" b="0">
                <a:solidFill>
                  <a:srgbClr val="C9AD78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97760"/>
            <a:ext cx="52395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3.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ПОВІТРЯНІ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ЗАСІДКИ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НА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МАРШРУТАХ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09239"/>
            <a:ext cx="5239512" cy="2675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711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A5ADBA"/>
                </a:solidFill>
                <a:latin typeface="Segoe UI"/>
              </a:rPr>
              <a:t>Ізоляція</a:t>
            </a:r>
            <a:r>
              <a:rPr sz="1450" b="0">
                <a:solidFill>
                  <a:srgbClr val="A5ADBA"/>
                </a:solidFill>
                <a:latin typeface="Segoe UI"/>
              </a:rPr>
              <a:t> поля</a:t>
            </a:r>
            <a:r>
              <a:rPr sz="1450" b="0">
                <a:solidFill>
                  <a:srgbClr val="A5ADBA"/>
                </a:solidFill>
                <a:latin typeface="Segoe UI"/>
              </a:rPr>
              <a:t> бою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32276"/>
            <a:ext cx="5239512" cy="562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3F1EB"/>
                </a:solidFill>
                <a:latin typeface="Segoe UI"/>
              </a:rPr>
              <a:t>•</a:t>
            </a:r>
            <a:r>
              <a:rPr sz="1800" b="0">
                <a:solidFill>
                  <a:srgbClr val="F3F1EB"/>
                </a:solidFill>
                <a:latin typeface="Segoe UI"/>
              </a:rPr>
              <a:t> Розгортання</a:t>
            </a:r>
            <a:r>
              <a:rPr sz="1800" b="0">
                <a:solidFill>
                  <a:srgbClr val="F3F1EB"/>
                </a:solidFill>
                <a:latin typeface="Segoe UI"/>
              </a:rPr>
              <a:t> 4–6</a:t>
            </a:r>
            <a:r>
              <a:rPr sz="1800" b="0">
                <a:solidFill>
                  <a:srgbClr val="F3F1EB"/>
                </a:solidFill>
                <a:latin typeface="Segoe UI"/>
              </a:rPr>
              <a:t> FPV-дронів</a:t>
            </a:r>
            <a:r>
              <a:rPr sz="1800" b="0">
                <a:solidFill>
                  <a:srgbClr val="F3F1EB"/>
                </a:solidFill>
                <a:latin typeface="Segoe UI"/>
              </a:rPr>
              <a:t> у</a:t>
            </a:r>
            <a:r>
              <a:rPr sz="1800" b="0">
                <a:solidFill>
                  <a:srgbClr val="F3F1EB"/>
                </a:solidFill>
                <a:latin typeface="Segoe UI"/>
              </a:rPr>
              <a:t> режимі</a:t>
            </a:r>
            <a:br/>
            <a:r>
              <a:rPr sz="1800" b="0">
                <a:solidFill>
                  <a:srgbClr val="F3F1EB"/>
                </a:solidFill>
                <a:latin typeface="Segoe UI"/>
              </a:rPr>
              <a:t>очікування</a:t>
            </a:r>
            <a:r>
              <a:rPr sz="1800" b="0">
                <a:solidFill>
                  <a:srgbClr val="F3F1EB"/>
                </a:solidFill>
                <a:latin typeface="Segoe UI"/>
              </a:rPr>
              <a:t> на</a:t>
            </a:r>
            <a:r>
              <a:rPr sz="1800" b="0">
                <a:solidFill>
                  <a:srgbClr val="F3F1EB"/>
                </a:solidFill>
                <a:latin typeface="Segoe UI"/>
              </a:rPr>
              <a:t> землі/деревах.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886072"/>
            <a:ext cx="5239512" cy="562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3F1EB"/>
                </a:solidFill>
                <a:latin typeface="Segoe UI"/>
              </a:rPr>
              <a:t>•</a:t>
            </a:r>
            <a:r>
              <a:rPr sz="1800" b="0">
                <a:solidFill>
                  <a:srgbClr val="F3F1EB"/>
                </a:solidFill>
                <a:latin typeface="Segoe UI"/>
              </a:rPr>
              <a:t> Блокування</a:t>
            </a:r>
            <a:r>
              <a:rPr sz="1800" b="0">
                <a:solidFill>
                  <a:srgbClr val="F3F1EB"/>
                </a:solidFill>
                <a:latin typeface="Segoe UI"/>
              </a:rPr>
              <a:t> маршрутів</a:t>
            </a:r>
            <a:r>
              <a:rPr sz="1800" b="0">
                <a:solidFill>
                  <a:srgbClr val="F3F1EB"/>
                </a:solidFill>
                <a:latin typeface="Segoe UI"/>
              </a:rPr>
              <a:t> висування,</a:t>
            </a:r>
            <a:r>
              <a:rPr sz="1800" b="0">
                <a:solidFill>
                  <a:srgbClr val="F3F1EB"/>
                </a:solidFill>
                <a:latin typeface="Segoe UI"/>
              </a:rPr>
              <a:t> маневру</a:t>
            </a:r>
            <a:r>
              <a:rPr sz="1800" b="0">
                <a:solidFill>
                  <a:srgbClr val="F3F1EB"/>
                </a:solidFill>
                <a:latin typeface="Segoe UI"/>
              </a:rPr>
              <a:t> та</a:t>
            </a:r>
            <a:br/>
            <a:r>
              <a:rPr sz="1800" b="0">
                <a:solidFill>
                  <a:srgbClr val="F3F1EB"/>
                </a:solidFill>
                <a:latin typeface="Segoe UI"/>
              </a:rPr>
              <a:t>логістики.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39868"/>
            <a:ext cx="5239512" cy="562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3F1EB"/>
                </a:solidFill>
                <a:latin typeface="Segoe UI"/>
              </a:rPr>
              <a:t>•</a:t>
            </a:r>
            <a:r>
              <a:rPr sz="1800" b="0">
                <a:solidFill>
                  <a:srgbClr val="F3F1EB"/>
                </a:solidFill>
                <a:latin typeface="Segoe UI"/>
              </a:rPr>
              <a:t> Ураження</a:t>
            </a:r>
            <a:r>
              <a:rPr sz="1800" b="0">
                <a:solidFill>
                  <a:srgbClr val="F3F1EB"/>
                </a:solidFill>
                <a:latin typeface="Segoe UI"/>
              </a:rPr>
              <a:t> евакуаційного</a:t>
            </a:r>
            <a:r>
              <a:rPr sz="1800" b="0">
                <a:solidFill>
                  <a:srgbClr val="F3F1EB"/>
                </a:solidFill>
                <a:latin typeface="Segoe UI"/>
              </a:rPr>
              <a:t> транспорту</a:t>
            </a:r>
            <a:r>
              <a:rPr sz="1800" b="0">
                <a:solidFill>
                  <a:srgbClr val="F3F1EB"/>
                </a:solidFill>
                <a:latin typeface="Segoe UI"/>
              </a:rPr>
              <a:t> та</a:t>
            </a:r>
            <a:br/>
            <a:r>
              <a:rPr sz="1800" b="0">
                <a:solidFill>
                  <a:srgbClr val="F3F1EB"/>
                </a:solidFill>
                <a:latin typeface="Segoe UI"/>
              </a:rPr>
              <a:t>підвезення</a:t>
            </a:r>
            <a:r>
              <a:rPr sz="1800" b="0">
                <a:solidFill>
                  <a:srgbClr val="F3F1EB"/>
                </a:solidFill>
                <a:latin typeface="Segoe UI"/>
              </a:rPr>
              <a:t> боєкомплекту.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193664"/>
            <a:ext cx="5239512" cy="562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3F1EB"/>
                </a:solidFill>
                <a:latin typeface="Segoe UI"/>
              </a:rPr>
              <a:t>•</a:t>
            </a:r>
            <a:r>
              <a:rPr sz="1800" b="0">
                <a:solidFill>
                  <a:srgbClr val="F3F1EB"/>
                </a:solidFill>
                <a:latin typeface="Segoe UI"/>
              </a:rPr>
              <a:t> Застосування</a:t>
            </a:r>
            <a:r>
              <a:rPr sz="1800" b="0">
                <a:solidFill>
                  <a:srgbClr val="F3F1EB"/>
                </a:solidFill>
                <a:latin typeface="Segoe UI"/>
              </a:rPr>
              <a:t> FPV-дронів</a:t>
            </a:r>
            <a:r>
              <a:rPr sz="1800" b="0">
                <a:solidFill>
                  <a:srgbClr val="F3F1EB"/>
                </a:solidFill>
                <a:latin typeface="Segoe UI"/>
              </a:rPr>
              <a:t> з</a:t>
            </a:r>
            <a:r>
              <a:rPr sz="1800" b="0">
                <a:solidFill>
                  <a:srgbClr val="F3F1EB"/>
                </a:solidFill>
                <a:latin typeface="Segoe UI"/>
              </a:rPr>
              <a:t> оптоволоконним</a:t>
            </a:r>
            <a:br/>
            <a:r>
              <a:rPr sz="1800" b="0">
                <a:solidFill>
                  <a:srgbClr val="F3F1EB"/>
                </a:solidFill>
                <a:latin typeface="Segoe UI"/>
              </a:rPr>
              <a:t>керуванням</a:t>
            </a:r>
            <a:r>
              <a:rPr sz="1800" b="0">
                <a:solidFill>
                  <a:srgbClr val="F3F1EB"/>
                </a:solidFill>
                <a:latin typeface="Segoe UI"/>
              </a:rPr>
              <a:t> (імунітет</a:t>
            </a:r>
            <a:r>
              <a:rPr sz="1800" b="0">
                <a:solidFill>
                  <a:srgbClr val="F3F1EB"/>
                </a:solidFill>
                <a:latin typeface="Segoe UI"/>
              </a:rPr>
              <a:t> до</a:t>
            </a:r>
            <a:r>
              <a:rPr sz="1800" b="0">
                <a:solidFill>
                  <a:srgbClr val="F3F1EB"/>
                </a:solidFill>
                <a:latin typeface="Segoe UI"/>
              </a:rPr>
              <a:t> РЕБ).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584960"/>
            <a:ext cx="5239512" cy="739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5427"/>
              </a:lnSpc>
              <a:spcBef>
                <a:spcPts val="0"/>
              </a:spcBef>
              <a:spcAft>
                <a:spcPts val="0"/>
              </a:spcAft>
            </a:pPr>
            <a:r>
              <a:rPr sz="4600" b="0">
                <a:solidFill>
                  <a:srgbClr val="C9AD78"/>
                </a:solidFill>
                <a:latin typeface="Segoe UI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97760"/>
            <a:ext cx="523951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4.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АВІАЦІЙНА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ПІДТРИМКА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НАСТУПУ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809239"/>
            <a:ext cx="5239512" cy="2675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711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A5ADBA"/>
                </a:solidFill>
                <a:latin typeface="Segoe UI"/>
              </a:rPr>
              <a:t>Удари</a:t>
            </a:r>
            <a:r>
              <a:rPr sz="1450" b="0">
                <a:solidFill>
                  <a:srgbClr val="A5ADBA"/>
                </a:solidFill>
                <a:latin typeface="Segoe UI"/>
              </a:rPr>
              <a:t> пілотованої</a:t>
            </a:r>
            <a:r>
              <a:rPr sz="1450" b="0">
                <a:solidFill>
                  <a:srgbClr val="A5ADBA"/>
                </a:solidFill>
                <a:latin typeface="Segoe UI"/>
              </a:rPr>
              <a:t> авіації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232276"/>
            <a:ext cx="5239512" cy="562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3F1EB"/>
                </a:solidFill>
                <a:latin typeface="Segoe UI"/>
              </a:rPr>
              <a:t>•</a:t>
            </a:r>
            <a:r>
              <a:rPr sz="1800" b="0">
                <a:solidFill>
                  <a:srgbClr val="F3F1EB"/>
                </a:solidFill>
                <a:latin typeface="Segoe UI"/>
              </a:rPr>
              <a:t> Період</a:t>
            </a:r>
            <a:r>
              <a:rPr sz="1800" b="0">
                <a:solidFill>
                  <a:srgbClr val="F3F1EB"/>
                </a:solidFill>
                <a:latin typeface="Segoe UI"/>
              </a:rPr>
              <a:t> підготовки:</a:t>
            </a:r>
            <a:r>
              <a:rPr sz="1800" b="0">
                <a:solidFill>
                  <a:srgbClr val="F3F1EB"/>
                </a:solidFill>
                <a:latin typeface="Segoe UI"/>
              </a:rPr>
              <a:t> удари</a:t>
            </a:r>
            <a:r>
              <a:rPr sz="1800" b="0">
                <a:solidFill>
                  <a:srgbClr val="F3F1EB"/>
                </a:solidFill>
                <a:latin typeface="Segoe UI"/>
              </a:rPr>
              <a:t> тактичної</a:t>
            </a:r>
            <a:r>
              <a:rPr sz="1800" b="0">
                <a:solidFill>
                  <a:srgbClr val="F3F1EB"/>
                </a:solidFill>
                <a:latin typeface="Segoe UI"/>
              </a:rPr>
              <a:t> авіації</a:t>
            </a:r>
            <a:br/>
            <a:r>
              <a:rPr sz="1800" b="0">
                <a:solidFill>
                  <a:srgbClr val="F3F1EB"/>
                </a:solidFill>
                <a:latin typeface="Segoe UI"/>
              </a:rPr>
              <a:t>(КАБ)</a:t>
            </a:r>
            <a:r>
              <a:rPr sz="1800" b="0">
                <a:solidFill>
                  <a:srgbClr val="F3F1EB"/>
                </a:solidFill>
                <a:latin typeface="Segoe UI"/>
              </a:rPr>
              <a:t> по</a:t>
            </a:r>
            <a:r>
              <a:rPr sz="1800" b="0">
                <a:solidFill>
                  <a:srgbClr val="F3F1EB"/>
                </a:solidFill>
                <a:latin typeface="Segoe UI"/>
              </a:rPr>
              <a:t> опорних</a:t>
            </a:r>
            <a:r>
              <a:rPr sz="1800" b="0">
                <a:solidFill>
                  <a:srgbClr val="F3F1EB"/>
                </a:solidFill>
                <a:latin typeface="Segoe UI"/>
              </a:rPr>
              <a:t> пунктах.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886072"/>
            <a:ext cx="5239512" cy="562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3F1EB"/>
                </a:solidFill>
                <a:latin typeface="Segoe UI"/>
              </a:rPr>
              <a:t>•</a:t>
            </a:r>
            <a:r>
              <a:rPr sz="1800" b="0">
                <a:solidFill>
                  <a:srgbClr val="F3F1EB"/>
                </a:solidFill>
                <a:latin typeface="Segoe UI"/>
              </a:rPr>
              <a:t> У</a:t>
            </a:r>
            <a:r>
              <a:rPr sz="1800" b="0">
                <a:solidFill>
                  <a:srgbClr val="F3F1EB"/>
                </a:solidFill>
                <a:latin typeface="Segoe UI"/>
              </a:rPr>
              <a:t> ході</a:t>
            </a:r>
            <a:r>
              <a:rPr sz="1800" b="0">
                <a:solidFill>
                  <a:srgbClr val="F3F1EB"/>
                </a:solidFill>
                <a:latin typeface="Segoe UI"/>
              </a:rPr>
              <a:t> наступу:</a:t>
            </a:r>
            <a:r>
              <a:rPr sz="1800" b="0">
                <a:solidFill>
                  <a:srgbClr val="F3F1EB"/>
                </a:solidFill>
                <a:latin typeface="Segoe UI"/>
              </a:rPr>
              <a:t> вильоти</a:t>
            </a:r>
            <a:r>
              <a:rPr sz="1800" b="0">
                <a:solidFill>
                  <a:srgbClr val="F3F1EB"/>
                </a:solidFill>
                <a:latin typeface="Segoe UI"/>
              </a:rPr>
              <a:t> пар</a:t>
            </a:r>
            <a:r>
              <a:rPr sz="1800" b="0">
                <a:solidFill>
                  <a:srgbClr val="F3F1EB"/>
                </a:solidFill>
                <a:latin typeface="Segoe UI"/>
              </a:rPr>
              <a:t> Су-25</a:t>
            </a:r>
            <a:r>
              <a:rPr sz="1800" b="0">
                <a:solidFill>
                  <a:srgbClr val="F3F1EB"/>
                </a:solidFill>
                <a:latin typeface="Segoe UI"/>
              </a:rPr>
              <a:t> для</a:t>
            </a:r>
            <a:br/>
            <a:r>
              <a:rPr sz="1800" b="0">
                <a:solidFill>
                  <a:srgbClr val="F3F1EB"/>
                </a:solidFill>
                <a:latin typeface="Segoe UI"/>
              </a:rPr>
              <a:t>розчищення</a:t>
            </a:r>
            <a:r>
              <a:rPr sz="1800" b="0">
                <a:solidFill>
                  <a:srgbClr val="F3F1EB"/>
                </a:solidFill>
                <a:latin typeface="Segoe UI"/>
              </a:rPr>
              <a:t> смуги</a:t>
            </a:r>
            <a:r>
              <a:rPr sz="1800" b="0">
                <a:solidFill>
                  <a:srgbClr val="F3F1EB"/>
                </a:solidFill>
                <a:latin typeface="Segoe UI"/>
              </a:rPr>
              <a:t> прориву.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539868"/>
            <a:ext cx="5239512" cy="562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3F1EB"/>
                </a:solidFill>
                <a:latin typeface="Segoe UI"/>
              </a:rPr>
              <a:t>•</a:t>
            </a:r>
            <a:r>
              <a:rPr sz="1800" b="0">
                <a:solidFill>
                  <a:srgbClr val="F3F1EB"/>
                </a:solidFill>
                <a:latin typeface="Segoe UI"/>
              </a:rPr>
              <a:t> Пари</a:t>
            </a:r>
            <a:r>
              <a:rPr sz="1800" b="0">
                <a:solidFill>
                  <a:srgbClr val="F3F1EB"/>
                </a:solidFill>
                <a:latin typeface="Segoe UI"/>
              </a:rPr>
              <a:t> вертольотів</a:t>
            </a:r>
            <a:r>
              <a:rPr sz="1800" b="0">
                <a:solidFill>
                  <a:srgbClr val="F3F1EB"/>
                </a:solidFill>
                <a:latin typeface="Segoe UI"/>
              </a:rPr>
              <a:t> (Ка-52,</a:t>
            </a:r>
            <a:r>
              <a:rPr sz="1800" b="0">
                <a:solidFill>
                  <a:srgbClr val="F3F1EB"/>
                </a:solidFill>
                <a:latin typeface="Segoe UI"/>
              </a:rPr>
              <a:t> Мі-28,</a:t>
            </a:r>
            <a:r>
              <a:rPr sz="1800" b="0">
                <a:solidFill>
                  <a:srgbClr val="F3F1EB"/>
                </a:solidFill>
                <a:latin typeface="Segoe UI"/>
              </a:rPr>
              <a:t> Мі-24)</a:t>
            </a:r>
            <a:r>
              <a:rPr sz="1800" b="0">
                <a:solidFill>
                  <a:srgbClr val="F3F1EB"/>
                </a:solidFill>
                <a:latin typeface="Segoe UI"/>
              </a:rPr>
              <a:t> —</a:t>
            </a:r>
            <a:br/>
            <a:r>
              <a:rPr sz="1800" b="0">
                <a:solidFill>
                  <a:srgbClr val="F3F1EB"/>
                </a:solidFill>
                <a:latin typeface="Segoe UI"/>
              </a:rPr>
              <a:t>робота</a:t>
            </a:r>
            <a:r>
              <a:rPr sz="1800" b="0">
                <a:solidFill>
                  <a:srgbClr val="F3F1EB"/>
                </a:solidFill>
                <a:latin typeface="Segoe UI"/>
              </a:rPr>
              <a:t> ПТКР</a:t>
            </a:r>
            <a:r>
              <a:rPr sz="1800" b="0">
                <a:solidFill>
                  <a:srgbClr val="F3F1EB"/>
                </a:solidFill>
                <a:latin typeface="Segoe UI"/>
              </a:rPr>
              <a:t> та</a:t>
            </a:r>
            <a:r>
              <a:rPr sz="1800" b="0">
                <a:solidFill>
                  <a:srgbClr val="F3F1EB"/>
                </a:solidFill>
                <a:latin typeface="Segoe UI"/>
              </a:rPr>
              <a:t> НАР</a:t>
            </a:r>
            <a:r>
              <a:rPr sz="1800" b="0">
                <a:solidFill>
                  <a:srgbClr val="F3F1EB"/>
                </a:solidFill>
                <a:latin typeface="Segoe UI"/>
              </a:rPr>
              <a:t> по</a:t>
            </a:r>
            <a:r>
              <a:rPr sz="1800" b="0">
                <a:solidFill>
                  <a:srgbClr val="F3F1EB"/>
                </a:solidFill>
                <a:latin typeface="Segoe UI"/>
              </a:rPr>
              <a:t> флангах.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5193664"/>
            <a:ext cx="5239512" cy="562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3F1EB"/>
                </a:solidFill>
                <a:latin typeface="Segoe UI"/>
              </a:rPr>
              <a:t>•</a:t>
            </a:r>
            <a:r>
              <a:rPr sz="1800" b="0">
                <a:solidFill>
                  <a:srgbClr val="F3F1EB"/>
                </a:solidFill>
                <a:latin typeface="Segoe UI"/>
              </a:rPr>
              <a:t> Застосування</a:t>
            </a:r>
            <a:r>
              <a:rPr sz="1800" b="0">
                <a:solidFill>
                  <a:srgbClr val="F3F1EB"/>
                </a:solidFill>
                <a:latin typeface="Segoe UI"/>
              </a:rPr>
              <a:t> авіації</a:t>
            </a:r>
            <a:r>
              <a:rPr sz="1800" b="0">
                <a:solidFill>
                  <a:srgbClr val="F3F1EB"/>
                </a:solidFill>
                <a:latin typeface="Segoe UI"/>
              </a:rPr>
              <a:t> фокусується</a:t>
            </a:r>
            <a:r>
              <a:rPr sz="1800" b="0">
                <a:solidFill>
                  <a:srgbClr val="F3F1EB"/>
                </a:solidFill>
                <a:latin typeface="Segoe UI"/>
              </a:rPr>
              <a:t> на</a:t>
            </a:r>
            <a:r>
              <a:rPr sz="1800" b="0">
                <a:solidFill>
                  <a:srgbClr val="F3F1EB"/>
                </a:solidFill>
                <a:latin typeface="Segoe UI"/>
              </a:rPr>
              <a:t> ключових</a:t>
            </a:r>
            <a:br/>
            <a:r>
              <a:rPr sz="1800" b="0">
                <a:solidFill>
                  <a:srgbClr val="F3F1EB"/>
                </a:solidFill>
                <a:latin typeface="Segoe UI"/>
              </a:rPr>
              <a:t>вузлах</a:t>
            </a:r>
            <a:r>
              <a:rPr sz="1800" b="0">
                <a:solidFill>
                  <a:srgbClr val="F3F1EB"/>
                </a:solidFill>
                <a:latin typeface="Segoe UI"/>
              </a:rPr>
              <a:t> оборони.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391656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7132320" cy="1851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5ADBA"/>
                </a:solidFill>
                <a:latin typeface="Segoe UI"/>
              </a:rPr>
              <a:t>РТН</a:t>
            </a:r>
            <a:r>
              <a:rPr sz="900" b="0">
                <a:solidFill>
                  <a:srgbClr val="A5ADBA"/>
                </a:solidFill>
                <a:latin typeface="Segoe UI"/>
              </a:rPr>
              <a:t> /</a:t>
            </a:r>
            <a:r>
              <a:rPr sz="900" b="0">
                <a:solidFill>
                  <a:srgbClr val="A5ADBA"/>
                </a:solidFill>
                <a:latin typeface="Segoe UI"/>
              </a:rPr>
              <a:t> МАТЕРІАЛИ</a:t>
            </a:r>
            <a:r>
              <a:rPr sz="900" b="0">
                <a:solidFill>
                  <a:srgbClr val="A5ADBA"/>
                </a:solidFill>
                <a:latin typeface="Segoe UI"/>
              </a:rPr>
              <a:t> БРИФІНГУ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6464808"/>
            <a:ext cx="1444752" cy="2001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9AD78"/>
                </a:solidFill>
                <a:latin typeface="Segoe UI"/>
              </a:rPr>
              <a:t>07</a:t>
            </a:r>
            <a:r>
              <a:rPr sz="1000" b="0">
                <a:solidFill>
                  <a:srgbClr val="C9AD78"/>
                </a:solidFill>
                <a:latin typeface="Segoe UI"/>
              </a:rPr>
              <a:t> /</a:t>
            </a:r>
            <a:r>
              <a:rPr sz="1000" b="0">
                <a:solidFill>
                  <a:srgbClr val="C9AD78"/>
                </a:solidFill>
                <a:latin typeface="Segoe UI"/>
              </a:rPr>
              <a:t>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93192"/>
            <a:ext cx="11003279" cy="2076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AD78"/>
                </a:solidFill>
                <a:latin typeface="Segoe UI Semibold"/>
              </a:rPr>
              <a:t>БОЙОВИЙ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ПОРЯДОК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РТГР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79" cy="469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1EB"/>
                </a:solidFill>
                <a:latin typeface="Segoe UI Semibold"/>
              </a:rPr>
              <a:t>Система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протидії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засобам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повітряного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нападу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противника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74064"/>
            <a:ext cx="11003279" cy="2602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A5ADBA"/>
                </a:solidFill>
                <a:latin typeface="Segoe UI"/>
              </a:rPr>
              <a:t>Комплекс</a:t>
            </a:r>
            <a:r>
              <a:rPr sz="1450" b="0">
                <a:solidFill>
                  <a:srgbClr val="A5ADBA"/>
                </a:solidFill>
                <a:latin typeface="Segoe UI"/>
              </a:rPr>
              <a:t> заходів</a:t>
            </a:r>
            <a:r>
              <a:rPr sz="1450" b="0">
                <a:solidFill>
                  <a:srgbClr val="A5ADBA"/>
                </a:solidFill>
                <a:latin typeface="Segoe UI"/>
              </a:rPr>
              <a:t> підрозділів</a:t>
            </a:r>
            <a:r>
              <a:rPr sz="1450" b="0">
                <a:solidFill>
                  <a:srgbClr val="A5ADBA"/>
                </a:solidFill>
                <a:latin typeface="Segoe UI"/>
              </a:rPr>
              <a:t> роти</a:t>
            </a:r>
            <a:r>
              <a:rPr sz="1450" b="0">
                <a:solidFill>
                  <a:srgbClr val="A5ADBA"/>
                </a:solidFill>
                <a:latin typeface="Segoe UI"/>
              </a:rPr>
              <a:t> щодо</a:t>
            </a:r>
            <a:r>
              <a:rPr sz="1450" b="0">
                <a:solidFill>
                  <a:srgbClr val="A5ADBA"/>
                </a:solidFill>
                <a:latin typeface="Segoe UI"/>
              </a:rPr>
              <a:t> зриву</a:t>
            </a:r>
            <a:r>
              <a:rPr sz="1450" b="0">
                <a:solidFill>
                  <a:srgbClr val="A5ADBA"/>
                </a:solidFill>
                <a:latin typeface="Segoe UI"/>
              </a:rPr>
              <a:t> повітряної</a:t>
            </a:r>
            <a:r>
              <a:rPr sz="1450" b="0">
                <a:solidFill>
                  <a:srgbClr val="A5ADBA"/>
                </a:solidFill>
                <a:latin typeface="Segoe UI"/>
              </a:rPr>
              <a:t> розвідки</a:t>
            </a:r>
            <a:r>
              <a:rPr sz="1450" b="0">
                <a:solidFill>
                  <a:srgbClr val="A5ADBA"/>
                </a:solidFill>
                <a:latin typeface="Segoe UI"/>
              </a:rPr>
              <a:t> та</a:t>
            </a:r>
            <a:r>
              <a:rPr sz="1450" b="0">
                <a:solidFill>
                  <a:srgbClr val="A5ADBA"/>
                </a:solidFill>
                <a:latin typeface="Segoe UI"/>
              </a:rPr>
              <a:t> відбиття</a:t>
            </a:r>
            <a:r>
              <a:rPr sz="1450" b="0">
                <a:solidFill>
                  <a:srgbClr val="A5ADBA"/>
                </a:solidFill>
                <a:latin typeface="Segoe UI"/>
              </a:rPr>
              <a:t> атак</a:t>
            </a:r>
            <a:r>
              <a:rPr sz="1450" b="0">
                <a:solidFill>
                  <a:srgbClr val="A5ADBA"/>
                </a:solidFill>
                <a:latin typeface="Segoe UI"/>
              </a:rPr>
              <a:t> ЗПН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89735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09191"/>
            <a:ext cx="2926080" cy="5897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4248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C9AD78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49271"/>
            <a:ext cx="2926080" cy="5897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1.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РОЗВІДКА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ТА</a:t>
            </a:r>
            <a:br/>
            <a:r>
              <a:rPr sz="1800" b="1">
                <a:solidFill>
                  <a:srgbClr val="F3F1EB"/>
                </a:solidFill>
                <a:latin typeface="Segoe UI Semibold"/>
              </a:rPr>
              <a:t>ОПОВІЩЕННЯ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5072" y="1909191"/>
            <a:ext cx="7589520" cy="5440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Пости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спостереження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(ПС):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Ведуть</a:t>
            </a:r>
            <a:r>
              <a:rPr sz="1800" b="0">
                <a:solidFill>
                  <a:srgbClr val="A5ADBA"/>
                </a:solidFill>
                <a:latin typeface="Segoe UI"/>
              </a:rPr>
              <a:t> візуальне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акустичне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спостереження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за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повітрям.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5072" y="2526411"/>
            <a:ext cx="7589520" cy="5440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Нічний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час:</a:t>
            </a:r>
            <a:r>
              <a:rPr sz="1800" b="0">
                <a:solidFill>
                  <a:srgbClr val="A5ADBA"/>
                </a:solidFill>
                <a:latin typeface="Segoe UI"/>
              </a:rPr>
              <a:t> Обов'язкове</a:t>
            </a:r>
            <a:r>
              <a:rPr sz="1800" b="0">
                <a:solidFill>
                  <a:srgbClr val="A5ADBA"/>
                </a:solidFill>
                <a:latin typeface="Segoe UI"/>
              </a:rPr>
              <a:t> залучення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тепловізійних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приладів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ПС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для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виявлення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БпЛА.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5072" y="3143630"/>
            <a:ext cx="7589520" cy="5440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Система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старшого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начальника:</a:t>
            </a:r>
            <a:r>
              <a:rPr sz="1800" b="0">
                <a:solidFill>
                  <a:srgbClr val="A5ADBA"/>
                </a:solidFill>
                <a:latin typeface="Segoe UI"/>
              </a:rPr>
              <a:t> Своєчасне</a:t>
            </a:r>
            <a:r>
              <a:rPr sz="1800" b="0">
                <a:solidFill>
                  <a:srgbClr val="A5ADBA"/>
                </a:solidFill>
                <a:latin typeface="Segoe UI"/>
              </a:rPr>
              <a:t> отримання</a:t>
            </a:r>
            <a:r>
              <a:rPr sz="1800" b="0">
                <a:solidFill>
                  <a:srgbClr val="A5ADBA"/>
                </a:solidFill>
                <a:latin typeface="Segoe UI"/>
              </a:rPr>
              <a:t> сигналів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оповіщення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про</a:t>
            </a:r>
            <a:r>
              <a:rPr sz="1800" b="0">
                <a:solidFill>
                  <a:srgbClr val="A5ADBA"/>
                </a:solidFill>
                <a:latin typeface="Segoe UI"/>
              </a:rPr>
              <a:t> зліт</a:t>
            </a:r>
            <a:r>
              <a:rPr sz="1800" b="0">
                <a:solidFill>
                  <a:srgbClr val="A5ADBA"/>
                </a:solidFill>
                <a:latin typeface="Segoe UI"/>
              </a:rPr>
              <a:t> авіації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пуски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КАБ.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962019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181475"/>
            <a:ext cx="2926080" cy="5897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4248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C9AD78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821555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2.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ВОГНЕВЕ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УРАЖЕННЯ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5072" y="4181475"/>
            <a:ext cx="7589520" cy="5440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Чергові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стрільці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з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рушницями:</a:t>
            </a:r>
            <a:r>
              <a:rPr sz="1800" b="0">
                <a:solidFill>
                  <a:srgbClr val="A5ADBA"/>
                </a:solidFill>
                <a:latin typeface="Segoe UI"/>
              </a:rPr>
              <a:t> Призначаються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в</a:t>
            </a:r>
            <a:r>
              <a:rPr sz="1800" b="0">
                <a:solidFill>
                  <a:srgbClr val="A5ADBA"/>
                </a:solidFill>
                <a:latin typeface="Segoe UI"/>
              </a:rPr>
              <a:t> кожній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групі/відділенні,</a:t>
            </a:r>
            <a:r>
              <a:rPr sz="1800" b="0">
                <a:solidFill>
                  <a:srgbClr val="A5ADBA"/>
                </a:solidFill>
                <a:latin typeface="Segoe UI"/>
              </a:rPr>
              <a:t> озброєні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помповими</a:t>
            </a:r>
            <a:r>
              <a:rPr sz="1800" b="0">
                <a:solidFill>
                  <a:srgbClr val="A5ADBA"/>
                </a:solidFill>
                <a:latin typeface="Segoe UI"/>
              </a:rPr>
              <a:t> рушницями</a:t>
            </a:r>
            <a:r>
              <a:rPr sz="1800" b="0">
                <a:solidFill>
                  <a:srgbClr val="A5ADBA"/>
                </a:solidFill>
                <a:latin typeface="Segoe UI"/>
              </a:rPr>
              <a:t> 12к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автоматами.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5072" y="4798695"/>
            <a:ext cx="7589520" cy="5440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Знищення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FPV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та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ББ:</a:t>
            </a:r>
            <a:r>
              <a:rPr sz="1800" b="0">
                <a:solidFill>
                  <a:srgbClr val="A5ADBA"/>
                </a:solidFill>
                <a:latin typeface="Segoe UI"/>
              </a:rPr>
              <a:t> Збиття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дронів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підльоті</a:t>
            </a:r>
            <a:r>
              <a:rPr sz="1800" b="0">
                <a:solidFill>
                  <a:srgbClr val="A5ADBA"/>
                </a:solidFill>
                <a:latin typeface="Segoe UI"/>
              </a:rPr>
              <a:t> картеччю</a:t>
            </a:r>
            <a:r>
              <a:rPr sz="1800" b="0">
                <a:solidFill>
                  <a:srgbClr val="A5ADBA"/>
                </a:solidFill>
                <a:latin typeface="Segoe UI"/>
              </a:rPr>
              <a:t> з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помпових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рушниць.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5072" y="5415915"/>
            <a:ext cx="7589520" cy="5440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Вогонь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по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вертольотах:</a:t>
            </a:r>
            <a:r>
              <a:rPr sz="1800" b="0">
                <a:solidFill>
                  <a:srgbClr val="A5ADBA"/>
                </a:solidFill>
                <a:latin typeface="Segoe UI"/>
              </a:rPr>
              <a:t> Зосереджений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вогонь</a:t>
            </a:r>
            <a:r>
              <a:rPr sz="1800" b="0">
                <a:solidFill>
                  <a:srgbClr val="A5ADBA"/>
                </a:solidFill>
                <a:latin typeface="Segoe UI"/>
              </a:rPr>
              <a:t> стрілецької</a:t>
            </a:r>
            <a:r>
              <a:rPr sz="1800" b="0">
                <a:solidFill>
                  <a:srgbClr val="A5ADBA"/>
                </a:solidFill>
                <a:latin typeface="Segoe UI"/>
              </a:rPr>
              <a:t> зброї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по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низьких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вертольотах</a:t>
            </a:r>
            <a:r>
              <a:rPr sz="1800" b="0">
                <a:solidFill>
                  <a:srgbClr val="A5ADBA"/>
                </a:solidFill>
                <a:latin typeface="Segoe UI"/>
              </a:rPr>
              <a:t> —</a:t>
            </a:r>
            <a:r>
              <a:rPr sz="1800" b="0">
                <a:solidFill>
                  <a:srgbClr val="A5ADBA"/>
                </a:solidFill>
                <a:latin typeface="Segoe UI"/>
              </a:rPr>
              <a:t> тільки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за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наказом</a:t>
            </a:r>
            <a:r>
              <a:rPr sz="1800" b="0">
                <a:solidFill>
                  <a:srgbClr val="A5ADBA"/>
                </a:solidFill>
                <a:latin typeface="Segoe UI"/>
              </a:rPr>
              <a:t> командира.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391656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7132320" cy="1851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5ADBA"/>
                </a:solidFill>
                <a:latin typeface="Segoe UI"/>
              </a:rPr>
              <a:t>РТН</a:t>
            </a:r>
            <a:r>
              <a:rPr sz="900" b="0">
                <a:solidFill>
                  <a:srgbClr val="A5ADBA"/>
                </a:solidFill>
                <a:latin typeface="Segoe UI"/>
              </a:rPr>
              <a:t> /</a:t>
            </a:r>
            <a:r>
              <a:rPr sz="900" b="0">
                <a:solidFill>
                  <a:srgbClr val="A5ADBA"/>
                </a:solidFill>
                <a:latin typeface="Segoe UI"/>
              </a:rPr>
              <a:t> МАТЕРІАЛИ</a:t>
            </a:r>
            <a:r>
              <a:rPr sz="900" b="0">
                <a:solidFill>
                  <a:srgbClr val="A5ADBA"/>
                </a:solidFill>
                <a:latin typeface="Segoe UI"/>
              </a:rPr>
              <a:t> БРИФІНГУ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6464808"/>
            <a:ext cx="1444752" cy="2001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9AD78"/>
                </a:solidFill>
                <a:latin typeface="Segoe UI"/>
              </a:rPr>
              <a:t>08</a:t>
            </a:r>
            <a:r>
              <a:rPr sz="1000" b="0">
                <a:solidFill>
                  <a:srgbClr val="C9AD78"/>
                </a:solidFill>
                <a:latin typeface="Segoe UI"/>
              </a:rPr>
              <a:t> /</a:t>
            </a:r>
            <a:r>
              <a:rPr sz="1000" b="0">
                <a:solidFill>
                  <a:srgbClr val="C9AD78"/>
                </a:solidFill>
                <a:latin typeface="Segoe UI"/>
              </a:rPr>
              <a:t>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93192"/>
            <a:ext cx="11003279" cy="2076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AD78"/>
                </a:solidFill>
                <a:latin typeface="Segoe UI Semibold"/>
              </a:rPr>
              <a:t>БОЙОВИЙ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ПОРЯДОК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РТГР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79" cy="469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1EB"/>
                </a:solidFill>
                <a:latin typeface="Segoe UI Semibold"/>
              </a:rPr>
              <a:t>Система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протидії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засобам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повітряного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нападу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противника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65504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84960"/>
            <a:ext cx="2926080" cy="5897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4248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C9AD78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2504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3.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ІНЖЕНЕРНИЙ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ЗАХИСТ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5072" y="1584960"/>
            <a:ext cx="7589520" cy="5440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Протидронові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сітки:</a:t>
            </a:r>
            <a:r>
              <a:rPr sz="1800" b="0">
                <a:solidFill>
                  <a:srgbClr val="A5ADBA"/>
                </a:solidFill>
                <a:latin typeface="Segoe UI"/>
              </a:rPr>
              <a:t> Монтуються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над</a:t>
            </a:r>
            <a:r>
              <a:rPr sz="1800" b="0">
                <a:solidFill>
                  <a:srgbClr val="A5ADBA"/>
                </a:solidFill>
                <a:latin typeface="Segoe UI"/>
              </a:rPr>
              <a:t> окопами,</a:t>
            </a:r>
            <a:r>
              <a:rPr sz="1800" b="0">
                <a:solidFill>
                  <a:srgbClr val="A5ADBA"/>
                </a:solidFill>
                <a:latin typeface="Segoe UI"/>
              </a:rPr>
              <a:t> ходами</a:t>
            </a:r>
            <a:r>
              <a:rPr sz="1800" b="0">
                <a:solidFill>
                  <a:srgbClr val="A5ADBA"/>
                </a:solidFill>
                <a:latin typeface="Segoe UI"/>
              </a:rPr>
              <a:t> сполучення,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входами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до</a:t>
            </a:r>
            <a:r>
              <a:rPr sz="1800" b="0">
                <a:solidFill>
                  <a:srgbClr val="A5ADBA"/>
                </a:solidFill>
                <a:latin typeface="Segoe UI"/>
              </a:rPr>
              <a:t> бліндажів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маршрутами.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5072" y="2202180"/>
            <a:ext cx="7589520" cy="5440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Колючий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(спіральний)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дріт:</a:t>
            </a:r>
            <a:r>
              <a:rPr sz="1800" b="0">
                <a:solidFill>
                  <a:srgbClr val="A5ADBA"/>
                </a:solidFill>
                <a:latin typeface="Segoe UI"/>
              </a:rPr>
              <a:t> Обов'язковий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над</a:t>
            </a:r>
            <a:r>
              <a:rPr sz="1800" b="0">
                <a:solidFill>
                  <a:srgbClr val="A5ADBA"/>
                </a:solidFill>
                <a:latin typeface="Segoe UI"/>
              </a:rPr>
              <a:t> траншеями</a:t>
            </a:r>
            <a:r>
              <a:rPr sz="1800" b="0">
                <a:solidFill>
                  <a:srgbClr val="A5ADBA"/>
                </a:solidFill>
                <a:latin typeface="Segoe UI"/>
              </a:rPr>
              <a:t> —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ефективно</a:t>
            </a:r>
            <a:r>
              <a:rPr sz="1800" b="0">
                <a:solidFill>
                  <a:srgbClr val="A5ADBA"/>
                </a:solidFill>
                <a:latin typeface="Segoe UI"/>
              </a:rPr>
              <a:t> зупиняє</a:t>
            </a:r>
            <a:r>
              <a:rPr sz="1800" b="0">
                <a:solidFill>
                  <a:srgbClr val="A5ADBA"/>
                </a:solidFill>
                <a:latin typeface="Segoe UI"/>
              </a:rPr>
              <a:t> FPV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оптоволокні.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5072" y="2819399"/>
            <a:ext cx="7589520" cy="5440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Екранування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техніки:</a:t>
            </a:r>
            <a:r>
              <a:rPr sz="1800" b="0">
                <a:solidFill>
                  <a:srgbClr val="A5ADBA"/>
                </a:solidFill>
                <a:latin typeface="Segoe UI"/>
              </a:rPr>
              <a:t> Встановлення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протидронових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екранів,</a:t>
            </a:r>
            <a:r>
              <a:rPr sz="1800" b="0">
                <a:solidFill>
                  <a:srgbClr val="A5ADBA"/>
                </a:solidFill>
                <a:latin typeface="Segoe UI"/>
              </a:rPr>
              <a:t> сіток</a:t>
            </a:r>
            <a:r>
              <a:rPr sz="1800" b="0">
                <a:solidFill>
                  <a:srgbClr val="A5ADBA"/>
                </a:solidFill>
                <a:latin typeface="Segoe UI"/>
              </a:rPr>
              <a:t> і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решіток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всю</a:t>
            </a:r>
            <a:r>
              <a:rPr sz="1800" b="0">
                <a:solidFill>
                  <a:srgbClr val="A5ADBA"/>
                </a:solidFill>
                <a:latin typeface="Segoe UI"/>
              </a:rPr>
              <a:t> бойову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колісну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техніку.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637788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857244"/>
            <a:ext cx="2926080" cy="5897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4248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C9AD78"/>
                </a:solidFill>
                <a:latin typeface="Segoe U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497324"/>
            <a:ext cx="2926080" cy="5897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4.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МАСКУВАННЯ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ТА</a:t>
            </a:r>
            <a:br/>
            <a:r>
              <a:rPr sz="1800" b="1">
                <a:solidFill>
                  <a:srgbClr val="F3F1EB"/>
                </a:solidFill>
                <a:latin typeface="Segoe UI Semibold"/>
              </a:rPr>
              <a:t>ЖИВУЧІСТЬ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5072" y="3857244"/>
            <a:ext cx="7589520" cy="5440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Антитепловізійний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захист:</a:t>
            </a:r>
            <a:r>
              <a:rPr sz="1800" b="0">
                <a:solidFill>
                  <a:srgbClr val="A5ADBA"/>
                </a:solidFill>
                <a:latin typeface="Segoe UI"/>
              </a:rPr>
              <a:t> Маскування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позицій,</a:t>
            </a:r>
            <a:r>
              <a:rPr sz="1800" b="0">
                <a:solidFill>
                  <a:srgbClr val="A5ADBA"/>
                </a:solidFill>
                <a:latin typeface="Segoe UI"/>
              </a:rPr>
              <a:t> бліндажів,</a:t>
            </a:r>
            <a:r>
              <a:rPr sz="1800" b="0">
                <a:solidFill>
                  <a:srgbClr val="A5ADBA"/>
                </a:solidFill>
                <a:latin typeface="Segoe UI"/>
              </a:rPr>
              <a:t> гарячої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техніки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антитепловізійними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пончо/накидками.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5072" y="4474464"/>
            <a:ext cx="7589520" cy="5440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Хибні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позиції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та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макети:</a:t>
            </a:r>
            <a:r>
              <a:rPr sz="1800" b="0">
                <a:solidFill>
                  <a:srgbClr val="A5ADBA"/>
                </a:solidFill>
                <a:latin typeface="Segoe UI"/>
              </a:rPr>
              <a:t> Обладнання</a:t>
            </a:r>
            <a:r>
              <a:rPr sz="1800" b="0">
                <a:solidFill>
                  <a:srgbClr val="A5ADBA"/>
                </a:solidFill>
                <a:latin typeface="Segoe UI"/>
              </a:rPr>
              <a:t> фейкових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опорних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пунктів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та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макетів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техніки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для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виснаження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БК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ворога.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5072" y="5091684"/>
            <a:ext cx="7589520" cy="5440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Перекриті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укриття:</a:t>
            </a:r>
            <a:r>
              <a:rPr sz="1800" b="0">
                <a:solidFill>
                  <a:srgbClr val="A5ADBA"/>
                </a:solidFill>
                <a:latin typeface="Segoe UI"/>
              </a:rPr>
              <a:t> Особовий</a:t>
            </a:r>
            <a:r>
              <a:rPr sz="1800" b="0">
                <a:solidFill>
                  <a:srgbClr val="A5ADBA"/>
                </a:solidFill>
                <a:latin typeface="Segoe UI"/>
              </a:rPr>
              <a:t> склад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розміщується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виключно</a:t>
            </a:r>
            <a:r>
              <a:rPr sz="1800" b="0">
                <a:solidFill>
                  <a:srgbClr val="A5ADBA"/>
                </a:solidFill>
                <a:latin typeface="Segoe UI"/>
              </a:rPr>
              <a:t> в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укриттях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з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надійним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накатом</a:t>
            </a:r>
            <a:r>
              <a:rPr sz="1800" b="0">
                <a:solidFill>
                  <a:srgbClr val="A5ADBA"/>
                </a:solidFill>
                <a:latin typeface="Segoe UI"/>
              </a:rPr>
              <a:t> і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перекриттям.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391656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7132320" cy="1851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5ADBA"/>
                </a:solidFill>
                <a:latin typeface="Segoe UI"/>
              </a:rPr>
              <a:t>РТН</a:t>
            </a:r>
            <a:r>
              <a:rPr sz="900" b="0">
                <a:solidFill>
                  <a:srgbClr val="A5ADBA"/>
                </a:solidFill>
                <a:latin typeface="Segoe UI"/>
              </a:rPr>
              <a:t> /</a:t>
            </a:r>
            <a:r>
              <a:rPr sz="900" b="0">
                <a:solidFill>
                  <a:srgbClr val="A5ADBA"/>
                </a:solidFill>
                <a:latin typeface="Segoe UI"/>
              </a:rPr>
              <a:t> МАТЕРІАЛИ</a:t>
            </a:r>
            <a:r>
              <a:rPr sz="900" b="0">
                <a:solidFill>
                  <a:srgbClr val="A5ADBA"/>
                </a:solidFill>
                <a:latin typeface="Segoe UI"/>
              </a:rPr>
              <a:t> БРИФІНГУ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6464808"/>
            <a:ext cx="1444752" cy="2001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9AD78"/>
                </a:solidFill>
                <a:latin typeface="Segoe UI"/>
              </a:rPr>
              <a:t>09</a:t>
            </a:r>
            <a:r>
              <a:rPr sz="1000" b="0">
                <a:solidFill>
                  <a:srgbClr val="C9AD78"/>
                </a:solidFill>
                <a:latin typeface="Segoe UI"/>
              </a:rPr>
              <a:t> /</a:t>
            </a:r>
            <a:r>
              <a:rPr sz="1000" b="0">
                <a:solidFill>
                  <a:srgbClr val="C9AD78"/>
                </a:solidFill>
                <a:latin typeface="Segoe UI"/>
              </a:rPr>
              <a:t>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93192"/>
            <a:ext cx="11003279" cy="2076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AD78"/>
                </a:solidFill>
                <a:latin typeface="Segoe UI Semibold"/>
              </a:rPr>
              <a:t>ТАКТИЧНИЙ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ЕПІЗОД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2.1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79" cy="469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1EB"/>
                </a:solidFill>
                <a:latin typeface="Segoe UI Semibold"/>
              </a:rPr>
              <a:t>Засадні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дії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підрозділів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у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лісовому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масиві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74064"/>
            <a:ext cx="11003279" cy="2602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A5ADBA"/>
                </a:solidFill>
                <a:latin typeface="Segoe UI"/>
              </a:rPr>
              <a:t>Обладнання</a:t>
            </a:r>
            <a:r>
              <a:rPr sz="1450" b="0">
                <a:solidFill>
                  <a:srgbClr val="A5ADBA"/>
                </a:solidFill>
                <a:latin typeface="Segoe UI"/>
              </a:rPr>
              <a:t> укриттів</a:t>
            </a:r>
            <a:r>
              <a:rPr sz="1450" b="0">
                <a:solidFill>
                  <a:srgbClr val="A5ADBA"/>
                </a:solidFill>
                <a:latin typeface="Segoe UI"/>
              </a:rPr>
              <a:t> типу</a:t>
            </a:r>
            <a:r>
              <a:rPr sz="1450" b="0">
                <a:solidFill>
                  <a:srgbClr val="A5ADBA"/>
                </a:solidFill>
                <a:latin typeface="Segoe UI"/>
              </a:rPr>
              <a:t> «лисяча</a:t>
            </a:r>
            <a:r>
              <a:rPr sz="1450" b="0">
                <a:solidFill>
                  <a:srgbClr val="A5ADBA"/>
                </a:solidFill>
                <a:latin typeface="Segoe UI"/>
              </a:rPr>
              <a:t> нора»</a:t>
            </a:r>
            <a:r>
              <a:rPr sz="1450" b="0">
                <a:solidFill>
                  <a:srgbClr val="A5ADBA"/>
                </a:solidFill>
                <a:latin typeface="Segoe UI"/>
              </a:rPr>
              <a:t> під</a:t>
            </a:r>
            <a:r>
              <a:rPr sz="1450" b="0">
                <a:solidFill>
                  <a:srgbClr val="A5ADBA"/>
                </a:solidFill>
                <a:latin typeface="Segoe UI"/>
              </a:rPr>
              <a:t> деревами,</a:t>
            </a:r>
            <a:r>
              <a:rPr sz="1450" b="0">
                <a:solidFill>
                  <a:srgbClr val="A5ADBA"/>
                </a:solidFill>
                <a:latin typeface="Segoe UI"/>
              </a:rPr>
              <a:t> скритність</a:t>
            </a:r>
            <a:r>
              <a:rPr sz="1450" b="0">
                <a:solidFill>
                  <a:srgbClr val="A5ADBA"/>
                </a:solidFill>
                <a:latin typeface="Segoe UI"/>
              </a:rPr>
              <a:t> засади</a:t>
            </a:r>
            <a:r>
              <a:rPr sz="1450" b="0">
                <a:solidFill>
                  <a:srgbClr val="A5ADBA"/>
                </a:solidFill>
                <a:latin typeface="Segoe UI"/>
              </a:rPr>
              <a:t> та</a:t>
            </a:r>
            <a:r>
              <a:rPr sz="1450" b="0">
                <a:solidFill>
                  <a:srgbClr val="A5ADBA"/>
                </a:solidFill>
                <a:latin typeface="Segoe UI"/>
              </a:rPr>
              <a:t> безпечний</a:t>
            </a:r>
            <a:r>
              <a:rPr sz="1450" b="0">
                <a:solidFill>
                  <a:srgbClr val="A5ADBA"/>
                </a:solidFill>
                <a:latin typeface="Segoe UI"/>
              </a:rPr>
              <a:t> відхід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89735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90903"/>
            <a:ext cx="1965960" cy="102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670"/>
              </a:lnSpc>
              <a:spcBef>
                <a:spcPts val="0"/>
              </a:spcBef>
              <a:spcAft>
                <a:spcPts val="0"/>
              </a:spcAft>
            </a:pPr>
            <a:r>
              <a:rPr sz="6500" b="0">
                <a:solidFill>
                  <a:srgbClr val="C9AD78"/>
                </a:solidFill>
                <a:latin typeface="Segoe UI"/>
              </a:rPr>
              <a:t>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60751"/>
            <a:ext cx="2057400" cy="469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9AD78"/>
                </a:solidFill>
                <a:latin typeface="Segoe UI Semibold"/>
              </a:rPr>
              <a:t>ДІЇ</a:t>
            </a:r>
            <a:r>
              <a:rPr sz="1400" b="1">
                <a:solidFill>
                  <a:srgbClr val="C9AD78"/>
                </a:solidFill>
                <a:latin typeface="Segoe UI Semibold"/>
              </a:rPr>
              <a:t> ПОВІТРЯНОГО</a:t>
            </a:r>
            <a:br/>
            <a:r>
              <a:rPr sz="1400" b="1">
                <a:solidFill>
                  <a:srgbClr val="C9AD78"/>
                </a:solidFill>
                <a:latin typeface="Segoe UI Semibold"/>
              </a:rPr>
              <a:t>ПРОТИВНИКА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909191"/>
            <a:ext cx="8714232" cy="804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До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підходу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противника:</a:t>
            </a:r>
            <a:r>
              <a:rPr sz="1800" b="0">
                <a:solidFill>
                  <a:srgbClr val="A5ADBA"/>
                </a:solidFill>
                <a:latin typeface="Segoe UI"/>
              </a:rPr>
              <a:t> Цілодобова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розвідка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районів</a:t>
            </a:r>
            <a:r>
              <a:rPr sz="1800" b="0">
                <a:solidFill>
                  <a:srgbClr val="A5ADBA"/>
                </a:solidFill>
                <a:latin typeface="Segoe UI"/>
              </a:rPr>
              <a:t> засад.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Вдень/вночі</a:t>
            </a:r>
            <a:r>
              <a:rPr sz="1800" b="0">
                <a:solidFill>
                  <a:srgbClr val="A5ADBA"/>
                </a:solidFill>
                <a:latin typeface="Segoe UI"/>
              </a:rPr>
              <a:t> 3–4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коптери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з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тепловізорами</a:t>
            </a:r>
            <a:r>
              <a:rPr sz="1800" b="0">
                <a:solidFill>
                  <a:srgbClr val="A5ADBA"/>
                </a:solidFill>
                <a:latin typeface="Segoe UI"/>
              </a:rPr>
              <a:t> шукають</a:t>
            </a:r>
            <a:r>
              <a:rPr sz="1800" b="0">
                <a:solidFill>
                  <a:srgbClr val="A5ADBA"/>
                </a:solidFill>
                <a:latin typeface="Segoe UI"/>
              </a:rPr>
              <a:t> входи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в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нори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демаскуючі</a:t>
            </a:r>
            <a:r>
              <a:rPr sz="1800" b="0">
                <a:solidFill>
                  <a:srgbClr val="A5ADBA"/>
                </a:solidFill>
                <a:latin typeface="Segoe UI"/>
              </a:rPr>
              <a:t> ознаки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інженерних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робіт;</a:t>
            </a:r>
            <a:r>
              <a:rPr sz="1800" b="0">
                <a:solidFill>
                  <a:srgbClr val="A5ADBA"/>
                </a:solidFill>
                <a:latin typeface="Segoe UI"/>
              </a:rPr>
              <a:t> 1–2</a:t>
            </a:r>
            <a:r>
              <a:rPr sz="1800" b="0">
                <a:solidFill>
                  <a:srgbClr val="A5ADBA"/>
                </a:solidFill>
                <a:latin typeface="Segoe UI"/>
              </a:rPr>
              <a:t> літаки</a:t>
            </a:r>
            <a:r>
              <a:rPr sz="1800" b="0">
                <a:solidFill>
                  <a:srgbClr val="A5ADBA"/>
                </a:solidFill>
                <a:latin typeface="Segoe UI"/>
              </a:rPr>
              <a:t> —</a:t>
            </a:r>
            <a:r>
              <a:rPr sz="1800" b="0">
                <a:solidFill>
                  <a:srgbClr val="A5ADBA"/>
                </a:solidFill>
                <a:latin typeface="Segoe UI"/>
              </a:rPr>
              <a:t> глибинна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розвідка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артилерія.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805303"/>
            <a:ext cx="8714232" cy="5532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Під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час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висування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ворога: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Розвідувальні</a:t>
            </a:r>
            <a:r>
              <a:rPr sz="1800" b="0">
                <a:solidFill>
                  <a:srgbClr val="A5ADBA"/>
                </a:solidFill>
                <a:latin typeface="Segoe UI"/>
              </a:rPr>
              <a:t> коптери</a:t>
            </a:r>
            <a:r>
              <a:rPr sz="1800" b="0">
                <a:solidFill>
                  <a:srgbClr val="A5ADBA"/>
                </a:solidFill>
                <a:latin typeface="Segoe UI"/>
              </a:rPr>
              <a:t> супроводжують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передові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групи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противника,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ведучи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розвідку</a:t>
            </a:r>
            <a:r>
              <a:rPr sz="1800" b="0">
                <a:solidFill>
                  <a:srgbClr val="A5ADBA"/>
                </a:solidFill>
                <a:latin typeface="Segoe UI"/>
              </a:rPr>
              <a:t> маршруту</a:t>
            </a:r>
            <a:r>
              <a:rPr sz="1800" b="0">
                <a:solidFill>
                  <a:srgbClr val="A5ADBA"/>
                </a:solidFill>
                <a:latin typeface="Segoe UI"/>
              </a:rPr>
              <a:t> безпосередньо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перед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ними.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3449955"/>
            <a:ext cx="8714232" cy="5532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Після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відкриття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вогню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із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засади:</a:t>
            </a:r>
            <a:r>
              <a:rPr sz="1800" b="0">
                <a:solidFill>
                  <a:srgbClr val="A5ADBA"/>
                </a:solidFill>
                <a:latin typeface="Segoe UI"/>
              </a:rPr>
              <a:t> Масовані</a:t>
            </a:r>
            <a:r>
              <a:rPr sz="1800" b="0">
                <a:solidFill>
                  <a:srgbClr val="A5ADBA"/>
                </a:solidFill>
                <a:latin typeface="Segoe UI"/>
              </a:rPr>
              <a:t> удари</a:t>
            </a:r>
            <a:r>
              <a:rPr sz="1800" b="0">
                <a:solidFill>
                  <a:srgbClr val="A5ADBA"/>
                </a:solidFill>
                <a:latin typeface="Segoe UI"/>
              </a:rPr>
              <a:t> FPV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по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розкритих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позиціях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(10–15</a:t>
            </a:r>
            <a:r>
              <a:rPr sz="1800" b="0">
                <a:solidFill>
                  <a:srgbClr val="A5ADBA"/>
                </a:solidFill>
                <a:latin typeface="Segoe UI"/>
              </a:rPr>
              <a:t> одночасно,</a:t>
            </a:r>
            <a:r>
              <a:rPr sz="1800" b="0">
                <a:solidFill>
                  <a:srgbClr val="A5ADBA"/>
                </a:solidFill>
                <a:latin typeface="Segoe UI"/>
              </a:rPr>
              <a:t> загалом</a:t>
            </a:r>
            <a:r>
              <a:rPr sz="1800" b="0">
                <a:solidFill>
                  <a:srgbClr val="A5ADBA"/>
                </a:solidFill>
                <a:latin typeface="Segoe UI"/>
              </a:rPr>
              <a:t> до</a:t>
            </a:r>
            <a:r>
              <a:rPr sz="1800" b="0">
                <a:solidFill>
                  <a:srgbClr val="A5ADBA"/>
                </a:solidFill>
                <a:latin typeface="Segoe UI"/>
              </a:rPr>
              <a:t> 25–30/добу),</a:t>
            </a:r>
            <a:r>
              <a:rPr sz="1800" b="0">
                <a:solidFill>
                  <a:srgbClr val="A5ADBA"/>
                </a:solidFill>
                <a:latin typeface="Segoe UI"/>
              </a:rPr>
              <a:t> скиди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боєприпасів.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4094607"/>
            <a:ext cx="8714232" cy="5532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Ураження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засобів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і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техніки:</a:t>
            </a:r>
            <a:r>
              <a:rPr sz="1800" b="0">
                <a:solidFill>
                  <a:srgbClr val="A5ADBA"/>
                </a:solidFill>
                <a:latin typeface="Segoe UI"/>
              </a:rPr>
              <a:t> ББ</a:t>
            </a:r>
            <a:r>
              <a:rPr sz="1800" b="0">
                <a:solidFill>
                  <a:srgbClr val="A5ADBA"/>
                </a:solidFill>
                <a:latin typeface="Segoe UI"/>
              </a:rPr>
              <a:t> «Ланцет»/«Скальпель»</a:t>
            </a:r>
            <a:r>
              <a:rPr sz="1800" b="0">
                <a:solidFill>
                  <a:srgbClr val="A5ADBA"/>
                </a:solidFill>
                <a:latin typeface="Segoe UI"/>
              </a:rPr>
              <a:t> (до</a:t>
            </a:r>
            <a:r>
              <a:rPr sz="1800" b="0">
                <a:solidFill>
                  <a:srgbClr val="A5ADBA"/>
                </a:solidFill>
                <a:latin typeface="Segoe UI"/>
              </a:rPr>
              <a:t> 2–3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добу),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активне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переслідування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наших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груп,</a:t>
            </a:r>
            <a:r>
              <a:rPr sz="1800" b="0">
                <a:solidFill>
                  <a:srgbClr val="A5ADBA"/>
                </a:solidFill>
                <a:latin typeface="Segoe UI"/>
              </a:rPr>
              <a:t> що</a:t>
            </a:r>
            <a:r>
              <a:rPr sz="1800" b="0">
                <a:solidFill>
                  <a:srgbClr val="A5ADBA"/>
                </a:solidFill>
                <a:latin typeface="Segoe UI"/>
              </a:rPr>
              <a:t> відходять.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4739259"/>
            <a:ext cx="8714232" cy="5532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Авіація:</a:t>
            </a:r>
            <a:r>
              <a:rPr sz="1800" b="0">
                <a:solidFill>
                  <a:srgbClr val="A5ADBA"/>
                </a:solidFill>
                <a:latin typeface="Segoe UI"/>
              </a:rPr>
              <a:t> Застосування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тактичної</a:t>
            </a:r>
            <a:r>
              <a:rPr sz="1800" b="0">
                <a:solidFill>
                  <a:srgbClr val="A5ADBA"/>
                </a:solidFill>
                <a:latin typeface="Segoe UI"/>
              </a:rPr>
              <a:t> авіації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по</a:t>
            </a:r>
            <a:r>
              <a:rPr sz="1800" b="0">
                <a:solidFill>
                  <a:srgbClr val="A5ADBA"/>
                </a:solidFill>
                <a:latin typeface="Segoe UI"/>
              </a:rPr>
              <a:t> малих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засадних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групах</a:t>
            </a:r>
            <a:r>
              <a:rPr sz="1800" b="0">
                <a:solidFill>
                  <a:srgbClr val="A5ADBA"/>
                </a:solidFill>
                <a:latin typeface="Segoe UI"/>
              </a:rPr>
              <a:t> у</a:t>
            </a:r>
            <a:r>
              <a:rPr sz="1800" b="0">
                <a:solidFill>
                  <a:srgbClr val="A5ADBA"/>
                </a:solidFill>
                <a:latin typeface="Segoe UI"/>
              </a:rPr>
              <a:t> лісі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малоймовірне.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391656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7132320" cy="1851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5ADBA"/>
                </a:solidFill>
                <a:latin typeface="Segoe UI"/>
              </a:rPr>
              <a:t>РТН</a:t>
            </a:r>
            <a:r>
              <a:rPr sz="900" b="0">
                <a:solidFill>
                  <a:srgbClr val="A5ADBA"/>
                </a:solidFill>
                <a:latin typeface="Segoe UI"/>
              </a:rPr>
              <a:t> /</a:t>
            </a:r>
            <a:r>
              <a:rPr sz="900" b="0">
                <a:solidFill>
                  <a:srgbClr val="A5ADBA"/>
                </a:solidFill>
                <a:latin typeface="Segoe UI"/>
              </a:rPr>
              <a:t> МАТЕРІАЛИ</a:t>
            </a:r>
            <a:r>
              <a:rPr sz="900" b="0">
                <a:solidFill>
                  <a:srgbClr val="A5ADBA"/>
                </a:solidFill>
                <a:latin typeface="Segoe UI"/>
              </a:rPr>
              <a:t> БРИФІНГУ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6464808"/>
            <a:ext cx="1444752" cy="2001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9AD78"/>
                </a:solidFill>
                <a:latin typeface="Segoe UI"/>
              </a:rPr>
              <a:t>10</a:t>
            </a:r>
            <a:r>
              <a:rPr sz="1000" b="0">
                <a:solidFill>
                  <a:srgbClr val="C9AD78"/>
                </a:solidFill>
                <a:latin typeface="Segoe UI"/>
              </a:rPr>
              <a:t> /</a:t>
            </a:r>
            <a:r>
              <a:rPr sz="1000" b="0">
                <a:solidFill>
                  <a:srgbClr val="C9AD78"/>
                </a:solidFill>
                <a:latin typeface="Segoe UI"/>
              </a:rPr>
              <a:t>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93192"/>
            <a:ext cx="11003279" cy="2076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AD78"/>
                </a:solidFill>
                <a:latin typeface="Segoe UI Semibold"/>
              </a:rPr>
              <a:t>ТАКТИЧНИЙ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ЕПІЗОД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2.1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79" cy="469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1EB"/>
                </a:solidFill>
                <a:latin typeface="Segoe UI Semibold"/>
              </a:rPr>
              <a:t>Засадні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дії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підрозділів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у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лісовому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масиві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74064"/>
            <a:ext cx="11003279" cy="2602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A5ADBA"/>
                </a:solidFill>
                <a:latin typeface="Segoe UI"/>
              </a:rPr>
              <a:t>Обладнання</a:t>
            </a:r>
            <a:r>
              <a:rPr sz="1450" b="0">
                <a:solidFill>
                  <a:srgbClr val="A5ADBA"/>
                </a:solidFill>
                <a:latin typeface="Segoe UI"/>
              </a:rPr>
              <a:t> укриттів</a:t>
            </a:r>
            <a:r>
              <a:rPr sz="1450" b="0">
                <a:solidFill>
                  <a:srgbClr val="A5ADBA"/>
                </a:solidFill>
                <a:latin typeface="Segoe UI"/>
              </a:rPr>
              <a:t> типу</a:t>
            </a:r>
            <a:r>
              <a:rPr sz="1450" b="0">
                <a:solidFill>
                  <a:srgbClr val="A5ADBA"/>
                </a:solidFill>
                <a:latin typeface="Segoe UI"/>
              </a:rPr>
              <a:t> «лисяча</a:t>
            </a:r>
            <a:r>
              <a:rPr sz="1450" b="0">
                <a:solidFill>
                  <a:srgbClr val="A5ADBA"/>
                </a:solidFill>
                <a:latin typeface="Segoe UI"/>
              </a:rPr>
              <a:t> нора»</a:t>
            </a:r>
            <a:r>
              <a:rPr sz="1450" b="0">
                <a:solidFill>
                  <a:srgbClr val="A5ADBA"/>
                </a:solidFill>
                <a:latin typeface="Segoe UI"/>
              </a:rPr>
              <a:t> під</a:t>
            </a:r>
            <a:r>
              <a:rPr sz="1450" b="0">
                <a:solidFill>
                  <a:srgbClr val="A5ADBA"/>
                </a:solidFill>
                <a:latin typeface="Segoe UI"/>
              </a:rPr>
              <a:t> деревами,</a:t>
            </a:r>
            <a:r>
              <a:rPr sz="1450" b="0">
                <a:solidFill>
                  <a:srgbClr val="A5ADBA"/>
                </a:solidFill>
                <a:latin typeface="Segoe UI"/>
              </a:rPr>
              <a:t> скритність</a:t>
            </a:r>
            <a:r>
              <a:rPr sz="1450" b="0">
                <a:solidFill>
                  <a:srgbClr val="A5ADBA"/>
                </a:solidFill>
                <a:latin typeface="Segoe UI"/>
              </a:rPr>
              <a:t> засади</a:t>
            </a:r>
            <a:r>
              <a:rPr sz="1450" b="0">
                <a:solidFill>
                  <a:srgbClr val="A5ADBA"/>
                </a:solidFill>
                <a:latin typeface="Segoe UI"/>
              </a:rPr>
              <a:t> та</a:t>
            </a:r>
            <a:r>
              <a:rPr sz="1450" b="0">
                <a:solidFill>
                  <a:srgbClr val="A5ADBA"/>
                </a:solidFill>
                <a:latin typeface="Segoe UI"/>
              </a:rPr>
              <a:t> безпечний</a:t>
            </a:r>
            <a:r>
              <a:rPr sz="1450" b="0">
                <a:solidFill>
                  <a:srgbClr val="A5ADBA"/>
                </a:solidFill>
                <a:latin typeface="Segoe UI"/>
              </a:rPr>
              <a:t> відхід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89735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90903"/>
            <a:ext cx="1965960" cy="102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670"/>
              </a:lnSpc>
              <a:spcBef>
                <a:spcPts val="0"/>
              </a:spcBef>
              <a:spcAft>
                <a:spcPts val="0"/>
              </a:spcAft>
            </a:pPr>
            <a:r>
              <a:rPr sz="6500" b="0">
                <a:solidFill>
                  <a:srgbClr val="C9AD78"/>
                </a:solidFill>
                <a:latin typeface="Segoe UI"/>
              </a:rPr>
              <a:t>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60751"/>
            <a:ext cx="2057400" cy="469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9AD78"/>
                </a:solidFill>
                <a:latin typeface="Segoe UI Semibold"/>
              </a:rPr>
              <a:t>ПРОТИДІЯ</a:t>
            </a:r>
            <a:r>
              <a:rPr sz="1400" b="1">
                <a:solidFill>
                  <a:srgbClr val="C9AD78"/>
                </a:solidFill>
                <a:latin typeface="Segoe UI Semibold"/>
              </a:rPr>
              <a:t> ТА</a:t>
            </a:r>
            <a:r>
              <a:rPr sz="1400" b="1">
                <a:solidFill>
                  <a:srgbClr val="C9AD78"/>
                </a:solidFill>
                <a:latin typeface="Segoe UI Semibold"/>
              </a:rPr>
              <a:t> ДІЇ</a:t>
            </a:r>
            <a:br/>
            <a:r>
              <a:rPr sz="1400" b="1">
                <a:solidFill>
                  <a:srgbClr val="C9AD78"/>
                </a:solidFill>
                <a:latin typeface="Segoe UI Semibold"/>
              </a:rPr>
              <a:t>СВОЇХ</a:t>
            </a:r>
            <a:r>
              <a:rPr sz="1400" b="1">
                <a:solidFill>
                  <a:srgbClr val="C9AD78"/>
                </a:solidFill>
                <a:latin typeface="Segoe UI Semibold"/>
              </a:rPr>
              <a:t> ВІЙСЬК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909191"/>
            <a:ext cx="8714232" cy="804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Акустичне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виявлення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—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пріоритет:</a:t>
            </a:r>
            <a:r>
              <a:rPr sz="1800" b="0">
                <a:solidFill>
                  <a:srgbClr val="A5ADBA"/>
                </a:solidFill>
                <a:latin typeface="Segoe UI"/>
              </a:rPr>
              <a:t> У</a:t>
            </a:r>
            <a:r>
              <a:rPr sz="1800" b="0">
                <a:solidFill>
                  <a:srgbClr val="A5ADBA"/>
                </a:solidFill>
                <a:latin typeface="Segoe UI"/>
              </a:rPr>
              <a:t> лісовому</a:t>
            </a:r>
            <a:r>
              <a:rPr sz="1800" b="0">
                <a:solidFill>
                  <a:srgbClr val="A5ADBA"/>
                </a:solidFill>
                <a:latin typeface="Segoe UI"/>
              </a:rPr>
              <a:t> масиві</a:t>
            </a:r>
            <a:r>
              <a:rPr sz="1800" b="0">
                <a:solidFill>
                  <a:srgbClr val="A5ADBA"/>
                </a:solidFill>
                <a:latin typeface="Segoe UI"/>
              </a:rPr>
              <a:t> БпЛА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виявляються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слух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значно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раніше,</a:t>
            </a:r>
            <a:r>
              <a:rPr sz="1800" b="0">
                <a:solidFill>
                  <a:srgbClr val="A5ADBA"/>
                </a:solidFill>
                <a:latin typeface="Segoe UI"/>
              </a:rPr>
              <a:t> ніж</a:t>
            </a:r>
            <a:r>
              <a:rPr sz="1800" b="0">
                <a:solidFill>
                  <a:srgbClr val="A5ADBA"/>
                </a:solidFill>
                <a:latin typeface="Segoe UI"/>
              </a:rPr>
              <a:t> візуально.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Пости</a:t>
            </a:r>
            <a:r>
              <a:rPr sz="1800" b="0">
                <a:solidFill>
                  <a:srgbClr val="A5ADBA"/>
                </a:solidFill>
                <a:latin typeface="Segoe UI"/>
              </a:rPr>
              <a:t> спостереження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орієнтуються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звук;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вночі</a:t>
            </a:r>
            <a:r>
              <a:rPr sz="1800" b="0">
                <a:solidFill>
                  <a:srgbClr val="A5ADBA"/>
                </a:solidFill>
                <a:latin typeface="Segoe UI"/>
              </a:rPr>
              <a:t> —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тепловізори.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805303"/>
            <a:ext cx="8714232" cy="5532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Скритність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до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бою:</a:t>
            </a:r>
            <a:r>
              <a:rPr sz="1800" b="0">
                <a:solidFill>
                  <a:srgbClr val="A5ADBA"/>
                </a:solidFill>
                <a:latin typeface="Segoe UI"/>
              </a:rPr>
              <a:t> Засади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входи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до</a:t>
            </a:r>
            <a:r>
              <a:rPr sz="1800" b="0">
                <a:solidFill>
                  <a:srgbClr val="A5ADBA"/>
                </a:solidFill>
                <a:latin typeface="Segoe UI"/>
              </a:rPr>
              <a:t> «лисячих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нор»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ретельно</a:t>
            </a:r>
            <a:r>
              <a:rPr sz="1800" b="0">
                <a:solidFill>
                  <a:srgbClr val="A5ADBA"/>
                </a:solidFill>
                <a:latin typeface="Segoe UI"/>
              </a:rPr>
              <a:t> маскувати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від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тепловізорів</a:t>
            </a:r>
            <a:r>
              <a:rPr sz="1800" b="0">
                <a:solidFill>
                  <a:srgbClr val="A5ADBA"/>
                </a:solidFill>
                <a:latin typeface="Segoe UI"/>
              </a:rPr>
              <a:t> (термонакидки,</a:t>
            </a:r>
            <a:r>
              <a:rPr sz="1800" b="0">
                <a:solidFill>
                  <a:srgbClr val="A5ADBA"/>
                </a:solidFill>
                <a:latin typeface="Segoe UI"/>
              </a:rPr>
              <a:t> природний</a:t>
            </a:r>
            <a:r>
              <a:rPr sz="1800" b="0">
                <a:solidFill>
                  <a:srgbClr val="A5ADBA"/>
                </a:solidFill>
                <a:latin typeface="Segoe UI"/>
              </a:rPr>
              <a:t> дерен).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3449955"/>
            <a:ext cx="8714232" cy="804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Сувора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заборона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вогню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по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дронах: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Вогонь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по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ворожих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БпЛА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над</a:t>
            </a:r>
            <a:r>
              <a:rPr sz="1800" b="0">
                <a:solidFill>
                  <a:srgbClr val="A5ADBA"/>
                </a:solidFill>
                <a:latin typeface="Segoe UI"/>
              </a:rPr>
              <a:t> засадою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відкривати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ВИКЛЮЧНО</a:t>
            </a:r>
            <a:r>
              <a:rPr sz="1800" b="0">
                <a:solidFill>
                  <a:srgbClr val="A5ADBA"/>
                </a:solidFill>
                <a:latin typeface="Segoe UI"/>
              </a:rPr>
              <a:t> за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командою</a:t>
            </a:r>
            <a:r>
              <a:rPr sz="1800" b="0">
                <a:solidFill>
                  <a:srgbClr val="A5ADBA"/>
                </a:solidFill>
                <a:latin typeface="Segoe UI"/>
              </a:rPr>
              <a:t> командира</a:t>
            </a:r>
            <a:r>
              <a:rPr sz="1800" b="0">
                <a:solidFill>
                  <a:srgbClr val="A5ADBA"/>
                </a:solidFill>
                <a:latin typeface="Segoe UI"/>
              </a:rPr>
              <a:t> —</a:t>
            </a:r>
            <a:r>
              <a:rPr sz="1800" b="0">
                <a:solidFill>
                  <a:srgbClr val="A5ADBA"/>
                </a:solidFill>
                <a:latin typeface="Segoe UI"/>
              </a:rPr>
              <a:t> щоб</a:t>
            </a:r>
            <a:r>
              <a:rPr sz="1800" b="0">
                <a:solidFill>
                  <a:srgbClr val="A5ADBA"/>
                </a:solidFill>
                <a:latin typeface="Segoe UI"/>
              </a:rPr>
              <a:t> завчасно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не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демаскувати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засідку!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391656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7132320" cy="1851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5ADBA"/>
                </a:solidFill>
                <a:latin typeface="Segoe UI"/>
              </a:rPr>
              <a:t>РТН</a:t>
            </a:r>
            <a:r>
              <a:rPr sz="900" b="0">
                <a:solidFill>
                  <a:srgbClr val="A5ADBA"/>
                </a:solidFill>
                <a:latin typeface="Segoe UI"/>
              </a:rPr>
              <a:t> /</a:t>
            </a:r>
            <a:r>
              <a:rPr sz="900" b="0">
                <a:solidFill>
                  <a:srgbClr val="A5ADBA"/>
                </a:solidFill>
                <a:latin typeface="Segoe UI"/>
              </a:rPr>
              <a:t> МАТЕРІАЛИ</a:t>
            </a:r>
            <a:r>
              <a:rPr sz="900" b="0">
                <a:solidFill>
                  <a:srgbClr val="A5ADBA"/>
                </a:solidFill>
                <a:latin typeface="Segoe UI"/>
              </a:rPr>
              <a:t> БРИФІНГУ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6464808"/>
            <a:ext cx="1444752" cy="2001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9AD78"/>
                </a:solidFill>
                <a:latin typeface="Segoe UI"/>
              </a:rPr>
              <a:t>11</a:t>
            </a:r>
            <a:r>
              <a:rPr sz="1000" b="0">
                <a:solidFill>
                  <a:srgbClr val="C9AD78"/>
                </a:solidFill>
                <a:latin typeface="Segoe UI"/>
              </a:rPr>
              <a:t> /</a:t>
            </a:r>
            <a:r>
              <a:rPr sz="1000" b="0">
                <a:solidFill>
                  <a:srgbClr val="C9AD78"/>
                </a:solidFill>
                <a:latin typeface="Segoe UI"/>
              </a:rPr>
              <a:t>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93192"/>
            <a:ext cx="11003279" cy="2076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AD78"/>
                </a:solidFill>
                <a:latin typeface="Segoe UI Semibold"/>
              </a:rPr>
              <a:t>ТАКТИЧНИЙ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ЕПІЗОД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2.1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79" cy="469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1EB"/>
                </a:solidFill>
                <a:latin typeface="Segoe UI Semibold"/>
              </a:rPr>
              <a:t>Засадні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дії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підрозділів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у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лісовому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масиві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65504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66672"/>
            <a:ext cx="1965960" cy="102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670"/>
              </a:lnSpc>
              <a:spcBef>
                <a:spcPts val="0"/>
              </a:spcBef>
              <a:spcAft>
                <a:spcPts val="0"/>
              </a:spcAft>
            </a:pPr>
            <a:r>
              <a:rPr sz="6500" b="0">
                <a:solidFill>
                  <a:srgbClr val="C9AD78"/>
                </a:solidFill>
                <a:latin typeface="Segoe UI"/>
              </a:rPr>
              <a:t>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36520"/>
            <a:ext cx="2057400" cy="469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9AD78"/>
                </a:solidFill>
                <a:latin typeface="Segoe UI Semibold"/>
              </a:rPr>
              <a:t>ПРОТИДІЯ</a:t>
            </a:r>
            <a:r>
              <a:rPr sz="1400" b="1">
                <a:solidFill>
                  <a:srgbClr val="C9AD78"/>
                </a:solidFill>
                <a:latin typeface="Segoe UI Semibold"/>
              </a:rPr>
              <a:t> ТА</a:t>
            </a:r>
            <a:r>
              <a:rPr sz="1400" b="1">
                <a:solidFill>
                  <a:srgbClr val="C9AD78"/>
                </a:solidFill>
                <a:latin typeface="Segoe UI Semibold"/>
              </a:rPr>
              <a:t> ДІЇ</a:t>
            </a:r>
            <a:br/>
            <a:r>
              <a:rPr sz="1400" b="1">
                <a:solidFill>
                  <a:srgbClr val="C9AD78"/>
                </a:solidFill>
                <a:latin typeface="Segoe UI Semibold"/>
              </a:rPr>
              <a:t>СВОЇХ</a:t>
            </a:r>
            <a:r>
              <a:rPr sz="1400" b="1">
                <a:solidFill>
                  <a:srgbClr val="C9AD78"/>
                </a:solidFill>
                <a:latin typeface="Segoe UI Semibold"/>
              </a:rPr>
              <a:t> ВІЙСЬК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584960"/>
            <a:ext cx="8714232" cy="5532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Чергові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стрільці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у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кожній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групі:</a:t>
            </a:r>
            <a:r>
              <a:rPr sz="1800" b="0">
                <a:solidFill>
                  <a:srgbClr val="A5ADBA"/>
                </a:solidFill>
                <a:latin typeface="Segoe UI"/>
              </a:rPr>
              <a:t> Після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відкриття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бою</a:t>
            </a:r>
            <a:r>
              <a:rPr sz="1800" b="0">
                <a:solidFill>
                  <a:srgbClr val="A5ADBA"/>
                </a:solidFill>
                <a:latin typeface="Segoe UI"/>
              </a:rPr>
              <a:t> знищення</a:t>
            </a:r>
            <a:r>
              <a:rPr sz="1800" b="0">
                <a:solidFill>
                  <a:srgbClr val="A5ADBA"/>
                </a:solidFill>
                <a:latin typeface="Segoe UI"/>
              </a:rPr>
              <a:t> FPV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та</a:t>
            </a:r>
            <a:r>
              <a:rPr sz="1800" b="0">
                <a:solidFill>
                  <a:srgbClr val="A5ADBA"/>
                </a:solidFill>
                <a:latin typeface="Segoe UI"/>
              </a:rPr>
              <a:t> скидів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покладається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</a:t>
            </a:r>
            <a:r>
              <a:rPr sz="1800" b="0">
                <a:solidFill>
                  <a:srgbClr val="A5ADBA"/>
                </a:solidFill>
                <a:latin typeface="Segoe UI"/>
              </a:rPr>
              <a:t> стрільців</a:t>
            </a:r>
            <a:r>
              <a:rPr sz="1800" b="0">
                <a:solidFill>
                  <a:srgbClr val="A5ADBA"/>
                </a:solidFill>
                <a:latin typeface="Segoe UI"/>
              </a:rPr>
              <a:t> з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помповими</a:t>
            </a:r>
            <a:r>
              <a:rPr sz="1800" b="0">
                <a:solidFill>
                  <a:srgbClr val="A5ADBA"/>
                </a:solidFill>
                <a:latin typeface="Segoe UI"/>
              </a:rPr>
              <a:t> рушницями</a:t>
            </a:r>
            <a:r>
              <a:rPr sz="1800" b="0">
                <a:solidFill>
                  <a:srgbClr val="A5ADBA"/>
                </a:solidFill>
                <a:latin typeface="Segoe UI"/>
              </a:rPr>
              <a:t> (картеч).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229612"/>
            <a:ext cx="8714232" cy="5532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Прикриття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відходу:</a:t>
            </a:r>
            <a:r>
              <a:rPr sz="1800" b="0">
                <a:solidFill>
                  <a:srgbClr val="A5ADBA"/>
                </a:solidFill>
                <a:latin typeface="Segoe UI"/>
              </a:rPr>
              <a:t> Чергові</a:t>
            </a:r>
            <a:r>
              <a:rPr sz="1800" b="0">
                <a:solidFill>
                  <a:srgbClr val="A5ADBA"/>
                </a:solidFill>
                <a:latin typeface="Segoe UI"/>
              </a:rPr>
              <a:t> стрільці</a:t>
            </a:r>
            <a:r>
              <a:rPr sz="1800" b="0">
                <a:solidFill>
                  <a:srgbClr val="A5ADBA"/>
                </a:solidFill>
                <a:latin typeface="Segoe UI"/>
              </a:rPr>
              <a:t> рушницями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прикривають</a:t>
            </a:r>
            <a:r>
              <a:rPr sz="1800" b="0">
                <a:solidFill>
                  <a:srgbClr val="A5ADBA"/>
                </a:solidFill>
                <a:latin typeface="Segoe UI"/>
              </a:rPr>
              <a:t> відхід</a:t>
            </a:r>
            <a:r>
              <a:rPr sz="1800" b="0">
                <a:solidFill>
                  <a:srgbClr val="A5ADBA"/>
                </a:solidFill>
                <a:latin typeface="Segoe UI"/>
              </a:rPr>
              <a:t> груп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запасні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позиції</a:t>
            </a:r>
            <a:r>
              <a:rPr sz="1800" b="0">
                <a:solidFill>
                  <a:srgbClr val="A5ADBA"/>
                </a:solidFill>
                <a:latin typeface="Segoe UI"/>
              </a:rPr>
              <a:t> від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переслідуючих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FPV.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874264"/>
            <a:ext cx="8714232" cy="5532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Інженерний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бар'єр: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Над</a:t>
            </a:r>
            <a:r>
              <a:rPr sz="1800" b="0">
                <a:solidFill>
                  <a:srgbClr val="A5ADBA"/>
                </a:solidFill>
                <a:latin typeface="Segoe UI"/>
              </a:rPr>
              <a:t> входами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до</a:t>
            </a:r>
            <a:r>
              <a:rPr sz="1800" b="0">
                <a:solidFill>
                  <a:srgbClr val="A5ADBA"/>
                </a:solidFill>
                <a:latin typeface="Segoe UI"/>
              </a:rPr>
              <a:t> укриттів</a:t>
            </a:r>
            <a:r>
              <a:rPr sz="1800" b="0">
                <a:solidFill>
                  <a:srgbClr val="A5ADBA"/>
                </a:solidFill>
                <a:latin typeface="Segoe UI"/>
              </a:rPr>
              <a:t> обов'язкові</a:t>
            </a:r>
            <a:r>
              <a:rPr sz="1800" b="0">
                <a:solidFill>
                  <a:srgbClr val="A5ADBA"/>
                </a:solidFill>
                <a:latin typeface="Segoe UI"/>
              </a:rPr>
              <a:t> протидронові</a:t>
            </a:r>
            <a:r>
              <a:rPr sz="1800" b="0">
                <a:solidFill>
                  <a:srgbClr val="A5ADBA"/>
                </a:solidFill>
                <a:latin typeface="Segoe UI"/>
              </a:rPr>
              <a:t> сітки;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бійці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перебувають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виключно</a:t>
            </a:r>
            <a:r>
              <a:rPr sz="1800" b="0">
                <a:solidFill>
                  <a:srgbClr val="A5ADBA"/>
                </a:solidFill>
                <a:latin typeface="Segoe UI"/>
              </a:rPr>
              <a:t> в</a:t>
            </a:r>
            <a:r>
              <a:rPr sz="1800" b="0">
                <a:solidFill>
                  <a:srgbClr val="A5ADBA"/>
                </a:solidFill>
                <a:latin typeface="Segoe UI"/>
              </a:rPr>
              <a:t> укриттях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з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накатним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перекриттям.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391656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7132320" cy="1851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5ADBA"/>
                </a:solidFill>
                <a:latin typeface="Segoe UI"/>
              </a:rPr>
              <a:t>РТН</a:t>
            </a:r>
            <a:r>
              <a:rPr sz="900" b="0">
                <a:solidFill>
                  <a:srgbClr val="A5ADBA"/>
                </a:solidFill>
                <a:latin typeface="Segoe UI"/>
              </a:rPr>
              <a:t> /</a:t>
            </a:r>
            <a:r>
              <a:rPr sz="900" b="0">
                <a:solidFill>
                  <a:srgbClr val="A5ADBA"/>
                </a:solidFill>
                <a:latin typeface="Segoe UI"/>
              </a:rPr>
              <a:t> МАТЕРІАЛИ</a:t>
            </a:r>
            <a:r>
              <a:rPr sz="900" b="0">
                <a:solidFill>
                  <a:srgbClr val="A5ADBA"/>
                </a:solidFill>
                <a:latin typeface="Segoe UI"/>
              </a:rPr>
              <a:t> БРИФІНГУ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6464808"/>
            <a:ext cx="1444752" cy="2001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9AD78"/>
                </a:solidFill>
                <a:latin typeface="Segoe UI"/>
              </a:rPr>
              <a:t>12</a:t>
            </a:r>
            <a:r>
              <a:rPr sz="1000" b="0">
                <a:solidFill>
                  <a:srgbClr val="C9AD78"/>
                </a:solidFill>
                <a:latin typeface="Segoe UI"/>
              </a:rPr>
              <a:t> /</a:t>
            </a:r>
            <a:r>
              <a:rPr sz="1000" b="0">
                <a:solidFill>
                  <a:srgbClr val="C9AD78"/>
                </a:solidFill>
                <a:latin typeface="Segoe UI"/>
              </a:rPr>
              <a:t>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93192"/>
            <a:ext cx="11003279" cy="2076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AD78"/>
                </a:solidFill>
                <a:latin typeface="Segoe UI Semibold"/>
              </a:rPr>
              <a:t>ТАКТИЧНИЙ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ЕПІЗОД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2.2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79" cy="469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1EB"/>
                </a:solidFill>
                <a:latin typeface="Segoe UI Semibold"/>
              </a:rPr>
              <a:t>Автономні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дії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РТГр: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Підготовка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до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активної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оборони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74064"/>
            <a:ext cx="11003279" cy="2602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A5ADBA"/>
                </a:solidFill>
                <a:latin typeface="Segoe UI"/>
              </a:rPr>
              <a:t>Фортифікаційне</a:t>
            </a:r>
            <a:r>
              <a:rPr sz="1450" b="0">
                <a:solidFill>
                  <a:srgbClr val="A5ADBA"/>
                </a:solidFill>
                <a:latin typeface="Segoe UI"/>
              </a:rPr>
              <a:t> обладнання</a:t>
            </a:r>
            <a:r>
              <a:rPr sz="1450" b="0">
                <a:solidFill>
                  <a:srgbClr val="A5ADBA"/>
                </a:solidFill>
                <a:latin typeface="Segoe UI"/>
              </a:rPr>
              <a:t> рубежів,</a:t>
            </a:r>
            <a:r>
              <a:rPr sz="1450" b="0">
                <a:solidFill>
                  <a:srgbClr val="A5ADBA"/>
                </a:solidFill>
                <a:latin typeface="Segoe UI"/>
              </a:rPr>
              <a:t> інженерні</a:t>
            </a:r>
            <a:r>
              <a:rPr sz="1450" b="0">
                <a:solidFill>
                  <a:srgbClr val="A5ADBA"/>
                </a:solidFill>
                <a:latin typeface="Segoe UI"/>
              </a:rPr>
              <a:t> роботи,</a:t>
            </a:r>
            <a:r>
              <a:rPr sz="1450" b="0">
                <a:solidFill>
                  <a:srgbClr val="A5ADBA"/>
                </a:solidFill>
                <a:latin typeface="Segoe UI"/>
              </a:rPr>
              <a:t> створення</a:t>
            </a:r>
            <a:r>
              <a:rPr sz="1450" b="0">
                <a:solidFill>
                  <a:srgbClr val="A5ADBA"/>
                </a:solidFill>
                <a:latin typeface="Segoe UI"/>
              </a:rPr>
              <a:t> логістики</a:t>
            </a:r>
            <a:r>
              <a:rPr sz="1450" b="0">
                <a:solidFill>
                  <a:srgbClr val="A5ADBA"/>
                </a:solidFill>
                <a:latin typeface="Segoe UI"/>
              </a:rPr>
              <a:t> та</a:t>
            </a:r>
            <a:r>
              <a:rPr sz="1450" b="0">
                <a:solidFill>
                  <a:srgbClr val="A5ADBA"/>
                </a:solidFill>
                <a:latin typeface="Segoe UI"/>
              </a:rPr>
              <a:t> прикриття</a:t>
            </a:r>
            <a:r>
              <a:rPr sz="1450" b="0">
                <a:solidFill>
                  <a:srgbClr val="A5ADBA"/>
                </a:solidFill>
                <a:latin typeface="Segoe UI"/>
              </a:rPr>
              <a:t> маневру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89735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90903"/>
            <a:ext cx="1965960" cy="102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670"/>
              </a:lnSpc>
              <a:spcBef>
                <a:spcPts val="0"/>
              </a:spcBef>
              <a:spcAft>
                <a:spcPts val="0"/>
              </a:spcAft>
            </a:pPr>
            <a:r>
              <a:rPr sz="6500" b="0">
                <a:solidFill>
                  <a:srgbClr val="C9AD78"/>
                </a:solidFill>
                <a:latin typeface="Segoe UI"/>
              </a:rPr>
              <a:t>2.2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60751"/>
            <a:ext cx="2057400" cy="469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9AD78"/>
                </a:solidFill>
                <a:latin typeface="Segoe UI Semibold"/>
              </a:rPr>
              <a:t>ДІЇ</a:t>
            </a:r>
            <a:r>
              <a:rPr sz="1400" b="1">
                <a:solidFill>
                  <a:srgbClr val="C9AD78"/>
                </a:solidFill>
                <a:latin typeface="Segoe UI Semibold"/>
              </a:rPr>
              <a:t> ПОВІТРЯНОГО</a:t>
            </a:r>
            <a:br/>
            <a:r>
              <a:rPr sz="1400" b="1">
                <a:solidFill>
                  <a:srgbClr val="C9AD78"/>
                </a:solidFill>
                <a:latin typeface="Segoe UI Semibold"/>
              </a:rPr>
              <a:t>ПРОТИВНИКА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909191"/>
            <a:ext cx="8714232" cy="804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Розвідка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районів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робіт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та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доріг:</a:t>
            </a:r>
            <a:r>
              <a:rPr sz="1800" b="0">
                <a:solidFill>
                  <a:srgbClr val="A5ADBA"/>
                </a:solidFill>
                <a:latin typeface="Segoe UI"/>
              </a:rPr>
              <a:t> 3–4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розвідувальні</a:t>
            </a:r>
            <a:r>
              <a:rPr sz="1800" b="0">
                <a:solidFill>
                  <a:srgbClr val="A5ADBA"/>
                </a:solidFill>
                <a:latin typeface="Segoe UI"/>
              </a:rPr>
              <a:t> коптери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одночасно</a:t>
            </a:r>
            <a:r>
              <a:rPr sz="1800" b="0">
                <a:solidFill>
                  <a:srgbClr val="A5ADBA"/>
                </a:solidFill>
                <a:latin typeface="Segoe UI"/>
              </a:rPr>
              <a:t> +</a:t>
            </a:r>
            <a:r>
              <a:rPr sz="1800" b="0">
                <a:solidFill>
                  <a:srgbClr val="A5ADBA"/>
                </a:solidFill>
                <a:latin typeface="Segoe UI"/>
              </a:rPr>
              <a:t> 1–2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літакові</a:t>
            </a:r>
            <a:r>
              <a:rPr sz="1800" b="0">
                <a:solidFill>
                  <a:srgbClr val="A5ADBA"/>
                </a:solidFill>
                <a:latin typeface="Segoe UI"/>
              </a:rPr>
              <a:t> БпЛА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виявляють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райони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зосередження,</a:t>
            </a:r>
            <a:r>
              <a:rPr sz="1800" b="0">
                <a:solidFill>
                  <a:srgbClr val="A5ADBA"/>
                </a:solidFill>
                <a:latin typeface="Segoe UI"/>
              </a:rPr>
              <a:t> рубежі</a:t>
            </a:r>
            <a:r>
              <a:rPr sz="1800" b="0">
                <a:solidFill>
                  <a:srgbClr val="A5ADBA"/>
                </a:solidFill>
                <a:latin typeface="Segoe UI"/>
              </a:rPr>
              <a:t> інженерних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робіт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та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маршрути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підвозу.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805303"/>
            <a:ext cx="8714232" cy="804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Полювання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на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інженерну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техніку: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Виявлена</a:t>
            </a:r>
            <a:r>
              <a:rPr sz="1800" b="0">
                <a:solidFill>
                  <a:srgbClr val="A5ADBA"/>
                </a:solidFill>
                <a:latin typeface="Segoe UI"/>
              </a:rPr>
              <a:t> інженерна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техніка</a:t>
            </a:r>
            <a:r>
              <a:rPr sz="1800" b="0">
                <a:solidFill>
                  <a:srgbClr val="A5ADBA"/>
                </a:solidFill>
                <a:latin typeface="Segoe UI"/>
              </a:rPr>
              <a:t> (екскаватори,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шляхопрокладачі)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та</a:t>
            </a:r>
            <a:r>
              <a:rPr sz="1800" b="0">
                <a:solidFill>
                  <a:srgbClr val="A5ADBA"/>
                </a:solidFill>
                <a:latin typeface="Segoe UI"/>
              </a:rPr>
              <a:t> транспорт</a:t>
            </a:r>
            <a:r>
              <a:rPr sz="1800" b="0">
                <a:solidFill>
                  <a:srgbClr val="A5ADBA"/>
                </a:solidFill>
                <a:latin typeface="Segoe UI"/>
              </a:rPr>
              <a:t> уражаються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ББ</a:t>
            </a:r>
            <a:r>
              <a:rPr sz="1800" b="0">
                <a:solidFill>
                  <a:srgbClr val="A5ADBA"/>
                </a:solidFill>
                <a:latin typeface="Segoe UI"/>
              </a:rPr>
              <a:t> «Ланцет»/«Скальпель»</a:t>
            </a:r>
            <a:r>
              <a:rPr sz="1800" b="0">
                <a:solidFill>
                  <a:srgbClr val="A5ADBA"/>
                </a:solidFill>
                <a:latin typeface="Segoe UI"/>
              </a:rPr>
              <a:t> —</a:t>
            </a:r>
            <a:r>
              <a:rPr sz="1800" b="0">
                <a:solidFill>
                  <a:srgbClr val="A5ADBA"/>
                </a:solidFill>
                <a:latin typeface="Segoe UI"/>
              </a:rPr>
              <a:t> до</a:t>
            </a:r>
            <a:r>
              <a:rPr sz="1800" b="0">
                <a:solidFill>
                  <a:srgbClr val="A5ADBA"/>
                </a:solidFill>
                <a:latin typeface="Segoe UI"/>
              </a:rPr>
              <a:t> 3–5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на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добу.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3701415"/>
            <a:ext cx="8714232" cy="5532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FPV-терор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по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особовому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складу:</a:t>
            </a:r>
            <a:r>
              <a:rPr sz="1800" b="0">
                <a:solidFill>
                  <a:srgbClr val="A5ADBA"/>
                </a:solidFill>
                <a:latin typeface="Segoe UI"/>
              </a:rPr>
              <a:t> Масовані</a:t>
            </a:r>
            <a:r>
              <a:rPr sz="1800" b="0">
                <a:solidFill>
                  <a:srgbClr val="A5ADBA"/>
                </a:solidFill>
                <a:latin typeface="Segoe UI"/>
              </a:rPr>
              <a:t> удари</a:t>
            </a:r>
            <a:r>
              <a:rPr sz="1800" b="0">
                <a:solidFill>
                  <a:srgbClr val="A5ADBA"/>
                </a:solidFill>
                <a:latin typeface="Segoe UI"/>
              </a:rPr>
              <a:t> FPV-дронами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по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позиціях</a:t>
            </a:r>
            <a:r>
              <a:rPr sz="1800" b="0">
                <a:solidFill>
                  <a:srgbClr val="A5ADBA"/>
                </a:solidFill>
                <a:latin typeface="Segoe UI"/>
              </a:rPr>
              <a:t> і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рубежах</a:t>
            </a:r>
            <a:r>
              <a:rPr sz="1800" b="0">
                <a:solidFill>
                  <a:srgbClr val="A5ADBA"/>
                </a:solidFill>
                <a:latin typeface="Segoe UI"/>
              </a:rPr>
              <a:t> фортифікації</a:t>
            </a:r>
            <a:r>
              <a:rPr sz="1800" b="0">
                <a:solidFill>
                  <a:srgbClr val="A5ADBA"/>
                </a:solidFill>
                <a:latin typeface="Segoe UI"/>
              </a:rPr>
              <a:t> —</a:t>
            </a:r>
            <a:r>
              <a:rPr sz="1800" b="0">
                <a:solidFill>
                  <a:srgbClr val="A5ADBA"/>
                </a:solidFill>
                <a:latin typeface="Segoe UI"/>
              </a:rPr>
              <a:t> до</a:t>
            </a:r>
            <a:r>
              <a:rPr sz="1800" b="0">
                <a:solidFill>
                  <a:srgbClr val="A5ADBA"/>
                </a:solidFill>
                <a:latin typeface="Segoe UI"/>
              </a:rPr>
              <a:t> 25–30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добу.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4346067"/>
            <a:ext cx="8714232" cy="804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Дрони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в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режимі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очікування: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маршрутах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маневру,</a:t>
            </a:r>
            <a:r>
              <a:rPr sz="1800" b="0">
                <a:solidFill>
                  <a:srgbClr val="A5ADBA"/>
                </a:solidFill>
                <a:latin typeface="Segoe UI"/>
              </a:rPr>
              <a:t> підвезення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БК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та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евакуації</a:t>
            </a:r>
            <a:r>
              <a:rPr sz="1800" b="0">
                <a:solidFill>
                  <a:srgbClr val="A5ADBA"/>
                </a:solidFill>
                <a:latin typeface="Segoe UI"/>
              </a:rPr>
              <a:t> противник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виставляє</a:t>
            </a:r>
            <a:r>
              <a:rPr sz="1800" b="0">
                <a:solidFill>
                  <a:srgbClr val="A5ADBA"/>
                </a:solidFill>
                <a:latin typeface="Segoe UI"/>
              </a:rPr>
              <a:t> до</a:t>
            </a:r>
            <a:r>
              <a:rPr sz="1800" b="0">
                <a:solidFill>
                  <a:srgbClr val="A5ADBA"/>
                </a:solidFill>
                <a:latin typeface="Segoe UI"/>
              </a:rPr>
              <a:t> 4–6</a:t>
            </a:r>
            <a:r>
              <a:rPr sz="1800" b="0">
                <a:solidFill>
                  <a:srgbClr val="A5ADBA"/>
                </a:solidFill>
                <a:latin typeface="Segoe UI"/>
              </a:rPr>
              <a:t> FPV-дронів</a:t>
            </a:r>
            <a:r>
              <a:rPr sz="1800" b="0">
                <a:solidFill>
                  <a:srgbClr val="A5ADBA"/>
                </a:solidFill>
                <a:latin typeface="Segoe UI"/>
              </a:rPr>
              <a:t> у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режимі</a:t>
            </a:r>
            <a:r>
              <a:rPr sz="1800" b="0">
                <a:solidFill>
                  <a:srgbClr val="A5ADBA"/>
                </a:solidFill>
                <a:latin typeface="Segoe UI"/>
              </a:rPr>
              <a:t> очікування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землі/перешкодах.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5242179"/>
            <a:ext cx="8714232" cy="5532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Удари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тактичної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авіації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(КАБ):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По</a:t>
            </a:r>
            <a:r>
              <a:rPr sz="1800" b="0">
                <a:solidFill>
                  <a:srgbClr val="A5ADBA"/>
                </a:solidFill>
                <a:latin typeface="Segoe UI"/>
              </a:rPr>
              <a:t> опорних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пунктах</a:t>
            </a:r>
            <a:r>
              <a:rPr sz="1800" b="0">
                <a:solidFill>
                  <a:srgbClr val="A5ADBA"/>
                </a:solidFill>
                <a:latin typeface="Segoe UI"/>
              </a:rPr>
              <a:t> і</a:t>
            </a:r>
            <a:r>
              <a:rPr sz="1800" b="0">
                <a:solidFill>
                  <a:srgbClr val="A5ADBA"/>
                </a:solidFill>
                <a:latin typeface="Segoe UI"/>
              </a:rPr>
              <a:t> місцях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розташування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роти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можливі</a:t>
            </a:r>
            <a:r>
              <a:rPr sz="1800" b="0">
                <a:solidFill>
                  <a:srgbClr val="A5ADBA"/>
                </a:solidFill>
                <a:latin typeface="Segoe UI"/>
              </a:rPr>
              <a:t> скиди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керованих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авіабомб</a:t>
            </a:r>
            <a:r>
              <a:rPr sz="1800" b="0">
                <a:solidFill>
                  <a:srgbClr val="A5ADBA"/>
                </a:solidFill>
                <a:latin typeface="Segoe UI"/>
              </a:rPr>
              <a:t> із</a:t>
            </a:r>
            <a:r>
              <a:rPr sz="1800" b="0">
                <a:solidFill>
                  <a:srgbClr val="A5ADBA"/>
                </a:solidFill>
                <a:latin typeface="Segoe UI"/>
              </a:rPr>
              <a:t> Су-34/Су-35</a:t>
            </a:r>
            <a:r>
              <a:rPr sz="1800" b="0">
                <a:solidFill>
                  <a:srgbClr val="A5ADBA"/>
                </a:solidFill>
                <a:latin typeface="Segoe UI"/>
              </a:rPr>
              <a:t> (до</a:t>
            </a:r>
            <a:r>
              <a:rPr sz="1800" b="0">
                <a:solidFill>
                  <a:srgbClr val="A5ADBA"/>
                </a:solidFill>
                <a:latin typeface="Segoe UI"/>
              </a:rPr>
              <a:t> 1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вильоту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добу).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391656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7132320" cy="1851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5ADBA"/>
                </a:solidFill>
                <a:latin typeface="Segoe UI"/>
              </a:rPr>
              <a:t>РТН</a:t>
            </a:r>
            <a:r>
              <a:rPr sz="900" b="0">
                <a:solidFill>
                  <a:srgbClr val="A5ADBA"/>
                </a:solidFill>
                <a:latin typeface="Segoe UI"/>
              </a:rPr>
              <a:t> /</a:t>
            </a:r>
            <a:r>
              <a:rPr sz="900" b="0">
                <a:solidFill>
                  <a:srgbClr val="A5ADBA"/>
                </a:solidFill>
                <a:latin typeface="Segoe UI"/>
              </a:rPr>
              <a:t> МАТЕРІАЛИ</a:t>
            </a:r>
            <a:r>
              <a:rPr sz="900" b="0">
                <a:solidFill>
                  <a:srgbClr val="A5ADBA"/>
                </a:solidFill>
                <a:latin typeface="Segoe UI"/>
              </a:rPr>
              <a:t> БРИФІНГУ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6464808"/>
            <a:ext cx="1444752" cy="2001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9AD78"/>
                </a:solidFill>
                <a:latin typeface="Segoe UI"/>
              </a:rPr>
              <a:t>13</a:t>
            </a:r>
            <a:r>
              <a:rPr sz="1000" b="0">
                <a:solidFill>
                  <a:srgbClr val="C9AD78"/>
                </a:solidFill>
                <a:latin typeface="Segoe UI"/>
              </a:rPr>
              <a:t> /</a:t>
            </a:r>
            <a:r>
              <a:rPr sz="1000" b="0">
                <a:solidFill>
                  <a:srgbClr val="C9AD78"/>
                </a:solidFill>
                <a:latin typeface="Segoe UI"/>
              </a:rPr>
              <a:t>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93192"/>
            <a:ext cx="11003279" cy="2076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AD78"/>
                </a:solidFill>
                <a:latin typeface="Segoe UI Semibold"/>
              </a:rPr>
              <a:t>ТАКТИЧНИЙ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ЕПІЗОД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2.2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79" cy="469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1EB"/>
                </a:solidFill>
                <a:latin typeface="Segoe UI Semibold"/>
              </a:rPr>
              <a:t>Автономні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дії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РТГр: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Підготовка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до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активної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оборони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74064"/>
            <a:ext cx="11003279" cy="2602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A5ADBA"/>
                </a:solidFill>
                <a:latin typeface="Segoe UI"/>
              </a:rPr>
              <a:t>Фортифікаційне</a:t>
            </a:r>
            <a:r>
              <a:rPr sz="1450" b="0">
                <a:solidFill>
                  <a:srgbClr val="A5ADBA"/>
                </a:solidFill>
                <a:latin typeface="Segoe UI"/>
              </a:rPr>
              <a:t> обладнання</a:t>
            </a:r>
            <a:r>
              <a:rPr sz="1450" b="0">
                <a:solidFill>
                  <a:srgbClr val="A5ADBA"/>
                </a:solidFill>
                <a:latin typeface="Segoe UI"/>
              </a:rPr>
              <a:t> рубежів,</a:t>
            </a:r>
            <a:r>
              <a:rPr sz="1450" b="0">
                <a:solidFill>
                  <a:srgbClr val="A5ADBA"/>
                </a:solidFill>
                <a:latin typeface="Segoe UI"/>
              </a:rPr>
              <a:t> інженерні</a:t>
            </a:r>
            <a:r>
              <a:rPr sz="1450" b="0">
                <a:solidFill>
                  <a:srgbClr val="A5ADBA"/>
                </a:solidFill>
                <a:latin typeface="Segoe UI"/>
              </a:rPr>
              <a:t> роботи,</a:t>
            </a:r>
            <a:r>
              <a:rPr sz="1450" b="0">
                <a:solidFill>
                  <a:srgbClr val="A5ADBA"/>
                </a:solidFill>
                <a:latin typeface="Segoe UI"/>
              </a:rPr>
              <a:t> створення</a:t>
            </a:r>
            <a:r>
              <a:rPr sz="1450" b="0">
                <a:solidFill>
                  <a:srgbClr val="A5ADBA"/>
                </a:solidFill>
                <a:latin typeface="Segoe UI"/>
              </a:rPr>
              <a:t> логістики</a:t>
            </a:r>
            <a:r>
              <a:rPr sz="1450" b="0">
                <a:solidFill>
                  <a:srgbClr val="A5ADBA"/>
                </a:solidFill>
                <a:latin typeface="Segoe UI"/>
              </a:rPr>
              <a:t> та</a:t>
            </a:r>
            <a:r>
              <a:rPr sz="1450" b="0">
                <a:solidFill>
                  <a:srgbClr val="A5ADBA"/>
                </a:solidFill>
                <a:latin typeface="Segoe UI"/>
              </a:rPr>
              <a:t> прикриття</a:t>
            </a:r>
            <a:r>
              <a:rPr sz="1450" b="0">
                <a:solidFill>
                  <a:srgbClr val="A5ADBA"/>
                </a:solidFill>
                <a:latin typeface="Segoe UI"/>
              </a:rPr>
              <a:t> маневру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89735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90903"/>
            <a:ext cx="1965960" cy="102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670"/>
              </a:lnSpc>
              <a:spcBef>
                <a:spcPts val="0"/>
              </a:spcBef>
              <a:spcAft>
                <a:spcPts val="0"/>
              </a:spcAft>
            </a:pPr>
            <a:r>
              <a:rPr sz="6500" b="0">
                <a:solidFill>
                  <a:srgbClr val="C9AD78"/>
                </a:solidFill>
                <a:latin typeface="Segoe UI"/>
              </a:rPr>
              <a:t>2.2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60751"/>
            <a:ext cx="2057400" cy="469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9AD78"/>
                </a:solidFill>
                <a:latin typeface="Segoe UI Semibold"/>
              </a:rPr>
              <a:t>ПРОТИДІЯ</a:t>
            </a:r>
            <a:r>
              <a:rPr sz="1400" b="1">
                <a:solidFill>
                  <a:srgbClr val="C9AD78"/>
                </a:solidFill>
                <a:latin typeface="Segoe UI Semibold"/>
              </a:rPr>
              <a:t> ТА</a:t>
            </a:r>
            <a:r>
              <a:rPr sz="1400" b="1">
                <a:solidFill>
                  <a:srgbClr val="C9AD78"/>
                </a:solidFill>
                <a:latin typeface="Segoe UI Semibold"/>
              </a:rPr>
              <a:t> ДІЇ</a:t>
            </a:r>
            <a:br/>
            <a:r>
              <a:rPr sz="1400" b="1">
                <a:solidFill>
                  <a:srgbClr val="C9AD78"/>
                </a:solidFill>
                <a:latin typeface="Segoe UI Semibold"/>
              </a:rPr>
              <a:t>СВОЇХ</a:t>
            </a:r>
            <a:r>
              <a:rPr sz="1400" b="1">
                <a:solidFill>
                  <a:srgbClr val="C9AD78"/>
                </a:solidFill>
                <a:latin typeface="Segoe UI Semibold"/>
              </a:rPr>
              <a:t> ВІЙСЬК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909191"/>
            <a:ext cx="8714232" cy="5532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Мережа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постів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спостереження: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Розгортання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ПС</a:t>
            </a:r>
            <a:r>
              <a:rPr sz="1800" b="0">
                <a:solidFill>
                  <a:srgbClr val="A5ADBA"/>
                </a:solidFill>
                <a:latin typeface="Segoe UI"/>
              </a:rPr>
              <a:t> у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районах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розташування,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місцях</a:t>
            </a:r>
            <a:r>
              <a:rPr sz="1800" b="0">
                <a:solidFill>
                  <a:srgbClr val="A5ADBA"/>
                </a:solidFill>
                <a:latin typeface="Segoe UI"/>
              </a:rPr>
              <a:t> інженерних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робіт</a:t>
            </a:r>
            <a:r>
              <a:rPr sz="1800" b="0">
                <a:solidFill>
                  <a:srgbClr val="A5ADBA"/>
                </a:solidFill>
                <a:latin typeface="Segoe UI"/>
              </a:rPr>
              <a:t> і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вздовж</a:t>
            </a:r>
            <a:r>
              <a:rPr sz="1800" b="0">
                <a:solidFill>
                  <a:srgbClr val="A5ADBA"/>
                </a:solidFill>
                <a:latin typeface="Segoe UI"/>
              </a:rPr>
              <a:t> маршрутів.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Вночі</a:t>
            </a:r>
            <a:r>
              <a:rPr sz="1800" b="0">
                <a:solidFill>
                  <a:srgbClr val="A5ADBA"/>
                </a:solidFill>
                <a:latin typeface="Segoe UI"/>
              </a:rPr>
              <a:t> —</a:t>
            </a:r>
            <a:r>
              <a:rPr sz="1800" b="0">
                <a:solidFill>
                  <a:srgbClr val="A5ADBA"/>
                </a:solidFill>
                <a:latin typeface="Segoe UI"/>
              </a:rPr>
              <a:t> обов'язкові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тепловізори.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553843"/>
            <a:ext cx="8714232" cy="5532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Оповіщення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про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авіацію/КАБ: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Постійна</a:t>
            </a:r>
            <a:r>
              <a:rPr sz="1800" b="0">
                <a:solidFill>
                  <a:srgbClr val="A5ADBA"/>
                </a:solidFill>
                <a:latin typeface="Segoe UI"/>
              </a:rPr>
              <a:t> інтеграція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з</a:t>
            </a:r>
            <a:r>
              <a:rPr sz="1800" b="0">
                <a:solidFill>
                  <a:srgbClr val="A5ADBA"/>
                </a:solidFill>
                <a:latin typeface="Segoe UI"/>
              </a:rPr>
              <a:t> системою</a:t>
            </a:r>
            <a:r>
              <a:rPr sz="1800" b="0">
                <a:solidFill>
                  <a:srgbClr val="A5ADBA"/>
                </a:solidFill>
                <a:latin typeface="Segoe UI"/>
              </a:rPr>
              <a:t> оповіщення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старшого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начальника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для</a:t>
            </a:r>
            <a:r>
              <a:rPr sz="1800" b="0">
                <a:solidFill>
                  <a:srgbClr val="A5ADBA"/>
                </a:solidFill>
                <a:latin typeface="Segoe UI"/>
              </a:rPr>
              <a:t> своєчасного</a:t>
            </a:r>
            <a:r>
              <a:rPr sz="1800" b="0">
                <a:solidFill>
                  <a:srgbClr val="A5ADBA"/>
                </a:solidFill>
                <a:latin typeface="Segoe UI"/>
              </a:rPr>
              <a:t> зайняття</a:t>
            </a:r>
            <a:r>
              <a:rPr sz="1800" b="0">
                <a:solidFill>
                  <a:srgbClr val="A5ADBA"/>
                </a:solidFill>
                <a:latin typeface="Segoe UI"/>
              </a:rPr>
              <a:t> укриттів</a:t>
            </a:r>
            <a:r>
              <a:rPr sz="1800" b="0">
                <a:solidFill>
                  <a:srgbClr val="A5ADBA"/>
                </a:solidFill>
                <a:latin typeface="Segoe UI"/>
              </a:rPr>
              <a:t> особовим</a:t>
            </a:r>
            <a:r>
              <a:rPr sz="1800" b="0">
                <a:solidFill>
                  <a:srgbClr val="A5ADBA"/>
                </a:solidFill>
                <a:latin typeface="Segoe UI"/>
              </a:rPr>
              <a:t> складом.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3198495"/>
            <a:ext cx="8714232" cy="804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Прикриття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робіт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і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конвоїв:</a:t>
            </a:r>
            <a:r>
              <a:rPr sz="1800" b="0">
                <a:solidFill>
                  <a:srgbClr val="A5ADBA"/>
                </a:solidFill>
                <a:latin typeface="Segoe UI"/>
              </a:rPr>
              <a:t> Чергові</a:t>
            </a:r>
            <a:r>
              <a:rPr sz="1800" b="0">
                <a:solidFill>
                  <a:srgbClr val="A5ADBA"/>
                </a:solidFill>
                <a:latin typeface="Segoe UI"/>
              </a:rPr>
              <a:t> стрільці</a:t>
            </a:r>
            <a:r>
              <a:rPr sz="1800" b="0">
                <a:solidFill>
                  <a:srgbClr val="A5ADBA"/>
                </a:solidFill>
                <a:latin typeface="Segoe UI"/>
              </a:rPr>
              <a:t> з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помповими</a:t>
            </a:r>
            <a:r>
              <a:rPr sz="1800" b="0">
                <a:solidFill>
                  <a:srgbClr val="A5ADBA"/>
                </a:solidFill>
                <a:latin typeface="Segoe UI"/>
              </a:rPr>
              <a:t> рушницями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та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автоматами</a:t>
            </a:r>
            <a:r>
              <a:rPr sz="1800" b="0">
                <a:solidFill>
                  <a:srgbClr val="A5ADBA"/>
                </a:solidFill>
                <a:latin typeface="Segoe UI"/>
              </a:rPr>
              <a:t> чергують</a:t>
            </a:r>
            <a:r>
              <a:rPr sz="1800" b="0">
                <a:solidFill>
                  <a:srgbClr val="A5ADBA"/>
                </a:solidFill>
                <a:latin typeface="Segoe UI"/>
              </a:rPr>
              <a:t> безпосередньо</a:t>
            </a:r>
            <a:r>
              <a:rPr sz="1800" b="0">
                <a:solidFill>
                  <a:srgbClr val="A5ADBA"/>
                </a:solidFill>
                <a:latin typeface="Segoe UI"/>
              </a:rPr>
              <a:t> біля</a:t>
            </a:r>
            <a:r>
              <a:rPr sz="1800" b="0">
                <a:solidFill>
                  <a:srgbClr val="A5ADBA"/>
                </a:solidFill>
                <a:latin typeface="Segoe UI"/>
              </a:rPr>
              <a:t> інженерних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груп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бортах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транспортних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засобів.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391656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7132320" cy="1851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5ADBA"/>
                </a:solidFill>
                <a:latin typeface="Segoe UI"/>
              </a:rPr>
              <a:t>РТН</a:t>
            </a:r>
            <a:r>
              <a:rPr sz="900" b="0">
                <a:solidFill>
                  <a:srgbClr val="A5ADBA"/>
                </a:solidFill>
                <a:latin typeface="Segoe UI"/>
              </a:rPr>
              <a:t> /</a:t>
            </a:r>
            <a:r>
              <a:rPr sz="900" b="0">
                <a:solidFill>
                  <a:srgbClr val="A5ADBA"/>
                </a:solidFill>
                <a:latin typeface="Segoe UI"/>
              </a:rPr>
              <a:t> МАТЕРІАЛИ</a:t>
            </a:r>
            <a:r>
              <a:rPr sz="900" b="0">
                <a:solidFill>
                  <a:srgbClr val="A5ADBA"/>
                </a:solidFill>
                <a:latin typeface="Segoe UI"/>
              </a:rPr>
              <a:t> БРИФІНГУ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6464808"/>
            <a:ext cx="1444752" cy="2001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9AD78"/>
                </a:solidFill>
                <a:latin typeface="Segoe UI"/>
              </a:rPr>
              <a:t>14</a:t>
            </a:r>
            <a:r>
              <a:rPr sz="1000" b="0">
                <a:solidFill>
                  <a:srgbClr val="C9AD78"/>
                </a:solidFill>
                <a:latin typeface="Segoe UI"/>
              </a:rPr>
              <a:t> /</a:t>
            </a:r>
            <a:r>
              <a:rPr sz="1000" b="0">
                <a:solidFill>
                  <a:srgbClr val="C9AD78"/>
                </a:solidFill>
                <a:latin typeface="Segoe UI"/>
              </a:rPr>
              <a:t>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93192"/>
            <a:ext cx="11003279" cy="2076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AD78"/>
                </a:solidFill>
                <a:latin typeface="Segoe UI Semibold"/>
              </a:rPr>
              <a:t>ТАКТИЧНИЙ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ЕПІЗОД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2.2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79" cy="469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1EB"/>
                </a:solidFill>
                <a:latin typeface="Segoe UI Semibold"/>
              </a:rPr>
              <a:t>Автономні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дії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РТГр: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Підготовка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до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активної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оборони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65504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66672"/>
            <a:ext cx="1965960" cy="102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670"/>
              </a:lnSpc>
              <a:spcBef>
                <a:spcPts val="0"/>
              </a:spcBef>
              <a:spcAft>
                <a:spcPts val="0"/>
              </a:spcAft>
            </a:pPr>
            <a:r>
              <a:rPr sz="6500" b="0">
                <a:solidFill>
                  <a:srgbClr val="C9AD78"/>
                </a:solidFill>
                <a:latin typeface="Segoe UI"/>
              </a:rPr>
              <a:t>2.2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36520"/>
            <a:ext cx="2057400" cy="469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9AD78"/>
                </a:solidFill>
                <a:latin typeface="Segoe UI Semibold"/>
              </a:rPr>
              <a:t>ПРОТИДІЯ</a:t>
            </a:r>
            <a:r>
              <a:rPr sz="1400" b="1">
                <a:solidFill>
                  <a:srgbClr val="C9AD78"/>
                </a:solidFill>
                <a:latin typeface="Segoe UI Semibold"/>
              </a:rPr>
              <a:t> ТА</a:t>
            </a:r>
            <a:r>
              <a:rPr sz="1400" b="1">
                <a:solidFill>
                  <a:srgbClr val="C9AD78"/>
                </a:solidFill>
                <a:latin typeface="Segoe UI Semibold"/>
              </a:rPr>
              <a:t> ДІЇ</a:t>
            </a:r>
            <a:br/>
            <a:r>
              <a:rPr sz="1400" b="1">
                <a:solidFill>
                  <a:srgbClr val="C9AD78"/>
                </a:solidFill>
                <a:latin typeface="Segoe UI Semibold"/>
              </a:rPr>
              <a:t>СВОЇХ</a:t>
            </a:r>
            <a:r>
              <a:rPr sz="1400" b="1">
                <a:solidFill>
                  <a:srgbClr val="C9AD78"/>
                </a:solidFill>
                <a:latin typeface="Segoe UI Semibold"/>
              </a:rPr>
              <a:t> ВІЙСЬК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584960"/>
            <a:ext cx="8714232" cy="804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Дистанційна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ліквідація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дронів-засідок: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Виявлені</a:t>
            </a:r>
            <a:r>
              <a:rPr sz="1800" b="0">
                <a:solidFill>
                  <a:srgbClr val="A5ADBA"/>
                </a:solidFill>
                <a:latin typeface="Segoe UI"/>
              </a:rPr>
              <a:t> FPV-дрони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в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режимі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очікування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маршрутах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знищуються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дистанційно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вогнем</a:t>
            </a:r>
            <a:r>
              <a:rPr sz="1800" b="0">
                <a:solidFill>
                  <a:srgbClr val="A5ADBA"/>
                </a:solidFill>
                <a:latin typeface="Segoe UI"/>
              </a:rPr>
              <a:t> стрілецької</a:t>
            </a:r>
            <a:r>
              <a:rPr sz="1800" b="0">
                <a:solidFill>
                  <a:srgbClr val="A5ADBA"/>
                </a:solidFill>
                <a:latin typeface="Segoe UI"/>
              </a:rPr>
              <a:t> зброї</a:t>
            </a:r>
            <a:r>
              <a:rPr sz="1800" b="0">
                <a:solidFill>
                  <a:srgbClr val="A5ADBA"/>
                </a:solidFill>
                <a:latin typeface="Segoe UI"/>
              </a:rPr>
              <a:t> без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наближення.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481072"/>
            <a:ext cx="8714232" cy="804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Інженерний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захист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маршрутів:</a:t>
            </a:r>
            <a:r>
              <a:rPr sz="1800" b="0">
                <a:solidFill>
                  <a:srgbClr val="A5ADBA"/>
                </a:solidFill>
                <a:latin typeface="Segoe UI"/>
              </a:rPr>
              <a:t> Обладнання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протидронових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сіток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та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загороджень</a:t>
            </a:r>
            <a:r>
              <a:rPr sz="1800" b="0">
                <a:solidFill>
                  <a:srgbClr val="A5ADBA"/>
                </a:solidFill>
                <a:latin typeface="Segoe UI"/>
              </a:rPr>
              <a:t> із</a:t>
            </a:r>
            <a:r>
              <a:rPr sz="1800" b="0">
                <a:solidFill>
                  <a:srgbClr val="A5ADBA"/>
                </a:solidFill>
                <a:latin typeface="Segoe UI"/>
              </a:rPr>
              <a:t> колючого</a:t>
            </a:r>
            <a:r>
              <a:rPr sz="1800" b="0">
                <a:solidFill>
                  <a:srgbClr val="A5ADBA"/>
                </a:solidFill>
                <a:latin typeface="Segoe UI"/>
              </a:rPr>
              <a:t> (спірального)</a:t>
            </a:r>
            <a:r>
              <a:rPr sz="1800" b="0">
                <a:solidFill>
                  <a:srgbClr val="A5ADBA"/>
                </a:solidFill>
                <a:latin typeface="Segoe UI"/>
              </a:rPr>
              <a:t> дроту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над</a:t>
            </a:r>
            <a:r>
              <a:rPr sz="1800" b="0">
                <a:solidFill>
                  <a:srgbClr val="A5ADBA"/>
                </a:solidFill>
                <a:latin typeface="Segoe UI"/>
              </a:rPr>
              <a:t> вузькими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місцями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та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перехрестями.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3377184"/>
            <a:ext cx="8714232" cy="5532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Маскування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техніки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та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запасів:</a:t>
            </a:r>
            <a:r>
              <a:rPr sz="1800" b="0">
                <a:solidFill>
                  <a:srgbClr val="A5ADBA"/>
                </a:solidFill>
                <a:latin typeface="Segoe UI"/>
              </a:rPr>
              <a:t> Обов'язкові</a:t>
            </a:r>
            <a:r>
              <a:rPr sz="1800" b="0">
                <a:solidFill>
                  <a:srgbClr val="A5ADBA"/>
                </a:solidFill>
                <a:latin typeface="Segoe UI"/>
              </a:rPr>
              <a:t> антидронові</a:t>
            </a:r>
            <a:r>
              <a:rPr sz="1800" b="0">
                <a:solidFill>
                  <a:srgbClr val="A5ADBA"/>
                </a:solidFill>
                <a:latin typeface="Segoe UI"/>
              </a:rPr>
              <a:t> екрани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</a:t>
            </a:r>
            <a:r>
              <a:rPr sz="1800" b="0">
                <a:solidFill>
                  <a:srgbClr val="A5ADBA"/>
                </a:solidFill>
                <a:latin typeface="Segoe UI"/>
              </a:rPr>
              <a:t> транспорті;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маскування</a:t>
            </a:r>
            <a:r>
              <a:rPr sz="1800" b="0">
                <a:solidFill>
                  <a:srgbClr val="A5ADBA"/>
                </a:solidFill>
                <a:latin typeface="Segoe UI"/>
              </a:rPr>
              <a:t> складів</a:t>
            </a:r>
            <a:r>
              <a:rPr sz="1800" b="0">
                <a:solidFill>
                  <a:srgbClr val="A5ADBA"/>
                </a:solidFill>
                <a:latin typeface="Segoe UI"/>
              </a:rPr>
              <a:t> БК;</a:t>
            </a:r>
            <a:r>
              <a:rPr sz="1800" b="0">
                <a:solidFill>
                  <a:srgbClr val="A5ADBA"/>
                </a:solidFill>
                <a:latin typeface="Segoe UI"/>
              </a:rPr>
              <a:t> створення</a:t>
            </a:r>
            <a:r>
              <a:rPr sz="1800" b="0">
                <a:solidFill>
                  <a:srgbClr val="A5ADBA"/>
                </a:solidFill>
                <a:latin typeface="Segoe UI"/>
              </a:rPr>
              <a:t> хибних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районів</a:t>
            </a:r>
            <a:r>
              <a:rPr sz="1800" b="0">
                <a:solidFill>
                  <a:srgbClr val="A5ADBA"/>
                </a:solidFill>
                <a:latin typeface="Segoe UI"/>
              </a:rPr>
              <a:t> і</a:t>
            </a:r>
            <a:r>
              <a:rPr sz="1800" b="0">
                <a:solidFill>
                  <a:srgbClr val="A5ADBA"/>
                </a:solidFill>
                <a:latin typeface="Segoe UI"/>
              </a:rPr>
              <a:t> макетів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техніки.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391656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7132320" cy="1851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5ADBA"/>
                </a:solidFill>
                <a:latin typeface="Segoe UI"/>
              </a:rPr>
              <a:t>РТН</a:t>
            </a:r>
            <a:r>
              <a:rPr sz="900" b="0">
                <a:solidFill>
                  <a:srgbClr val="A5ADBA"/>
                </a:solidFill>
                <a:latin typeface="Segoe UI"/>
              </a:rPr>
              <a:t> /</a:t>
            </a:r>
            <a:r>
              <a:rPr sz="900" b="0">
                <a:solidFill>
                  <a:srgbClr val="A5ADBA"/>
                </a:solidFill>
                <a:latin typeface="Segoe UI"/>
              </a:rPr>
              <a:t> МАТЕРІАЛИ</a:t>
            </a:r>
            <a:r>
              <a:rPr sz="900" b="0">
                <a:solidFill>
                  <a:srgbClr val="A5ADBA"/>
                </a:solidFill>
                <a:latin typeface="Segoe UI"/>
              </a:rPr>
              <a:t> БРИФІНГУ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6464808"/>
            <a:ext cx="1444752" cy="2001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9AD78"/>
                </a:solidFill>
                <a:latin typeface="Segoe UI"/>
              </a:rPr>
              <a:t>15</a:t>
            </a:r>
            <a:r>
              <a:rPr sz="1000" b="0">
                <a:solidFill>
                  <a:srgbClr val="C9AD78"/>
                </a:solidFill>
                <a:latin typeface="Segoe UI"/>
              </a:rPr>
              <a:t> /</a:t>
            </a:r>
            <a:r>
              <a:rPr sz="1000" b="0">
                <a:solidFill>
                  <a:srgbClr val="C9AD78"/>
                </a:solidFill>
                <a:latin typeface="Segoe UI"/>
              </a:rPr>
              <a:t>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93192"/>
            <a:ext cx="11003279" cy="2076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AD78"/>
                </a:solidFill>
                <a:latin typeface="Segoe UI Semibold"/>
              </a:rPr>
              <a:t>ТАКТИЧНИЙ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ЕПІЗОД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2.3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79" cy="469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1EB"/>
                </a:solidFill>
                <a:latin typeface="Segoe UI Semibold"/>
              </a:rPr>
              <a:t>Ближній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бій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у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лісовому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масиві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та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кругова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оборона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74064"/>
            <a:ext cx="11003279" cy="2602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A5ADBA"/>
                </a:solidFill>
                <a:latin typeface="Segoe UI"/>
              </a:rPr>
              <a:t>Відбиття</a:t>
            </a:r>
            <a:r>
              <a:rPr sz="1450" b="0">
                <a:solidFill>
                  <a:srgbClr val="A5ADBA"/>
                </a:solidFill>
                <a:latin typeface="Segoe UI"/>
              </a:rPr>
              <a:t> штурму,</a:t>
            </a:r>
            <a:r>
              <a:rPr sz="1450" b="0">
                <a:solidFill>
                  <a:srgbClr val="A5ADBA"/>
                </a:solidFill>
                <a:latin typeface="Segoe UI"/>
              </a:rPr>
              <a:t> відбиття</a:t>
            </a:r>
            <a:r>
              <a:rPr sz="1450" b="0">
                <a:solidFill>
                  <a:srgbClr val="A5ADBA"/>
                </a:solidFill>
                <a:latin typeface="Segoe UI"/>
              </a:rPr>
              <a:t> авіаційних</a:t>
            </a:r>
            <a:r>
              <a:rPr sz="1450" b="0">
                <a:solidFill>
                  <a:srgbClr val="A5ADBA"/>
                </a:solidFill>
                <a:latin typeface="Segoe UI"/>
              </a:rPr>
              <a:t> ударів</a:t>
            </a:r>
            <a:r>
              <a:rPr sz="1450" b="0">
                <a:solidFill>
                  <a:srgbClr val="A5ADBA"/>
                </a:solidFill>
                <a:latin typeface="Segoe UI"/>
              </a:rPr>
              <a:t> і</a:t>
            </a:r>
            <a:r>
              <a:rPr sz="1450" b="0">
                <a:solidFill>
                  <a:srgbClr val="A5ADBA"/>
                </a:solidFill>
                <a:latin typeface="Segoe UI"/>
              </a:rPr>
              <a:t> дій</a:t>
            </a:r>
            <a:r>
              <a:rPr sz="1450" b="0">
                <a:solidFill>
                  <a:srgbClr val="A5ADBA"/>
                </a:solidFill>
                <a:latin typeface="Segoe UI"/>
              </a:rPr>
              <a:t> засобів</a:t>
            </a:r>
            <a:r>
              <a:rPr sz="1450" b="0">
                <a:solidFill>
                  <a:srgbClr val="A5ADBA"/>
                </a:solidFill>
                <a:latin typeface="Segoe UI"/>
              </a:rPr>
              <a:t> повітряного</a:t>
            </a:r>
            <a:r>
              <a:rPr sz="1450" b="0">
                <a:solidFill>
                  <a:srgbClr val="A5ADBA"/>
                </a:solidFill>
                <a:latin typeface="Segoe UI"/>
              </a:rPr>
              <a:t> нападу</a:t>
            </a:r>
            <a:r>
              <a:rPr sz="1450" b="0">
                <a:solidFill>
                  <a:srgbClr val="A5ADBA"/>
                </a:solidFill>
                <a:latin typeface="Segoe UI"/>
              </a:rPr>
              <a:t> в</a:t>
            </a:r>
            <a:r>
              <a:rPr sz="1450" b="0">
                <a:solidFill>
                  <a:srgbClr val="A5ADBA"/>
                </a:solidFill>
                <a:latin typeface="Segoe UI"/>
              </a:rPr>
              <a:t> умовах</a:t>
            </a:r>
            <a:r>
              <a:rPr sz="1450" b="0">
                <a:solidFill>
                  <a:srgbClr val="A5ADBA"/>
                </a:solidFill>
                <a:latin typeface="Segoe UI"/>
              </a:rPr>
              <a:t> блокування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89735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90903"/>
            <a:ext cx="1965960" cy="102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670"/>
              </a:lnSpc>
              <a:spcBef>
                <a:spcPts val="0"/>
              </a:spcBef>
              <a:spcAft>
                <a:spcPts val="0"/>
              </a:spcAft>
            </a:pPr>
            <a:r>
              <a:rPr sz="6500" b="0">
                <a:solidFill>
                  <a:srgbClr val="C9AD78"/>
                </a:solidFill>
                <a:latin typeface="Segoe UI"/>
              </a:rPr>
              <a:t>2.3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60751"/>
            <a:ext cx="2057400" cy="469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9AD78"/>
                </a:solidFill>
                <a:latin typeface="Segoe UI Semibold"/>
              </a:rPr>
              <a:t>ДІЇ</a:t>
            </a:r>
            <a:r>
              <a:rPr sz="1400" b="1">
                <a:solidFill>
                  <a:srgbClr val="C9AD78"/>
                </a:solidFill>
                <a:latin typeface="Segoe UI Semibold"/>
              </a:rPr>
              <a:t> ПОВІТРЯНОГО</a:t>
            </a:r>
            <a:br/>
            <a:r>
              <a:rPr sz="1400" b="1">
                <a:solidFill>
                  <a:srgbClr val="C9AD78"/>
                </a:solidFill>
                <a:latin typeface="Segoe UI Semibold"/>
              </a:rPr>
              <a:t>ПРОТИВНИКА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909191"/>
            <a:ext cx="8714232" cy="5532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Супровід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штурмовиків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ворога:</a:t>
            </a:r>
            <a:r>
              <a:rPr sz="1800" b="0">
                <a:solidFill>
                  <a:srgbClr val="A5ADBA"/>
                </a:solidFill>
                <a:latin typeface="Segoe UI"/>
              </a:rPr>
              <a:t> 3–4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розвідувальні</a:t>
            </a:r>
            <a:r>
              <a:rPr sz="1800" b="0">
                <a:solidFill>
                  <a:srgbClr val="A5ADBA"/>
                </a:solidFill>
                <a:latin typeface="Segoe UI"/>
              </a:rPr>
              <a:t> коптери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ведуть</a:t>
            </a:r>
            <a:r>
              <a:rPr sz="1800" b="0">
                <a:solidFill>
                  <a:srgbClr val="A5ADBA"/>
                </a:solidFill>
                <a:latin typeface="Segoe UI"/>
              </a:rPr>
              <a:t> безперервну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розвідку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наших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вогневих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точок</a:t>
            </a:r>
            <a:r>
              <a:rPr sz="1800" b="0">
                <a:solidFill>
                  <a:srgbClr val="A5ADBA"/>
                </a:solidFill>
                <a:latin typeface="Segoe UI"/>
              </a:rPr>
              <a:t> і</a:t>
            </a:r>
            <a:r>
              <a:rPr sz="1800" b="0">
                <a:solidFill>
                  <a:srgbClr val="A5ADBA"/>
                </a:solidFill>
                <a:latin typeface="Segoe UI"/>
              </a:rPr>
              <a:t> одночасно</a:t>
            </a:r>
            <a:r>
              <a:rPr sz="1800" b="0">
                <a:solidFill>
                  <a:srgbClr val="A5ADBA"/>
                </a:solidFill>
                <a:latin typeface="Segoe UI"/>
              </a:rPr>
              <a:t> супроводжують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ворожу</a:t>
            </a:r>
            <a:r>
              <a:rPr sz="1800" b="0">
                <a:solidFill>
                  <a:srgbClr val="A5ADBA"/>
                </a:solidFill>
                <a:latin typeface="Segoe UI"/>
              </a:rPr>
              <a:t> піхоту.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553843"/>
            <a:ext cx="8714232" cy="5532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Шквал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FPV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під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час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штурму:</a:t>
            </a:r>
            <a:r>
              <a:rPr sz="1800" b="0">
                <a:solidFill>
                  <a:srgbClr val="A5ADBA"/>
                </a:solidFill>
                <a:latin typeface="Segoe UI"/>
              </a:rPr>
              <a:t> Масовані</a:t>
            </a:r>
            <a:r>
              <a:rPr sz="1800" b="0">
                <a:solidFill>
                  <a:srgbClr val="A5ADBA"/>
                </a:solidFill>
                <a:latin typeface="Segoe UI"/>
              </a:rPr>
              <a:t> удари</a:t>
            </a:r>
            <a:r>
              <a:rPr sz="1800" b="0">
                <a:solidFill>
                  <a:srgbClr val="A5ADBA"/>
                </a:solidFill>
                <a:latin typeface="Segoe UI"/>
              </a:rPr>
              <a:t> FPV-дронами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по</a:t>
            </a:r>
            <a:r>
              <a:rPr sz="1800" b="0">
                <a:solidFill>
                  <a:srgbClr val="A5ADBA"/>
                </a:solidFill>
                <a:latin typeface="Segoe UI"/>
              </a:rPr>
              <a:t> сковуваній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позиції</a:t>
            </a:r>
            <a:r>
              <a:rPr sz="1800" b="0">
                <a:solidFill>
                  <a:srgbClr val="A5ADBA"/>
                </a:solidFill>
                <a:latin typeface="Segoe UI"/>
              </a:rPr>
              <a:t> —</a:t>
            </a:r>
            <a:r>
              <a:rPr sz="1800" b="0">
                <a:solidFill>
                  <a:srgbClr val="A5ADBA"/>
                </a:solidFill>
                <a:latin typeface="Segoe UI"/>
              </a:rPr>
              <a:t> до</a:t>
            </a:r>
            <a:r>
              <a:rPr sz="1800" b="0">
                <a:solidFill>
                  <a:srgbClr val="A5ADBA"/>
                </a:solidFill>
                <a:latin typeface="Segoe UI"/>
              </a:rPr>
              <a:t> 10–15</a:t>
            </a:r>
            <a:r>
              <a:rPr sz="1800" b="0">
                <a:solidFill>
                  <a:srgbClr val="A5ADBA"/>
                </a:solidFill>
                <a:latin typeface="Segoe UI"/>
              </a:rPr>
              <a:t> одночасно,</a:t>
            </a:r>
            <a:r>
              <a:rPr sz="1800" b="0">
                <a:solidFill>
                  <a:srgbClr val="A5ADBA"/>
                </a:solidFill>
                <a:latin typeface="Segoe UI"/>
              </a:rPr>
              <a:t> загалом</a:t>
            </a:r>
            <a:r>
              <a:rPr sz="1800" b="0">
                <a:solidFill>
                  <a:srgbClr val="A5ADBA"/>
                </a:solidFill>
                <a:latin typeface="Segoe UI"/>
              </a:rPr>
              <a:t> до</a:t>
            </a:r>
            <a:r>
              <a:rPr sz="1800" b="0">
                <a:solidFill>
                  <a:srgbClr val="A5ADBA"/>
                </a:solidFill>
                <a:latin typeface="Segoe UI"/>
              </a:rPr>
              <a:t> 25–30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добу</a:t>
            </a:r>
            <a:r>
              <a:rPr sz="1800" b="0">
                <a:solidFill>
                  <a:srgbClr val="A5ADBA"/>
                </a:solidFill>
                <a:latin typeface="Segoe UI"/>
              </a:rPr>
              <a:t> +</a:t>
            </a:r>
            <a:r>
              <a:rPr sz="1800" b="0">
                <a:solidFill>
                  <a:srgbClr val="A5ADBA"/>
                </a:solidFill>
                <a:latin typeface="Segoe UI"/>
              </a:rPr>
              <a:t> скиди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з</a:t>
            </a:r>
            <a:r>
              <a:rPr sz="1800" b="0">
                <a:solidFill>
                  <a:srgbClr val="A5ADBA"/>
                </a:solidFill>
                <a:latin typeface="Segoe UI"/>
              </a:rPr>
              <a:t> коптерів.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3198495"/>
            <a:ext cx="8714232" cy="5532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Ураження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бронетехніки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та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ПТРК: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Точкові</a:t>
            </a:r>
            <a:r>
              <a:rPr sz="1800" b="0">
                <a:solidFill>
                  <a:srgbClr val="A5ADBA"/>
                </a:solidFill>
                <a:latin typeface="Segoe UI"/>
              </a:rPr>
              <a:t> удари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баражуючими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боєприпасами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(«Ланцет»)</a:t>
            </a:r>
            <a:r>
              <a:rPr sz="1800" b="0">
                <a:solidFill>
                  <a:srgbClr val="A5ADBA"/>
                </a:solidFill>
                <a:latin typeface="Segoe UI"/>
              </a:rPr>
              <a:t> —</a:t>
            </a:r>
            <a:r>
              <a:rPr sz="1800" b="0">
                <a:solidFill>
                  <a:srgbClr val="A5ADBA"/>
                </a:solidFill>
                <a:latin typeface="Segoe UI"/>
              </a:rPr>
              <a:t> до</a:t>
            </a:r>
            <a:r>
              <a:rPr sz="1800" b="0">
                <a:solidFill>
                  <a:srgbClr val="A5ADBA"/>
                </a:solidFill>
                <a:latin typeface="Segoe UI"/>
              </a:rPr>
              <a:t> 3–5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добу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по</a:t>
            </a:r>
            <a:r>
              <a:rPr sz="1800" b="0">
                <a:solidFill>
                  <a:srgbClr val="A5ADBA"/>
                </a:solidFill>
                <a:latin typeface="Segoe UI"/>
              </a:rPr>
              <a:t> бойових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машинах</a:t>
            </a:r>
            <a:r>
              <a:rPr sz="1800" b="0">
                <a:solidFill>
                  <a:srgbClr val="A5ADBA"/>
                </a:solidFill>
                <a:latin typeface="Segoe UI"/>
              </a:rPr>
              <a:t> і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вогневих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позиціях.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3843147"/>
            <a:ext cx="8714232" cy="5532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Удари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штурмової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та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армійської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авіації:</a:t>
            </a:r>
            <a:r>
              <a:rPr sz="1800" b="0">
                <a:solidFill>
                  <a:srgbClr val="A5ADBA"/>
                </a:solidFill>
                <a:latin typeface="Segoe UI"/>
              </a:rPr>
              <a:t> Підтримка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наступу</a:t>
            </a:r>
            <a:r>
              <a:rPr sz="1800" b="0">
                <a:solidFill>
                  <a:srgbClr val="A5ADBA"/>
                </a:solidFill>
                <a:latin typeface="Segoe UI"/>
              </a:rPr>
              <a:t> до</a:t>
            </a:r>
            <a:r>
              <a:rPr sz="1800" b="0">
                <a:solidFill>
                  <a:srgbClr val="A5ADBA"/>
                </a:solidFill>
                <a:latin typeface="Segoe UI"/>
              </a:rPr>
              <a:t> 2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пар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вертольотів</a:t>
            </a:r>
            <a:r>
              <a:rPr sz="1800" b="0">
                <a:solidFill>
                  <a:srgbClr val="A5ADBA"/>
                </a:solidFill>
                <a:latin typeface="Segoe UI"/>
              </a:rPr>
              <a:t> (Ка-52,</a:t>
            </a:r>
            <a:r>
              <a:rPr sz="1800" b="0">
                <a:solidFill>
                  <a:srgbClr val="A5ADBA"/>
                </a:solidFill>
                <a:latin typeface="Segoe UI"/>
              </a:rPr>
              <a:t> Мі-28,</a:t>
            </a:r>
            <a:r>
              <a:rPr sz="1800" b="0">
                <a:solidFill>
                  <a:srgbClr val="A5ADBA"/>
                </a:solidFill>
                <a:latin typeface="Segoe UI"/>
              </a:rPr>
              <a:t> Мі-24)</a:t>
            </a:r>
            <a:r>
              <a:rPr sz="1800" b="0">
                <a:solidFill>
                  <a:srgbClr val="A5ADBA"/>
                </a:solidFill>
                <a:latin typeface="Segoe UI"/>
              </a:rPr>
              <a:t> з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НАР</a:t>
            </a:r>
            <a:r>
              <a:rPr sz="1800" b="0">
                <a:solidFill>
                  <a:srgbClr val="A5ADBA"/>
                </a:solidFill>
                <a:latin typeface="Segoe UI"/>
              </a:rPr>
              <a:t> і</a:t>
            </a:r>
            <a:r>
              <a:rPr sz="1800" b="0">
                <a:solidFill>
                  <a:srgbClr val="A5ADBA"/>
                </a:solidFill>
                <a:latin typeface="Segoe UI"/>
              </a:rPr>
              <a:t> ПТКР</a:t>
            </a:r>
            <a:r>
              <a:rPr sz="1800" b="0">
                <a:solidFill>
                  <a:srgbClr val="A5ADBA"/>
                </a:solidFill>
                <a:latin typeface="Segoe UI"/>
              </a:rPr>
              <a:t> +</a:t>
            </a:r>
            <a:r>
              <a:rPr sz="1800" b="0">
                <a:solidFill>
                  <a:srgbClr val="A5ADBA"/>
                </a:solidFill>
                <a:latin typeface="Segoe UI"/>
              </a:rPr>
              <a:t> до</a:t>
            </a:r>
            <a:r>
              <a:rPr sz="1800" b="0">
                <a:solidFill>
                  <a:srgbClr val="A5ADBA"/>
                </a:solidFill>
                <a:latin typeface="Segoe UI"/>
              </a:rPr>
              <a:t> 2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пар</a:t>
            </a:r>
            <a:r>
              <a:rPr sz="1800" b="0">
                <a:solidFill>
                  <a:srgbClr val="A5ADBA"/>
                </a:solidFill>
                <a:latin typeface="Segoe UI"/>
              </a:rPr>
              <a:t> штурмовиків</a:t>
            </a:r>
            <a:r>
              <a:rPr sz="1800" b="0">
                <a:solidFill>
                  <a:srgbClr val="A5ADBA"/>
                </a:solidFill>
                <a:latin typeface="Segoe UI"/>
              </a:rPr>
              <a:t> Су-25.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4487799"/>
            <a:ext cx="8714232" cy="5532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Блокування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при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оточенні:</a:t>
            </a:r>
            <a:r>
              <a:rPr sz="1800" b="0">
                <a:solidFill>
                  <a:srgbClr val="A5ADBA"/>
                </a:solidFill>
                <a:latin typeface="Segoe UI"/>
              </a:rPr>
              <a:t> У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разі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ведення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бою</a:t>
            </a:r>
            <a:r>
              <a:rPr sz="1800" b="0">
                <a:solidFill>
                  <a:srgbClr val="A5ADBA"/>
                </a:solidFill>
                <a:latin typeface="Segoe UI"/>
              </a:rPr>
              <a:t> в</a:t>
            </a:r>
            <a:r>
              <a:rPr sz="1800" b="0">
                <a:solidFill>
                  <a:srgbClr val="A5ADBA"/>
                </a:solidFill>
                <a:latin typeface="Segoe UI"/>
              </a:rPr>
              <a:t> оточенні</a:t>
            </a:r>
            <a:r>
              <a:rPr sz="1800" b="0">
                <a:solidFill>
                  <a:srgbClr val="A5ADBA"/>
                </a:solidFill>
                <a:latin typeface="Segoe UI"/>
              </a:rPr>
              <a:t> —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виставлення</a:t>
            </a:r>
            <a:r>
              <a:rPr sz="1800" b="0">
                <a:solidFill>
                  <a:srgbClr val="A5ADBA"/>
                </a:solidFill>
                <a:latin typeface="Segoe UI"/>
              </a:rPr>
              <a:t> 4–6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FPV-дронів</a:t>
            </a:r>
            <a:r>
              <a:rPr sz="1800" b="0">
                <a:solidFill>
                  <a:srgbClr val="A5ADBA"/>
                </a:solidFill>
                <a:latin typeface="Segoe UI"/>
              </a:rPr>
              <a:t> у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режимі</a:t>
            </a:r>
            <a:r>
              <a:rPr sz="1800" b="0">
                <a:solidFill>
                  <a:srgbClr val="A5ADBA"/>
                </a:solidFill>
                <a:latin typeface="Segoe UI"/>
              </a:rPr>
              <a:t> очікування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для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зриву</a:t>
            </a:r>
            <a:r>
              <a:rPr sz="1800" b="0">
                <a:solidFill>
                  <a:srgbClr val="A5ADBA"/>
                </a:solidFill>
                <a:latin typeface="Segoe UI"/>
              </a:rPr>
              <a:t> спроб</a:t>
            </a:r>
            <a:r>
              <a:rPr sz="1800" b="0">
                <a:solidFill>
                  <a:srgbClr val="A5ADBA"/>
                </a:solidFill>
                <a:latin typeface="Segoe UI"/>
              </a:rPr>
              <a:t> евакуації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доставки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БК.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391656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7132320" cy="1851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5ADBA"/>
                </a:solidFill>
                <a:latin typeface="Segoe UI"/>
              </a:rPr>
              <a:t>РТН</a:t>
            </a:r>
            <a:r>
              <a:rPr sz="900" b="0">
                <a:solidFill>
                  <a:srgbClr val="A5ADBA"/>
                </a:solidFill>
                <a:latin typeface="Segoe UI"/>
              </a:rPr>
              <a:t> /</a:t>
            </a:r>
            <a:r>
              <a:rPr sz="900" b="0">
                <a:solidFill>
                  <a:srgbClr val="A5ADBA"/>
                </a:solidFill>
                <a:latin typeface="Segoe UI"/>
              </a:rPr>
              <a:t> МАТЕРІАЛИ</a:t>
            </a:r>
            <a:r>
              <a:rPr sz="900" b="0">
                <a:solidFill>
                  <a:srgbClr val="A5ADBA"/>
                </a:solidFill>
                <a:latin typeface="Segoe UI"/>
              </a:rPr>
              <a:t> БРИФІНГУ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6464808"/>
            <a:ext cx="1444752" cy="2001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9AD78"/>
                </a:solidFill>
                <a:latin typeface="Segoe UI"/>
              </a:rPr>
              <a:t>16</a:t>
            </a:r>
            <a:r>
              <a:rPr sz="1000" b="0">
                <a:solidFill>
                  <a:srgbClr val="C9AD78"/>
                </a:solidFill>
                <a:latin typeface="Segoe UI"/>
              </a:rPr>
              <a:t> /</a:t>
            </a:r>
            <a:r>
              <a:rPr sz="1000" b="0">
                <a:solidFill>
                  <a:srgbClr val="C9AD78"/>
                </a:solidFill>
                <a:latin typeface="Segoe UI"/>
              </a:rPr>
              <a:t>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93192"/>
            <a:ext cx="11003279" cy="2076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AD78"/>
                </a:solidFill>
                <a:latin typeface="Segoe UI Semibold"/>
              </a:rPr>
              <a:t>ТАКТИЧНИЙ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ЕПІЗОД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2.3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79" cy="469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1EB"/>
                </a:solidFill>
                <a:latin typeface="Segoe UI Semibold"/>
              </a:rPr>
              <a:t>Ближній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бій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у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лісовому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масиві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та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кругова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оборона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74064"/>
            <a:ext cx="11003279" cy="2602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A5ADBA"/>
                </a:solidFill>
                <a:latin typeface="Segoe UI"/>
              </a:rPr>
              <a:t>Відбиття</a:t>
            </a:r>
            <a:r>
              <a:rPr sz="1450" b="0">
                <a:solidFill>
                  <a:srgbClr val="A5ADBA"/>
                </a:solidFill>
                <a:latin typeface="Segoe UI"/>
              </a:rPr>
              <a:t> штурму,</a:t>
            </a:r>
            <a:r>
              <a:rPr sz="1450" b="0">
                <a:solidFill>
                  <a:srgbClr val="A5ADBA"/>
                </a:solidFill>
                <a:latin typeface="Segoe UI"/>
              </a:rPr>
              <a:t> відбиття</a:t>
            </a:r>
            <a:r>
              <a:rPr sz="1450" b="0">
                <a:solidFill>
                  <a:srgbClr val="A5ADBA"/>
                </a:solidFill>
                <a:latin typeface="Segoe UI"/>
              </a:rPr>
              <a:t> авіаційних</a:t>
            </a:r>
            <a:r>
              <a:rPr sz="1450" b="0">
                <a:solidFill>
                  <a:srgbClr val="A5ADBA"/>
                </a:solidFill>
                <a:latin typeface="Segoe UI"/>
              </a:rPr>
              <a:t> ударів</a:t>
            </a:r>
            <a:r>
              <a:rPr sz="1450" b="0">
                <a:solidFill>
                  <a:srgbClr val="A5ADBA"/>
                </a:solidFill>
                <a:latin typeface="Segoe UI"/>
              </a:rPr>
              <a:t> і</a:t>
            </a:r>
            <a:r>
              <a:rPr sz="1450" b="0">
                <a:solidFill>
                  <a:srgbClr val="A5ADBA"/>
                </a:solidFill>
                <a:latin typeface="Segoe UI"/>
              </a:rPr>
              <a:t> дій</a:t>
            </a:r>
            <a:r>
              <a:rPr sz="1450" b="0">
                <a:solidFill>
                  <a:srgbClr val="A5ADBA"/>
                </a:solidFill>
                <a:latin typeface="Segoe UI"/>
              </a:rPr>
              <a:t> засобів</a:t>
            </a:r>
            <a:r>
              <a:rPr sz="1450" b="0">
                <a:solidFill>
                  <a:srgbClr val="A5ADBA"/>
                </a:solidFill>
                <a:latin typeface="Segoe UI"/>
              </a:rPr>
              <a:t> повітряного</a:t>
            </a:r>
            <a:r>
              <a:rPr sz="1450" b="0">
                <a:solidFill>
                  <a:srgbClr val="A5ADBA"/>
                </a:solidFill>
                <a:latin typeface="Segoe UI"/>
              </a:rPr>
              <a:t> нападу</a:t>
            </a:r>
            <a:r>
              <a:rPr sz="1450" b="0">
                <a:solidFill>
                  <a:srgbClr val="A5ADBA"/>
                </a:solidFill>
                <a:latin typeface="Segoe UI"/>
              </a:rPr>
              <a:t> в</a:t>
            </a:r>
            <a:r>
              <a:rPr sz="1450" b="0">
                <a:solidFill>
                  <a:srgbClr val="A5ADBA"/>
                </a:solidFill>
                <a:latin typeface="Segoe UI"/>
              </a:rPr>
              <a:t> умовах</a:t>
            </a:r>
            <a:r>
              <a:rPr sz="1450" b="0">
                <a:solidFill>
                  <a:srgbClr val="A5ADBA"/>
                </a:solidFill>
                <a:latin typeface="Segoe UI"/>
              </a:rPr>
              <a:t> блокування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89735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90903"/>
            <a:ext cx="1965960" cy="102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670"/>
              </a:lnSpc>
              <a:spcBef>
                <a:spcPts val="0"/>
              </a:spcBef>
              <a:spcAft>
                <a:spcPts val="0"/>
              </a:spcAft>
            </a:pPr>
            <a:r>
              <a:rPr sz="6500" b="0">
                <a:solidFill>
                  <a:srgbClr val="C9AD78"/>
                </a:solidFill>
                <a:latin typeface="Segoe UI"/>
              </a:rPr>
              <a:t>2.3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60751"/>
            <a:ext cx="2057400" cy="469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9AD78"/>
                </a:solidFill>
                <a:latin typeface="Segoe UI Semibold"/>
              </a:rPr>
              <a:t>ПРОТИДІЯ</a:t>
            </a:r>
            <a:r>
              <a:rPr sz="1400" b="1">
                <a:solidFill>
                  <a:srgbClr val="C9AD78"/>
                </a:solidFill>
                <a:latin typeface="Segoe UI Semibold"/>
              </a:rPr>
              <a:t> ТА</a:t>
            </a:r>
            <a:r>
              <a:rPr sz="1400" b="1">
                <a:solidFill>
                  <a:srgbClr val="C9AD78"/>
                </a:solidFill>
                <a:latin typeface="Segoe UI Semibold"/>
              </a:rPr>
              <a:t> ДІЇ</a:t>
            </a:r>
            <a:br/>
            <a:r>
              <a:rPr sz="1400" b="1">
                <a:solidFill>
                  <a:srgbClr val="C9AD78"/>
                </a:solidFill>
                <a:latin typeface="Segoe UI Semibold"/>
              </a:rPr>
              <a:t>СВОЇХ</a:t>
            </a:r>
            <a:r>
              <a:rPr sz="1400" b="1">
                <a:solidFill>
                  <a:srgbClr val="C9AD78"/>
                </a:solidFill>
                <a:latin typeface="Segoe UI Semibold"/>
              </a:rPr>
              <a:t> ВІЙСЬК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909191"/>
            <a:ext cx="8714232" cy="804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Кругове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360°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спостереження: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Пости</a:t>
            </a:r>
            <a:r>
              <a:rPr sz="1800" b="0">
                <a:solidFill>
                  <a:srgbClr val="A5ADBA"/>
                </a:solidFill>
                <a:latin typeface="Segoe UI"/>
              </a:rPr>
              <a:t> спостереження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ведуть</a:t>
            </a:r>
            <a:r>
              <a:rPr sz="1800" b="0">
                <a:solidFill>
                  <a:srgbClr val="A5ADBA"/>
                </a:solidFill>
                <a:latin typeface="Segoe UI"/>
              </a:rPr>
              <a:t> безперервний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круговий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нагляд</a:t>
            </a:r>
            <a:r>
              <a:rPr sz="1800" b="0">
                <a:solidFill>
                  <a:srgbClr val="A5ADBA"/>
                </a:solidFill>
                <a:latin typeface="Segoe UI"/>
              </a:rPr>
              <a:t> за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повітрям</a:t>
            </a:r>
            <a:r>
              <a:rPr sz="1800" b="0">
                <a:solidFill>
                  <a:srgbClr val="A5ADBA"/>
                </a:solidFill>
                <a:latin typeface="Segoe UI"/>
              </a:rPr>
              <a:t> (візуал,</a:t>
            </a:r>
            <a:r>
              <a:rPr sz="1800" b="0">
                <a:solidFill>
                  <a:srgbClr val="A5ADBA"/>
                </a:solidFill>
                <a:latin typeface="Segoe UI"/>
              </a:rPr>
              <a:t> слух;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вночі</a:t>
            </a:r>
            <a:r>
              <a:rPr sz="1800" b="0">
                <a:solidFill>
                  <a:srgbClr val="A5ADBA"/>
                </a:solidFill>
                <a:latin typeface="Segoe UI"/>
              </a:rPr>
              <a:t> —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тепловізори),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взаємодіють</a:t>
            </a:r>
            <a:r>
              <a:rPr sz="1800" b="0">
                <a:solidFill>
                  <a:srgbClr val="A5ADBA"/>
                </a:solidFill>
                <a:latin typeface="Segoe UI"/>
              </a:rPr>
              <a:t> з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СН.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805303"/>
            <a:ext cx="8714232" cy="804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Штатна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протиповітряна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ланка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у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відділеннях:</a:t>
            </a:r>
            <a:r>
              <a:rPr sz="1800" b="0">
                <a:solidFill>
                  <a:srgbClr val="A5ADBA"/>
                </a:solidFill>
                <a:latin typeface="Segoe UI"/>
              </a:rPr>
              <a:t> У</a:t>
            </a:r>
            <a:r>
              <a:rPr sz="1800" b="0">
                <a:solidFill>
                  <a:srgbClr val="A5ADBA"/>
                </a:solidFill>
                <a:latin typeface="Segoe UI"/>
              </a:rPr>
              <a:t> кожній</a:t>
            </a:r>
            <a:r>
              <a:rPr sz="1800" b="0">
                <a:solidFill>
                  <a:srgbClr val="A5ADBA"/>
                </a:solidFill>
                <a:latin typeface="Segoe UI"/>
              </a:rPr>
              <a:t> групі/відділенні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призначається</a:t>
            </a:r>
            <a:r>
              <a:rPr sz="1800" b="0">
                <a:solidFill>
                  <a:srgbClr val="A5ADBA"/>
                </a:solidFill>
                <a:latin typeface="Segoe UI"/>
              </a:rPr>
              <a:t> черговий</a:t>
            </a:r>
            <a:r>
              <a:rPr sz="1800" b="0">
                <a:solidFill>
                  <a:srgbClr val="A5ADBA"/>
                </a:solidFill>
                <a:latin typeface="Segoe UI"/>
              </a:rPr>
              <a:t> стрілець</a:t>
            </a:r>
            <a:r>
              <a:rPr sz="1800" b="0">
                <a:solidFill>
                  <a:srgbClr val="A5ADBA"/>
                </a:solidFill>
                <a:latin typeface="Segoe UI"/>
              </a:rPr>
              <a:t> з</a:t>
            </a:r>
            <a:r>
              <a:rPr sz="1800" b="0">
                <a:solidFill>
                  <a:srgbClr val="A5ADBA"/>
                </a:solidFill>
                <a:latin typeface="Segoe UI"/>
              </a:rPr>
              <a:t> помповою</a:t>
            </a:r>
            <a:r>
              <a:rPr sz="1800" b="0">
                <a:solidFill>
                  <a:srgbClr val="A5ADBA"/>
                </a:solidFill>
                <a:latin typeface="Segoe UI"/>
              </a:rPr>
              <a:t> рушницею</a:t>
            </a:r>
            <a:r>
              <a:rPr sz="1800" b="0">
                <a:solidFill>
                  <a:srgbClr val="A5ADBA"/>
                </a:solidFill>
                <a:latin typeface="Segoe UI"/>
              </a:rPr>
              <a:t> 12к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автоматом</a:t>
            </a:r>
            <a:r>
              <a:rPr sz="1800" b="0">
                <a:solidFill>
                  <a:srgbClr val="A5ADBA"/>
                </a:solidFill>
                <a:latin typeface="Segoe UI"/>
              </a:rPr>
              <a:t> для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відбиття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атак</a:t>
            </a:r>
            <a:r>
              <a:rPr sz="1800" b="0">
                <a:solidFill>
                  <a:srgbClr val="A5ADBA"/>
                </a:solidFill>
                <a:latin typeface="Segoe UI"/>
              </a:rPr>
              <a:t> FPV.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3701415"/>
            <a:ext cx="8714232" cy="804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Вогонь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по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вертольотах:</a:t>
            </a:r>
            <a:r>
              <a:rPr sz="1800" b="0">
                <a:solidFill>
                  <a:srgbClr val="A5ADBA"/>
                </a:solidFill>
                <a:latin typeface="Segoe UI"/>
              </a:rPr>
              <a:t> При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прольоті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вертольотів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малих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висотах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відкривається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зосереджений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вогонь</a:t>
            </a:r>
            <a:r>
              <a:rPr sz="1800" b="0">
                <a:solidFill>
                  <a:srgbClr val="A5ADBA"/>
                </a:solidFill>
                <a:latin typeface="Segoe UI"/>
              </a:rPr>
              <a:t> зі</a:t>
            </a:r>
            <a:r>
              <a:rPr sz="1800" b="0">
                <a:solidFill>
                  <a:srgbClr val="A5ADBA"/>
                </a:solidFill>
                <a:latin typeface="Segoe UI"/>
              </a:rPr>
              <a:t> стрілецької</a:t>
            </a:r>
            <a:r>
              <a:rPr sz="1800" b="0">
                <a:solidFill>
                  <a:srgbClr val="A5ADBA"/>
                </a:solidFill>
                <a:latin typeface="Segoe UI"/>
              </a:rPr>
              <a:t> зброї</a:t>
            </a:r>
            <a:r>
              <a:rPr sz="1800" b="0">
                <a:solidFill>
                  <a:srgbClr val="A5ADBA"/>
                </a:solidFill>
                <a:latin typeface="Segoe UI"/>
              </a:rPr>
              <a:t> —</a:t>
            </a:r>
            <a:r>
              <a:rPr sz="1800" b="0">
                <a:solidFill>
                  <a:srgbClr val="A5ADBA"/>
                </a:solidFill>
                <a:latin typeface="Segoe UI"/>
              </a:rPr>
              <a:t> за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наказом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командира.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391656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7132320" cy="1851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5ADBA"/>
                </a:solidFill>
                <a:latin typeface="Segoe UI"/>
              </a:rPr>
              <a:t>РТН</a:t>
            </a:r>
            <a:r>
              <a:rPr sz="900" b="0">
                <a:solidFill>
                  <a:srgbClr val="A5ADBA"/>
                </a:solidFill>
                <a:latin typeface="Segoe UI"/>
              </a:rPr>
              <a:t> /</a:t>
            </a:r>
            <a:r>
              <a:rPr sz="900" b="0">
                <a:solidFill>
                  <a:srgbClr val="A5ADBA"/>
                </a:solidFill>
                <a:latin typeface="Segoe UI"/>
              </a:rPr>
              <a:t> МАТЕРІАЛИ</a:t>
            </a:r>
            <a:r>
              <a:rPr sz="900" b="0">
                <a:solidFill>
                  <a:srgbClr val="A5ADBA"/>
                </a:solidFill>
                <a:latin typeface="Segoe UI"/>
              </a:rPr>
              <a:t> БРИФІНГУ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6464808"/>
            <a:ext cx="1444752" cy="2001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9AD78"/>
                </a:solidFill>
                <a:latin typeface="Segoe UI"/>
              </a:rPr>
              <a:t>17</a:t>
            </a:r>
            <a:r>
              <a:rPr sz="1000" b="0">
                <a:solidFill>
                  <a:srgbClr val="C9AD78"/>
                </a:solidFill>
                <a:latin typeface="Segoe UI"/>
              </a:rPr>
              <a:t> /</a:t>
            </a:r>
            <a:r>
              <a:rPr sz="1000" b="0">
                <a:solidFill>
                  <a:srgbClr val="C9AD78"/>
                </a:solidFill>
                <a:latin typeface="Segoe UI"/>
              </a:rPr>
              <a:t>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93192"/>
            <a:ext cx="11003279" cy="2076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AD78"/>
                </a:solidFill>
                <a:latin typeface="Segoe UI Semibold"/>
              </a:rPr>
              <a:t>ТАКТИЧНИЙ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ЕПІЗОД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2.3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79" cy="469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1EB"/>
                </a:solidFill>
                <a:latin typeface="Segoe UI Semibold"/>
              </a:rPr>
              <a:t>Ближній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бій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у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лісовому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масиві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та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кругова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оборона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65504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66672"/>
            <a:ext cx="1965960" cy="10243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7670"/>
              </a:lnSpc>
              <a:spcBef>
                <a:spcPts val="0"/>
              </a:spcBef>
              <a:spcAft>
                <a:spcPts val="0"/>
              </a:spcAft>
            </a:pPr>
            <a:r>
              <a:rPr sz="6500" b="0">
                <a:solidFill>
                  <a:srgbClr val="C9AD78"/>
                </a:solidFill>
                <a:latin typeface="Segoe UI"/>
              </a:rPr>
              <a:t>2.3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36520"/>
            <a:ext cx="2057400" cy="469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9AD78"/>
                </a:solidFill>
                <a:latin typeface="Segoe UI Semibold"/>
              </a:rPr>
              <a:t>ПРОТИДІЯ</a:t>
            </a:r>
            <a:r>
              <a:rPr sz="1400" b="1">
                <a:solidFill>
                  <a:srgbClr val="C9AD78"/>
                </a:solidFill>
                <a:latin typeface="Segoe UI Semibold"/>
              </a:rPr>
              <a:t> ТА</a:t>
            </a:r>
            <a:r>
              <a:rPr sz="1400" b="1">
                <a:solidFill>
                  <a:srgbClr val="C9AD78"/>
                </a:solidFill>
                <a:latin typeface="Segoe UI Semibold"/>
              </a:rPr>
              <a:t> ДІЇ</a:t>
            </a:r>
            <a:br/>
            <a:r>
              <a:rPr sz="1400" b="1">
                <a:solidFill>
                  <a:srgbClr val="C9AD78"/>
                </a:solidFill>
                <a:latin typeface="Segoe UI Semibold"/>
              </a:rPr>
              <a:t>СВОЇХ</a:t>
            </a:r>
            <a:r>
              <a:rPr sz="1400" b="1">
                <a:solidFill>
                  <a:srgbClr val="C9AD78"/>
                </a:solidFill>
                <a:latin typeface="Segoe UI Semibold"/>
              </a:rPr>
              <a:t> ВІЙСЬК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584960"/>
            <a:ext cx="8714232" cy="804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Інженерний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захист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окопів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і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траншей: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Над</a:t>
            </a:r>
            <a:r>
              <a:rPr sz="1800" b="0">
                <a:solidFill>
                  <a:srgbClr val="A5ADBA"/>
                </a:solidFill>
                <a:latin typeface="Segoe UI"/>
              </a:rPr>
              <a:t> усіма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окопами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й</a:t>
            </a:r>
            <a:r>
              <a:rPr sz="1800" b="0">
                <a:solidFill>
                  <a:srgbClr val="A5ADBA"/>
                </a:solidFill>
                <a:latin typeface="Segoe UI"/>
              </a:rPr>
              <a:t> ходами</a:t>
            </a:r>
            <a:r>
              <a:rPr sz="1800" b="0">
                <a:solidFill>
                  <a:srgbClr val="A5ADBA"/>
                </a:solidFill>
                <a:latin typeface="Segoe UI"/>
              </a:rPr>
              <a:t> сполучення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натягуються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протидронові</a:t>
            </a:r>
            <a:r>
              <a:rPr sz="1800" b="0">
                <a:solidFill>
                  <a:srgbClr val="A5ADBA"/>
                </a:solidFill>
                <a:latin typeface="Segoe UI"/>
              </a:rPr>
              <a:t> сітки</a:t>
            </a:r>
            <a:r>
              <a:rPr sz="1800" b="0">
                <a:solidFill>
                  <a:srgbClr val="A5ADBA"/>
                </a:solidFill>
                <a:latin typeface="Segoe UI"/>
              </a:rPr>
              <a:t> та</a:t>
            </a:r>
            <a:r>
              <a:rPr sz="1800" b="0">
                <a:solidFill>
                  <a:srgbClr val="A5ADBA"/>
                </a:solidFill>
                <a:latin typeface="Segoe UI"/>
              </a:rPr>
              <a:t> спіральний</a:t>
            </a:r>
            <a:r>
              <a:rPr sz="1800" b="0">
                <a:solidFill>
                  <a:srgbClr val="A5ADBA"/>
                </a:solidFill>
                <a:latin typeface="Segoe UI"/>
              </a:rPr>
              <a:t> дріт</a:t>
            </a:r>
            <a:r>
              <a:rPr sz="1800" b="0">
                <a:solidFill>
                  <a:srgbClr val="A5ADBA"/>
                </a:solidFill>
                <a:latin typeface="Segoe UI"/>
              </a:rPr>
              <a:t> (блокує</a:t>
            </a:r>
            <a:r>
              <a:rPr sz="1800" b="0">
                <a:solidFill>
                  <a:srgbClr val="A5ADBA"/>
                </a:solidFill>
                <a:latin typeface="Segoe UI"/>
              </a:rPr>
              <a:t> оптичне</a:t>
            </a:r>
            <a:r>
              <a:rPr sz="1800" b="0">
                <a:solidFill>
                  <a:srgbClr val="A5ADBA"/>
                </a:solidFill>
                <a:latin typeface="Segoe UI"/>
              </a:rPr>
              <a:t> волокно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FPV).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481072"/>
            <a:ext cx="8714232" cy="5532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3F1EB"/>
                </a:solidFill>
                <a:latin typeface="Segoe UI Semibold"/>
              </a:rPr>
              <a:t>•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Захист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техніки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та</a:t>
            </a:r>
            <a:r>
              <a:rPr sz="1800" b="1">
                <a:solidFill>
                  <a:srgbClr val="F3F1EB"/>
                </a:solidFill>
                <a:latin typeface="Segoe UI Semibold"/>
              </a:rPr>
              <a:t> позицій:</a:t>
            </a:r>
            <a:r>
              <a:rPr sz="1800" b="0">
                <a:solidFill>
                  <a:srgbClr val="A5ADBA"/>
                </a:solidFill>
                <a:latin typeface="Segoe UI"/>
              </a:rPr>
              <a:t> Бронетехніка</a:t>
            </a:r>
            <a:r>
              <a:rPr sz="1800" b="0">
                <a:solidFill>
                  <a:srgbClr val="A5ADBA"/>
                </a:solidFill>
                <a:latin typeface="Segoe UI"/>
              </a:rPr>
              <a:t> прикривається</a:t>
            </a:r>
            <a:r>
              <a:rPr sz="1800" b="0">
                <a:solidFill>
                  <a:srgbClr val="A5ADBA"/>
                </a:solidFill>
                <a:latin typeface="Segoe UI"/>
              </a:rPr>
              <a:t> сітчастими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екранами;</a:t>
            </a:r>
            <a:br/>
            <a:r>
              <a:rPr sz="1800" b="0">
                <a:solidFill>
                  <a:srgbClr val="A5ADBA"/>
                </a:solidFill>
                <a:latin typeface="Segoe UI"/>
              </a:rPr>
              <a:t>позиції</a:t>
            </a:r>
            <a:r>
              <a:rPr sz="1800" b="0">
                <a:solidFill>
                  <a:srgbClr val="A5ADBA"/>
                </a:solidFill>
                <a:latin typeface="Segoe UI"/>
              </a:rPr>
              <a:t> маскуються</a:t>
            </a:r>
            <a:r>
              <a:rPr sz="1800" b="0">
                <a:solidFill>
                  <a:srgbClr val="A5ADBA"/>
                </a:solidFill>
                <a:latin typeface="Segoe UI"/>
              </a:rPr>
              <a:t> під</a:t>
            </a:r>
            <a:r>
              <a:rPr sz="1800" b="0">
                <a:solidFill>
                  <a:srgbClr val="A5ADBA"/>
                </a:solidFill>
                <a:latin typeface="Segoe UI"/>
              </a:rPr>
              <a:t> рельєф</a:t>
            </a:r>
            <a:r>
              <a:rPr sz="1800" b="0">
                <a:solidFill>
                  <a:srgbClr val="A5ADBA"/>
                </a:solidFill>
                <a:latin typeface="Segoe UI"/>
              </a:rPr>
              <a:t> і</a:t>
            </a:r>
            <a:r>
              <a:rPr sz="1800" b="0">
                <a:solidFill>
                  <a:srgbClr val="A5ADBA"/>
                </a:solidFill>
                <a:latin typeface="Segoe UI"/>
              </a:rPr>
              <a:t> крони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дерев;</a:t>
            </a:r>
            <a:r>
              <a:rPr sz="1800" b="0">
                <a:solidFill>
                  <a:srgbClr val="A5ADBA"/>
                </a:solidFill>
                <a:latin typeface="Segoe UI"/>
              </a:rPr>
              <a:t> бійці</a:t>
            </a:r>
            <a:r>
              <a:rPr sz="1800" b="0">
                <a:solidFill>
                  <a:srgbClr val="A5ADBA"/>
                </a:solidFill>
                <a:latin typeface="Segoe UI"/>
              </a:rPr>
              <a:t> —</a:t>
            </a:r>
            <a:r>
              <a:rPr sz="1800" b="0">
                <a:solidFill>
                  <a:srgbClr val="A5ADBA"/>
                </a:solidFill>
                <a:latin typeface="Segoe UI"/>
              </a:rPr>
              <a:t> тільки</a:t>
            </a:r>
            <a:r>
              <a:rPr sz="1800" b="0">
                <a:solidFill>
                  <a:srgbClr val="A5ADBA"/>
                </a:solidFill>
                <a:latin typeface="Segoe UI"/>
              </a:rPr>
              <a:t> під</a:t>
            </a:r>
            <a:r>
              <a:rPr sz="1800" b="0">
                <a:solidFill>
                  <a:srgbClr val="A5ADBA"/>
                </a:solidFill>
                <a:latin typeface="Segoe UI"/>
              </a:rPr>
              <a:t> накатом.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391656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7132320" cy="1851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5ADBA"/>
                </a:solidFill>
                <a:latin typeface="Segoe UI"/>
              </a:rPr>
              <a:t>РТН</a:t>
            </a:r>
            <a:r>
              <a:rPr sz="900" b="0">
                <a:solidFill>
                  <a:srgbClr val="A5ADBA"/>
                </a:solidFill>
                <a:latin typeface="Segoe UI"/>
              </a:rPr>
              <a:t> /</a:t>
            </a:r>
            <a:r>
              <a:rPr sz="900" b="0">
                <a:solidFill>
                  <a:srgbClr val="A5ADBA"/>
                </a:solidFill>
                <a:latin typeface="Segoe UI"/>
              </a:rPr>
              <a:t> МАТЕРІАЛИ</a:t>
            </a:r>
            <a:r>
              <a:rPr sz="900" b="0">
                <a:solidFill>
                  <a:srgbClr val="A5ADBA"/>
                </a:solidFill>
                <a:latin typeface="Segoe UI"/>
              </a:rPr>
              <a:t> БРИФІНГУ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6464808"/>
            <a:ext cx="1444752" cy="2001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9AD78"/>
                </a:solidFill>
                <a:latin typeface="Segoe UI"/>
              </a:rPr>
              <a:t>18</a:t>
            </a:r>
            <a:r>
              <a:rPr sz="1000" b="0">
                <a:solidFill>
                  <a:srgbClr val="C9AD78"/>
                </a:solidFill>
                <a:latin typeface="Segoe UI"/>
              </a:rPr>
              <a:t> /</a:t>
            </a:r>
            <a:r>
              <a:rPr sz="1000" b="0">
                <a:solidFill>
                  <a:srgbClr val="C9AD78"/>
                </a:solidFill>
                <a:latin typeface="Segoe UI"/>
              </a:rPr>
              <a:t>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93192"/>
            <a:ext cx="11003279" cy="2076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AD78"/>
                </a:solidFill>
                <a:latin typeface="Segoe UI Semibold"/>
              </a:rPr>
              <a:t>ПАМ'ЯТКА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ТА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ВИСНОВКИ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79" cy="8884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1EB"/>
                </a:solidFill>
                <a:latin typeface="Segoe UI Semibold"/>
              </a:rPr>
              <a:t>Зведена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матриця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протидії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загрозам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та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правила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живучості</a:t>
            </a:r>
            <a:br/>
            <a:r>
              <a:rPr sz="3000" b="1">
                <a:solidFill>
                  <a:srgbClr val="F3F1EB"/>
                </a:solidFill>
                <a:latin typeface="Segoe UI Semibold"/>
              </a:rPr>
              <a:t>РТГр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93164"/>
            <a:ext cx="11003279" cy="2602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A5ADBA"/>
                </a:solidFill>
                <a:latin typeface="Segoe UI"/>
              </a:rPr>
              <a:t>Швидкий</a:t>
            </a:r>
            <a:r>
              <a:rPr sz="1450" b="0">
                <a:solidFill>
                  <a:srgbClr val="A5ADBA"/>
                </a:solidFill>
                <a:latin typeface="Segoe UI"/>
              </a:rPr>
              <a:t> алгоритм</a:t>
            </a:r>
            <a:r>
              <a:rPr sz="1450" b="0">
                <a:solidFill>
                  <a:srgbClr val="A5ADBA"/>
                </a:solidFill>
                <a:latin typeface="Segoe UI"/>
              </a:rPr>
              <a:t> дій</a:t>
            </a:r>
            <a:r>
              <a:rPr sz="1450" b="0">
                <a:solidFill>
                  <a:srgbClr val="A5ADBA"/>
                </a:solidFill>
                <a:latin typeface="Segoe UI"/>
              </a:rPr>
              <a:t> підрозділу</a:t>
            </a:r>
            <a:r>
              <a:rPr sz="1450" b="0">
                <a:solidFill>
                  <a:srgbClr val="A5ADBA"/>
                </a:solidFill>
                <a:latin typeface="Segoe UI"/>
              </a:rPr>
              <a:t> за</a:t>
            </a:r>
            <a:r>
              <a:rPr sz="1450" b="0">
                <a:solidFill>
                  <a:srgbClr val="A5ADBA"/>
                </a:solidFill>
                <a:latin typeface="Segoe UI"/>
              </a:rPr>
              <a:t> типами</a:t>
            </a:r>
            <a:r>
              <a:rPr sz="1450" b="0">
                <a:solidFill>
                  <a:srgbClr val="A5ADBA"/>
                </a:solidFill>
                <a:latin typeface="Segoe UI"/>
              </a:rPr>
              <a:t> ворожих</a:t>
            </a:r>
            <a:r>
              <a:rPr sz="1450" b="0">
                <a:solidFill>
                  <a:srgbClr val="A5ADBA"/>
                </a:solidFill>
                <a:latin typeface="Segoe UI"/>
              </a:rPr>
              <a:t> засобів</a:t>
            </a:r>
            <a:r>
              <a:rPr sz="1450" b="0">
                <a:solidFill>
                  <a:srgbClr val="A5ADBA"/>
                </a:solidFill>
                <a:latin typeface="Segoe UI"/>
              </a:rPr>
              <a:t> повітряного</a:t>
            </a:r>
            <a:r>
              <a:rPr sz="1450" b="0">
                <a:solidFill>
                  <a:srgbClr val="A5ADBA"/>
                </a:solidFill>
                <a:latin typeface="Segoe UI"/>
              </a:rPr>
              <a:t> нападу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108835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328291"/>
            <a:ext cx="2148840" cy="2301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9AD78"/>
                </a:solidFill>
                <a:latin typeface="Segoe UI Semibold"/>
              </a:rPr>
              <a:t>ТИП</a:t>
            </a:r>
            <a:r>
              <a:rPr sz="1200" b="1">
                <a:solidFill>
                  <a:srgbClr val="C9AD78"/>
                </a:solidFill>
                <a:latin typeface="Segoe UI Semibold"/>
              </a:rPr>
              <a:t> ЗАГРОЗИ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2328291"/>
            <a:ext cx="2194560" cy="2301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9AD78"/>
                </a:solidFill>
                <a:latin typeface="Segoe UI Semibold"/>
              </a:rPr>
              <a:t>ПАРАМЕТРИ</a:t>
            </a:r>
            <a:r>
              <a:rPr sz="1200" b="1">
                <a:solidFill>
                  <a:srgbClr val="C9AD78"/>
                </a:solidFill>
                <a:latin typeface="Segoe UI Semibold"/>
              </a:rPr>
              <a:t> ВОРОГА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2328291"/>
            <a:ext cx="2743200" cy="2301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9AD78"/>
                </a:solidFill>
                <a:latin typeface="Segoe UI Semibold"/>
              </a:rPr>
              <a:t>СПОСІБ</a:t>
            </a:r>
            <a:r>
              <a:rPr sz="1200" b="1">
                <a:solidFill>
                  <a:srgbClr val="C9AD78"/>
                </a:solidFill>
                <a:latin typeface="Segoe UI Semibold"/>
              </a:rPr>
              <a:t> ВИЯВЛЕННЯ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328291"/>
            <a:ext cx="3227832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9AD78"/>
                </a:solidFill>
                <a:latin typeface="Segoe UI Semibold"/>
              </a:rPr>
              <a:t>ОСНОВНИЙ</a:t>
            </a:r>
            <a:r>
              <a:rPr sz="1200" b="1">
                <a:solidFill>
                  <a:srgbClr val="C9AD78"/>
                </a:solidFill>
                <a:latin typeface="Segoe UI Semibold"/>
              </a:rPr>
              <a:t> СПОСІБ</a:t>
            </a:r>
            <a:r>
              <a:rPr sz="1200" b="1">
                <a:solidFill>
                  <a:srgbClr val="C9AD78"/>
                </a:solidFill>
                <a:latin typeface="Segoe UI Semibold"/>
              </a:rPr>
              <a:t> ПРОТИДІЇ</a:t>
            </a:r>
            <a:r>
              <a:rPr sz="1200" b="1">
                <a:solidFill>
                  <a:srgbClr val="C9AD78"/>
                </a:solidFill>
                <a:latin typeface="Segoe UI Semibold"/>
              </a:rPr>
              <a:t> ТА</a:t>
            </a:r>
            <a:br/>
            <a:r>
              <a:rPr sz="1200" b="1">
                <a:solidFill>
                  <a:srgbClr val="C9AD78"/>
                </a:solidFill>
                <a:latin typeface="Segoe UI Semibold"/>
              </a:rPr>
              <a:t>ЗАХИСТУ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875407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076575"/>
            <a:ext cx="2148840" cy="5448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3F1EB"/>
                </a:solidFill>
                <a:latin typeface="Segoe UI Semibold"/>
              </a:rPr>
              <a:t>FPV-дрони</a:t>
            </a:r>
            <a:r>
              <a:rPr sz="1650" b="1">
                <a:solidFill>
                  <a:srgbClr val="F3F1EB"/>
                </a:solidFill>
                <a:latin typeface="Segoe UI Semibold"/>
              </a:rPr>
              <a:t> (ударні</a:t>
            </a:r>
            <a:r>
              <a:rPr sz="1650" b="1">
                <a:solidFill>
                  <a:srgbClr val="F3F1EB"/>
                </a:solidFill>
                <a:latin typeface="Segoe UI Semibold"/>
              </a:rPr>
              <a:t> /</a:t>
            </a:r>
            <a:br/>
            <a:r>
              <a:rPr sz="1650" b="1">
                <a:solidFill>
                  <a:srgbClr val="F3F1EB"/>
                </a:solidFill>
                <a:latin typeface="Segoe UI Semibold"/>
              </a:rPr>
              <a:t>скиди)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3076575"/>
            <a:ext cx="2194560" cy="7920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A5ADBA"/>
                </a:solidFill>
                <a:latin typeface="Segoe UI"/>
              </a:rPr>
              <a:t>25–30/добу,</a:t>
            </a:r>
            <a:r>
              <a:rPr sz="1650" b="0">
                <a:solidFill>
                  <a:srgbClr val="A5ADBA"/>
                </a:solidFill>
                <a:latin typeface="Segoe UI"/>
              </a:rPr>
              <a:t> нальоти</a:t>
            </a:r>
            <a:br/>
            <a:r>
              <a:rPr sz="1650" b="0">
                <a:solidFill>
                  <a:srgbClr val="A5ADBA"/>
                </a:solidFill>
                <a:latin typeface="Segoe UI"/>
              </a:rPr>
              <a:t>по</a:t>
            </a:r>
            <a:r>
              <a:rPr sz="1650" b="0">
                <a:solidFill>
                  <a:srgbClr val="A5ADBA"/>
                </a:solidFill>
                <a:latin typeface="Segoe UI"/>
              </a:rPr>
              <a:t> 10–15</a:t>
            </a:r>
            <a:r>
              <a:rPr sz="1650" b="0">
                <a:solidFill>
                  <a:srgbClr val="A5ADBA"/>
                </a:solidFill>
                <a:latin typeface="Segoe UI"/>
              </a:rPr>
              <a:t> од.,</a:t>
            </a:r>
            <a:r>
              <a:rPr sz="1650" b="0">
                <a:solidFill>
                  <a:srgbClr val="A5ADBA"/>
                </a:solidFill>
                <a:latin typeface="Segoe UI"/>
              </a:rPr>
              <a:t> 4–6</a:t>
            </a:r>
            <a:r>
              <a:rPr sz="1650" b="0">
                <a:solidFill>
                  <a:srgbClr val="A5ADBA"/>
                </a:solidFill>
                <a:latin typeface="Segoe UI"/>
              </a:rPr>
              <a:t> у</a:t>
            </a:r>
            <a:br/>
            <a:r>
              <a:rPr sz="1650" b="0">
                <a:solidFill>
                  <a:srgbClr val="A5ADBA"/>
                </a:solidFill>
                <a:latin typeface="Segoe UI"/>
              </a:rPr>
              <a:t>засідках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3076575"/>
            <a:ext cx="2743200" cy="7920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A5ADBA"/>
                </a:solidFill>
                <a:latin typeface="Segoe UI"/>
              </a:rPr>
              <a:t>Акустично</a:t>
            </a:r>
            <a:r>
              <a:rPr sz="1650" b="0">
                <a:solidFill>
                  <a:srgbClr val="A5ADBA"/>
                </a:solidFill>
                <a:latin typeface="Segoe UI"/>
              </a:rPr>
              <a:t> (гул</a:t>
            </a:r>
            <a:br/>
            <a:r>
              <a:rPr sz="1650" b="0">
                <a:solidFill>
                  <a:srgbClr val="A5ADBA"/>
                </a:solidFill>
                <a:latin typeface="Segoe UI"/>
              </a:rPr>
              <a:t>пропелерів),</a:t>
            </a:r>
            <a:r>
              <a:rPr sz="1650" b="0">
                <a:solidFill>
                  <a:srgbClr val="A5ADBA"/>
                </a:solidFill>
                <a:latin typeface="Segoe UI"/>
              </a:rPr>
              <a:t> візуально</a:t>
            </a:r>
            <a:r>
              <a:rPr sz="1650" b="0">
                <a:solidFill>
                  <a:srgbClr val="A5ADBA"/>
                </a:solidFill>
                <a:latin typeface="Segoe UI"/>
              </a:rPr>
              <a:t> на</a:t>
            </a:r>
            <a:br/>
            <a:r>
              <a:rPr sz="1650" b="0">
                <a:solidFill>
                  <a:srgbClr val="A5ADBA"/>
                </a:solidFill>
                <a:latin typeface="Segoe UI"/>
              </a:rPr>
              <a:t>ПС,</a:t>
            </a:r>
            <a:r>
              <a:rPr sz="1650" b="0">
                <a:solidFill>
                  <a:srgbClr val="A5ADBA"/>
                </a:solidFill>
                <a:latin typeface="Segoe UI"/>
              </a:rPr>
              <a:t> тепловізори</a:t>
            </a:r>
            <a:r>
              <a:rPr sz="1650" b="0">
                <a:solidFill>
                  <a:srgbClr val="A5ADBA"/>
                </a:solidFill>
                <a:latin typeface="Segoe UI"/>
              </a:rPr>
              <a:t> вночі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076575"/>
            <a:ext cx="3227832" cy="12866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A5ADBA"/>
                </a:solidFill>
                <a:latin typeface="Segoe UI"/>
              </a:rPr>
              <a:t>Чергові</a:t>
            </a:r>
            <a:r>
              <a:rPr sz="1650" b="0">
                <a:solidFill>
                  <a:srgbClr val="A5ADBA"/>
                </a:solidFill>
                <a:latin typeface="Segoe UI"/>
              </a:rPr>
              <a:t> стрільці</a:t>
            </a:r>
            <a:r>
              <a:rPr sz="1650" b="0">
                <a:solidFill>
                  <a:srgbClr val="A5ADBA"/>
                </a:solidFill>
                <a:latin typeface="Segoe UI"/>
              </a:rPr>
              <a:t> з</a:t>
            </a:r>
            <a:r>
              <a:rPr sz="1650" b="0">
                <a:solidFill>
                  <a:srgbClr val="A5ADBA"/>
                </a:solidFill>
                <a:latin typeface="Segoe UI"/>
              </a:rPr>
              <a:t> помповими</a:t>
            </a:r>
            <a:br/>
            <a:r>
              <a:rPr sz="1650" b="0">
                <a:solidFill>
                  <a:srgbClr val="A5ADBA"/>
                </a:solidFill>
                <a:latin typeface="Segoe UI"/>
              </a:rPr>
              <a:t>рушницями</a:t>
            </a:r>
            <a:r>
              <a:rPr sz="1650" b="0">
                <a:solidFill>
                  <a:srgbClr val="A5ADBA"/>
                </a:solidFill>
                <a:latin typeface="Segoe UI"/>
              </a:rPr>
              <a:t> (картеч);</a:t>
            </a:r>
            <a:r>
              <a:rPr sz="1650" b="0">
                <a:solidFill>
                  <a:srgbClr val="A5ADBA"/>
                </a:solidFill>
                <a:latin typeface="Segoe UI"/>
              </a:rPr>
              <a:t> сітки</a:t>
            </a:r>
            <a:r>
              <a:rPr sz="1650" b="0">
                <a:solidFill>
                  <a:srgbClr val="A5ADBA"/>
                </a:solidFill>
                <a:latin typeface="Segoe UI"/>
              </a:rPr>
              <a:t> й</a:t>
            </a:r>
            <a:br/>
            <a:r>
              <a:rPr sz="1650" b="0">
                <a:solidFill>
                  <a:srgbClr val="A5ADBA"/>
                </a:solidFill>
                <a:latin typeface="Segoe UI"/>
              </a:rPr>
              <a:t>спіральний</a:t>
            </a:r>
            <a:r>
              <a:rPr sz="1650" b="0">
                <a:solidFill>
                  <a:srgbClr val="A5ADBA"/>
                </a:solidFill>
                <a:latin typeface="Segoe UI"/>
              </a:rPr>
              <a:t> дріт</a:t>
            </a:r>
            <a:r>
              <a:rPr sz="1650" b="0">
                <a:solidFill>
                  <a:srgbClr val="A5ADBA"/>
                </a:solidFill>
                <a:latin typeface="Segoe UI"/>
              </a:rPr>
              <a:t> (від</a:t>
            </a:r>
            <a:br/>
            <a:r>
              <a:rPr sz="1650" b="0">
                <a:solidFill>
                  <a:srgbClr val="A5ADBA"/>
                </a:solidFill>
                <a:latin typeface="Segoe UI"/>
              </a:rPr>
              <a:t>оптоволокна);</a:t>
            </a:r>
            <a:r>
              <a:rPr sz="1650" b="0">
                <a:solidFill>
                  <a:srgbClr val="A5ADBA"/>
                </a:solidFill>
                <a:latin typeface="Segoe UI"/>
              </a:rPr>
              <a:t> вогонь</a:t>
            </a:r>
            <a:r>
              <a:rPr sz="1650" b="0">
                <a:solidFill>
                  <a:srgbClr val="A5ADBA"/>
                </a:solidFill>
                <a:latin typeface="Segoe UI"/>
              </a:rPr>
              <a:t> на</a:t>
            </a:r>
            <a:br/>
            <a:r>
              <a:rPr sz="1650" b="0">
                <a:solidFill>
                  <a:srgbClr val="A5ADBA"/>
                </a:solidFill>
                <a:latin typeface="Segoe UI"/>
              </a:rPr>
              <a:t>маршрутах.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591812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820412"/>
            <a:ext cx="2148840" cy="5448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3F1EB"/>
                </a:solidFill>
                <a:latin typeface="Segoe UI Semibold"/>
              </a:rPr>
              <a:t>Баражуючі</a:t>
            </a:r>
            <a:r>
              <a:rPr sz="1650" b="1">
                <a:solidFill>
                  <a:srgbClr val="F3F1EB"/>
                </a:solidFill>
                <a:latin typeface="Segoe UI Semibold"/>
              </a:rPr>
              <a:t> ББ</a:t>
            </a:r>
            <a:br/>
            <a:r>
              <a:rPr sz="1650" b="1">
                <a:solidFill>
                  <a:srgbClr val="F3F1EB"/>
                </a:solidFill>
                <a:latin typeface="Segoe UI Semibold"/>
              </a:rPr>
              <a:t>(«Ланцет»)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4820412"/>
            <a:ext cx="2194560" cy="7920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A5ADBA"/>
                </a:solidFill>
                <a:latin typeface="Segoe UI"/>
              </a:rPr>
              <a:t>3–5/добу,</a:t>
            </a:r>
            <a:br/>
            <a:r>
              <a:rPr sz="1650" b="0">
                <a:solidFill>
                  <a:srgbClr val="A5ADBA"/>
                </a:solidFill>
                <a:latin typeface="Segoe UI"/>
              </a:rPr>
              <a:t>високоточні</a:t>
            </a:r>
            <a:r>
              <a:rPr sz="1650" b="0">
                <a:solidFill>
                  <a:srgbClr val="A5ADBA"/>
                </a:solidFill>
                <a:latin typeface="Segoe UI"/>
              </a:rPr>
              <a:t> по</a:t>
            </a:r>
            <a:br/>
            <a:r>
              <a:rPr sz="1650" b="0">
                <a:solidFill>
                  <a:srgbClr val="A5ADBA"/>
                </a:solidFill>
                <a:latin typeface="Segoe UI"/>
              </a:rPr>
              <a:t>техніці/ОП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4820412"/>
            <a:ext cx="2743200" cy="7920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A5ADBA"/>
                </a:solidFill>
                <a:latin typeface="Segoe UI"/>
              </a:rPr>
              <a:t>Літакові</a:t>
            </a:r>
            <a:r>
              <a:rPr sz="1650" b="0">
                <a:solidFill>
                  <a:srgbClr val="A5ADBA"/>
                </a:solidFill>
                <a:latin typeface="Segoe UI"/>
              </a:rPr>
              <a:t> БпЛА-навідники,</a:t>
            </a:r>
            <a:br/>
            <a:r>
              <a:rPr sz="1650" b="0">
                <a:solidFill>
                  <a:srgbClr val="A5ADBA"/>
                </a:solidFill>
                <a:latin typeface="Segoe UI"/>
              </a:rPr>
              <a:t>оптичні</a:t>
            </a:r>
            <a:r>
              <a:rPr sz="1650" b="0">
                <a:solidFill>
                  <a:srgbClr val="A5ADBA"/>
                </a:solidFill>
                <a:latin typeface="Segoe UI"/>
              </a:rPr>
              <a:t> пости,</a:t>
            </a:r>
            <a:r>
              <a:rPr sz="1650" b="0">
                <a:solidFill>
                  <a:srgbClr val="A5ADBA"/>
                </a:solidFill>
                <a:latin typeface="Segoe UI"/>
              </a:rPr>
              <a:t> система</a:t>
            </a:r>
            <a:br/>
            <a:r>
              <a:rPr sz="1650" b="0">
                <a:solidFill>
                  <a:srgbClr val="A5ADBA"/>
                </a:solidFill>
                <a:latin typeface="Segoe UI"/>
              </a:rPr>
              <a:t>оповіщення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820412"/>
            <a:ext cx="3227832" cy="1039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A5ADBA"/>
                </a:solidFill>
                <a:latin typeface="Segoe UI"/>
              </a:rPr>
              <a:t>Маскування</a:t>
            </a:r>
            <a:r>
              <a:rPr sz="1650" b="0">
                <a:solidFill>
                  <a:srgbClr val="A5ADBA"/>
                </a:solidFill>
                <a:latin typeface="Segoe UI"/>
              </a:rPr>
              <a:t> техніки</a:t>
            </a:r>
            <a:br/>
            <a:r>
              <a:rPr sz="1650" b="0">
                <a:solidFill>
                  <a:srgbClr val="A5ADBA"/>
                </a:solidFill>
                <a:latin typeface="Segoe UI"/>
              </a:rPr>
              <a:t>антитепловізійними</a:t>
            </a:r>
            <a:r>
              <a:rPr sz="1650" b="0">
                <a:solidFill>
                  <a:srgbClr val="A5ADBA"/>
                </a:solidFill>
                <a:latin typeface="Segoe UI"/>
              </a:rPr>
              <a:t> чохлами;</a:t>
            </a:r>
            <a:br/>
            <a:r>
              <a:rPr sz="1650" b="0">
                <a:solidFill>
                  <a:srgbClr val="A5ADBA"/>
                </a:solidFill>
                <a:latin typeface="Segoe UI"/>
              </a:rPr>
              <a:t>протидронові</a:t>
            </a:r>
            <a:r>
              <a:rPr sz="1650" b="0">
                <a:solidFill>
                  <a:srgbClr val="A5ADBA"/>
                </a:solidFill>
                <a:latin typeface="Segoe UI"/>
              </a:rPr>
              <a:t> решітки/екрани;</a:t>
            </a:r>
            <a:br/>
            <a:r>
              <a:rPr sz="1650" b="0">
                <a:solidFill>
                  <a:srgbClr val="A5ADBA"/>
                </a:solidFill>
                <a:latin typeface="Segoe UI"/>
              </a:rPr>
              <a:t>макети</a:t>
            </a:r>
            <a:r>
              <a:rPr sz="1650" b="0">
                <a:solidFill>
                  <a:srgbClr val="A5ADBA"/>
                </a:solidFill>
                <a:latin typeface="Segoe UI"/>
              </a:rPr>
              <a:t> та</a:t>
            </a:r>
            <a:r>
              <a:rPr sz="1650" b="0">
                <a:solidFill>
                  <a:srgbClr val="A5ADBA"/>
                </a:solidFill>
                <a:latin typeface="Segoe UI"/>
              </a:rPr>
              <a:t> хибні</a:t>
            </a:r>
            <a:r>
              <a:rPr sz="1650" b="0">
                <a:solidFill>
                  <a:srgbClr val="A5ADBA"/>
                </a:solidFill>
                <a:latin typeface="Segoe UI"/>
              </a:rPr>
              <a:t> позиції.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088380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6391656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7132320" cy="1851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5ADBA"/>
                </a:solidFill>
                <a:latin typeface="Segoe UI"/>
              </a:rPr>
              <a:t>РТН</a:t>
            </a:r>
            <a:r>
              <a:rPr sz="900" b="0">
                <a:solidFill>
                  <a:srgbClr val="A5ADBA"/>
                </a:solidFill>
                <a:latin typeface="Segoe UI"/>
              </a:rPr>
              <a:t> /</a:t>
            </a:r>
            <a:r>
              <a:rPr sz="900" b="0">
                <a:solidFill>
                  <a:srgbClr val="A5ADBA"/>
                </a:solidFill>
                <a:latin typeface="Segoe UI"/>
              </a:rPr>
              <a:t> МАТЕРІАЛИ</a:t>
            </a:r>
            <a:r>
              <a:rPr sz="900" b="0">
                <a:solidFill>
                  <a:srgbClr val="A5ADBA"/>
                </a:solidFill>
                <a:latin typeface="Segoe UI"/>
              </a:rPr>
              <a:t> БРИФІНГУ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6464808"/>
            <a:ext cx="1444752" cy="2001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9AD78"/>
                </a:solidFill>
                <a:latin typeface="Segoe UI"/>
              </a:rPr>
              <a:t>19</a:t>
            </a:r>
            <a:r>
              <a:rPr sz="1000" b="0">
                <a:solidFill>
                  <a:srgbClr val="C9AD78"/>
                </a:solidFill>
                <a:latin typeface="Segoe UI"/>
              </a:rPr>
              <a:t> /</a:t>
            </a:r>
            <a:r>
              <a:rPr sz="1000" b="0">
                <a:solidFill>
                  <a:srgbClr val="C9AD78"/>
                </a:solidFill>
                <a:latin typeface="Segoe UI"/>
              </a:rPr>
              <a:t>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93192"/>
            <a:ext cx="11003279" cy="2076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AD78"/>
                </a:solidFill>
                <a:latin typeface="Segoe UI Semibold"/>
              </a:rPr>
              <a:t>ПАМ'ЯТКА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ТА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ВИСНОВКИ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79" cy="8884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1EB"/>
                </a:solidFill>
                <a:latin typeface="Segoe UI Semibold"/>
              </a:rPr>
              <a:t>Зведена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матриця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протидії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загрозам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та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правила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живучості</a:t>
            </a:r>
            <a:br/>
            <a:r>
              <a:rPr sz="3000" b="1">
                <a:solidFill>
                  <a:srgbClr val="F3F1EB"/>
                </a:solidFill>
                <a:latin typeface="Segoe UI Semibold"/>
              </a:rPr>
              <a:t>РТГр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784604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004060"/>
            <a:ext cx="2148840" cy="2301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9AD78"/>
                </a:solidFill>
                <a:latin typeface="Segoe UI Semibold"/>
              </a:rPr>
              <a:t>ТИП</a:t>
            </a:r>
            <a:r>
              <a:rPr sz="1200" b="1">
                <a:solidFill>
                  <a:srgbClr val="C9AD78"/>
                </a:solidFill>
                <a:latin typeface="Segoe UI Semibold"/>
              </a:rPr>
              <a:t> ЗАГРОЗИ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2004060"/>
            <a:ext cx="2194560" cy="2301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9AD78"/>
                </a:solidFill>
                <a:latin typeface="Segoe UI Semibold"/>
              </a:rPr>
              <a:t>ПАРАМЕТРИ</a:t>
            </a:r>
            <a:r>
              <a:rPr sz="1200" b="1">
                <a:solidFill>
                  <a:srgbClr val="C9AD78"/>
                </a:solidFill>
                <a:latin typeface="Segoe UI Semibold"/>
              </a:rPr>
              <a:t> ВОРОГА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2004060"/>
            <a:ext cx="2743200" cy="2301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9AD78"/>
                </a:solidFill>
                <a:latin typeface="Segoe UI Semibold"/>
              </a:rPr>
              <a:t>СПОСІБ</a:t>
            </a:r>
            <a:r>
              <a:rPr sz="1200" b="1">
                <a:solidFill>
                  <a:srgbClr val="C9AD78"/>
                </a:solidFill>
                <a:latin typeface="Segoe UI Semibold"/>
              </a:rPr>
              <a:t> ВИЯВЛЕННЯ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2004060"/>
            <a:ext cx="3227832" cy="4099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9AD78"/>
                </a:solidFill>
                <a:latin typeface="Segoe UI Semibold"/>
              </a:rPr>
              <a:t>ОСНОВНИЙ</a:t>
            </a:r>
            <a:r>
              <a:rPr sz="1200" b="1">
                <a:solidFill>
                  <a:srgbClr val="C9AD78"/>
                </a:solidFill>
                <a:latin typeface="Segoe UI Semibold"/>
              </a:rPr>
              <a:t> СПОСІБ</a:t>
            </a:r>
            <a:r>
              <a:rPr sz="1200" b="1">
                <a:solidFill>
                  <a:srgbClr val="C9AD78"/>
                </a:solidFill>
                <a:latin typeface="Segoe UI Semibold"/>
              </a:rPr>
              <a:t> ПРОТИДІЇ</a:t>
            </a:r>
            <a:r>
              <a:rPr sz="1200" b="1">
                <a:solidFill>
                  <a:srgbClr val="C9AD78"/>
                </a:solidFill>
                <a:latin typeface="Segoe UI Semibold"/>
              </a:rPr>
              <a:t> ТА</a:t>
            </a:r>
            <a:br/>
            <a:r>
              <a:rPr sz="1200" b="1">
                <a:solidFill>
                  <a:srgbClr val="C9AD78"/>
                </a:solidFill>
                <a:latin typeface="Segoe UI Semibold"/>
              </a:rPr>
              <a:t>ЗАХИСТУ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551176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52344"/>
            <a:ext cx="2148840" cy="297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3F1EB"/>
                </a:solidFill>
                <a:latin typeface="Segoe UI Semibold"/>
              </a:rPr>
              <a:t>Розвідувальні</a:t>
            </a:r>
            <a:r>
              <a:rPr sz="1650" b="1">
                <a:solidFill>
                  <a:srgbClr val="F3F1EB"/>
                </a:solidFill>
                <a:latin typeface="Segoe UI Semibold"/>
              </a:rPr>
              <a:t> БпЛА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752344"/>
            <a:ext cx="2194560" cy="7920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A5ADBA"/>
                </a:solidFill>
                <a:latin typeface="Segoe UI"/>
              </a:rPr>
              <a:t>3–4</a:t>
            </a:r>
            <a:r>
              <a:rPr sz="1650" b="0">
                <a:solidFill>
                  <a:srgbClr val="A5ADBA"/>
                </a:solidFill>
                <a:latin typeface="Segoe UI"/>
              </a:rPr>
              <a:t> коптери</a:t>
            </a:r>
            <a:r>
              <a:rPr sz="1650" b="0">
                <a:solidFill>
                  <a:srgbClr val="A5ADBA"/>
                </a:solidFill>
                <a:latin typeface="Segoe UI"/>
              </a:rPr>
              <a:t> над</a:t>
            </a:r>
            <a:br/>
            <a:r>
              <a:rPr sz="1650" b="0">
                <a:solidFill>
                  <a:srgbClr val="A5ADBA"/>
                </a:solidFill>
                <a:latin typeface="Segoe UI"/>
              </a:rPr>
              <a:t>ротою</a:t>
            </a:r>
            <a:r>
              <a:rPr sz="1650" b="0">
                <a:solidFill>
                  <a:srgbClr val="A5ADBA"/>
                </a:solidFill>
                <a:latin typeface="Segoe UI"/>
              </a:rPr>
              <a:t> цілодобово,</a:t>
            </a:r>
            <a:br/>
            <a:r>
              <a:rPr sz="1650" b="0">
                <a:solidFill>
                  <a:srgbClr val="A5ADBA"/>
                </a:solidFill>
                <a:latin typeface="Segoe UI"/>
              </a:rPr>
              <a:t>1–2</a:t>
            </a:r>
            <a:r>
              <a:rPr sz="1650" b="0">
                <a:solidFill>
                  <a:srgbClr val="A5ADBA"/>
                </a:solidFill>
                <a:latin typeface="Segoe UI"/>
              </a:rPr>
              <a:t> крила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752344"/>
            <a:ext cx="2743200" cy="7920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A5ADBA"/>
                </a:solidFill>
                <a:latin typeface="Segoe UI"/>
              </a:rPr>
              <a:t>Акустичні</a:t>
            </a:r>
            <a:r>
              <a:rPr sz="1650" b="0">
                <a:solidFill>
                  <a:srgbClr val="A5ADBA"/>
                </a:solidFill>
                <a:latin typeface="Segoe UI"/>
              </a:rPr>
              <a:t> ПС</a:t>
            </a:r>
            <a:r>
              <a:rPr sz="1650" b="0">
                <a:solidFill>
                  <a:srgbClr val="A5ADBA"/>
                </a:solidFill>
                <a:latin typeface="Segoe UI"/>
              </a:rPr>
              <a:t> (у</a:t>
            </a:r>
            <a:r>
              <a:rPr sz="1650" b="0">
                <a:solidFill>
                  <a:srgbClr val="A5ADBA"/>
                </a:solidFill>
                <a:latin typeface="Segoe UI"/>
              </a:rPr>
              <a:t> лісі</a:t>
            </a:r>
            <a:br/>
            <a:r>
              <a:rPr sz="1650" b="0">
                <a:solidFill>
                  <a:srgbClr val="A5ADBA"/>
                </a:solidFill>
                <a:latin typeface="Segoe UI"/>
              </a:rPr>
              <a:t>слухати</a:t>
            </a:r>
            <a:r>
              <a:rPr sz="1650" b="0">
                <a:solidFill>
                  <a:srgbClr val="A5ADBA"/>
                </a:solidFill>
                <a:latin typeface="Segoe UI"/>
              </a:rPr>
              <a:t> в</a:t>
            </a:r>
            <a:r>
              <a:rPr sz="1650" b="0">
                <a:solidFill>
                  <a:srgbClr val="A5ADBA"/>
                </a:solidFill>
                <a:latin typeface="Segoe UI"/>
              </a:rPr>
              <a:t> першу</a:t>
            </a:r>
            <a:r>
              <a:rPr sz="1650" b="0">
                <a:solidFill>
                  <a:srgbClr val="A5ADBA"/>
                </a:solidFill>
                <a:latin typeface="Segoe UI"/>
              </a:rPr>
              <a:t> чергу),</a:t>
            </a:r>
            <a:br/>
            <a:r>
              <a:rPr sz="1650" b="0">
                <a:solidFill>
                  <a:srgbClr val="A5ADBA"/>
                </a:solidFill>
                <a:latin typeface="Segoe UI"/>
              </a:rPr>
              <a:t>тепловізори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752344"/>
            <a:ext cx="3227832" cy="12866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A5ADBA"/>
                </a:solidFill>
                <a:latin typeface="Segoe UI"/>
              </a:rPr>
              <a:t>У</a:t>
            </a:r>
            <a:r>
              <a:rPr sz="1650" b="0">
                <a:solidFill>
                  <a:srgbClr val="A5ADBA"/>
                </a:solidFill>
                <a:latin typeface="Segoe UI"/>
              </a:rPr>
              <a:t> засадах</a:t>
            </a:r>
            <a:r>
              <a:rPr sz="1650" b="0">
                <a:solidFill>
                  <a:srgbClr val="A5ADBA"/>
                </a:solidFill>
                <a:latin typeface="Segoe UI"/>
              </a:rPr>
              <a:t> ВОГОНЬ</a:t>
            </a:r>
            <a:r>
              <a:rPr sz="1650" b="0">
                <a:solidFill>
                  <a:srgbClr val="A5ADBA"/>
                </a:solidFill>
                <a:latin typeface="Segoe UI"/>
              </a:rPr>
              <a:t> НЕ</a:t>
            </a:r>
            <a:br/>
            <a:r>
              <a:rPr sz="1650" b="0">
                <a:solidFill>
                  <a:srgbClr val="A5ADBA"/>
                </a:solidFill>
                <a:latin typeface="Segoe UI"/>
              </a:rPr>
              <a:t>ВІДКРИВАТИ</a:t>
            </a:r>
            <a:r>
              <a:rPr sz="1650" b="0">
                <a:solidFill>
                  <a:srgbClr val="A5ADBA"/>
                </a:solidFill>
                <a:latin typeface="Segoe UI"/>
              </a:rPr>
              <a:t> до</a:t>
            </a:r>
            <a:r>
              <a:rPr sz="1650" b="0">
                <a:solidFill>
                  <a:srgbClr val="A5ADBA"/>
                </a:solidFill>
                <a:latin typeface="Segoe UI"/>
              </a:rPr>
              <a:t> наказу</a:t>
            </a:r>
            <a:r>
              <a:rPr sz="1650" b="0">
                <a:solidFill>
                  <a:srgbClr val="A5ADBA"/>
                </a:solidFill>
                <a:latin typeface="Segoe UI"/>
              </a:rPr>
              <a:t> КР;</a:t>
            </a:r>
            <a:br/>
            <a:r>
              <a:rPr sz="1650" b="0">
                <a:solidFill>
                  <a:srgbClr val="A5ADBA"/>
                </a:solidFill>
                <a:latin typeface="Segoe UI"/>
              </a:rPr>
              <a:t>антитепловізійні</a:t>
            </a:r>
            <a:r>
              <a:rPr sz="1650" b="0">
                <a:solidFill>
                  <a:srgbClr val="A5ADBA"/>
                </a:solidFill>
                <a:latin typeface="Segoe UI"/>
              </a:rPr>
              <a:t> пончо;</a:t>
            </a:r>
            <a:r>
              <a:rPr sz="1650" b="0">
                <a:solidFill>
                  <a:srgbClr val="A5ADBA"/>
                </a:solidFill>
                <a:latin typeface="Segoe UI"/>
              </a:rPr>
              <a:t> повне</a:t>
            </a:r>
            <a:br/>
            <a:r>
              <a:rPr sz="1650" b="0">
                <a:solidFill>
                  <a:srgbClr val="A5ADBA"/>
                </a:solidFill>
                <a:latin typeface="Segoe UI"/>
              </a:rPr>
              <a:t>перекриття</a:t>
            </a:r>
            <a:r>
              <a:rPr sz="1650" b="0">
                <a:solidFill>
                  <a:srgbClr val="A5ADBA"/>
                </a:solidFill>
                <a:latin typeface="Segoe UI"/>
              </a:rPr>
              <a:t> укриттів</a:t>
            </a:r>
            <a:r>
              <a:rPr sz="1650" b="0">
                <a:solidFill>
                  <a:srgbClr val="A5ADBA"/>
                </a:solidFill>
                <a:latin typeface="Segoe UI"/>
              </a:rPr>
              <a:t> «лисяча</a:t>
            </a:r>
            <a:br/>
            <a:r>
              <a:rPr sz="1650" b="0">
                <a:solidFill>
                  <a:srgbClr val="A5ADBA"/>
                </a:solidFill>
                <a:latin typeface="Segoe UI"/>
              </a:rPr>
              <a:t>нора».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267581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496181"/>
            <a:ext cx="2148840" cy="5448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3F1EB"/>
                </a:solidFill>
                <a:latin typeface="Segoe UI Semibold"/>
              </a:rPr>
              <a:t>Авіація</a:t>
            </a:r>
            <a:r>
              <a:rPr sz="1650" b="1">
                <a:solidFill>
                  <a:srgbClr val="F3F1EB"/>
                </a:solidFill>
                <a:latin typeface="Segoe UI Semibold"/>
              </a:rPr>
              <a:t> (КАБ,</a:t>
            </a:r>
            <a:r>
              <a:rPr sz="1650" b="1">
                <a:solidFill>
                  <a:srgbClr val="F3F1EB"/>
                </a:solidFill>
                <a:latin typeface="Segoe UI Semibold"/>
              </a:rPr>
              <a:t> Су-25,</a:t>
            </a:r>
            <a:br/>
            <a:r>
              <a:rPr sz="1650" b="1">
                <a:solidFill>
                  <a:srgbClr val="F3F1EB"/>
                </a:solidFill>
                <a:latin typeface="Segoe UI Semibold"/>
              </a:rPr>
              <a:t>Ка-52)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4496181"/>
            <a:ext cx="2194560" cy="1039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A5ADBA"/>
                </a:solidFill>
                <a:latin typeface="Segoe UI"/>
              </a:rPr>
              <a:t>Су-34</a:t>
            </a:r>
            <a:r>
              <a:rPr sz="1650" b="0">
                <a:solidFill>
                  <a:srgbClr val="A5ADBA"/>
                </a:solidFill>
                <a:latin typeface="Segoe UI"/>
              </a:rPr>
              <a:t> (до</a:t>
            </a:r>
            <a:r>
              <a:rPr sz="1650" b="0">
                <a:solidFill>
                  <a:srgbClr val="A5ADBA"/>
                </a:solidFill>
                <a:latin typeface="Segoe UI"/>
              </a:rPr>
              <a:t> 1</a:t>
            </a:r>
            <a:r>
              <a:rPr sz="1650" b="0">
                <a:solidFill>
                  <a:srgbClr val="A5ADBA"/>
                </a:solidFill>
                <a:latin typeface="Segoe UI"/>
              </a:rPr>
              <a:t> вильоту),</a:t>
            </a:r>
            <a:br/>
            <a:r>
              <a:rPr sz="1650" b="0">
                <a:solidFill>
                  <a:srgbClr val="A5ADBA"/>
                </a:solidFill>
                <a:latin typeface="Segoe UI"/>
              </a:rPr>
              <a:t>Су-25</a:t>
            </a:r>
            <a:r>
              <a:rPr sz="1650" b="0">
                <a:solidFill>
                  <a:srgbClr val="A5ADBA"/>
                </a:solidFill>
                <a:latin typeface="Segoe UI"/>
              </a:rPr>
              <a:t> (до</a:t>
            </a:r>
            <a:r>
              <a:rPr sz="1650" b="0">
                <a:solidFill>
                  <a:srgbClr val="A5ADBA"/>
                </a:solidFill>
                <a:latin typeface="Segoe UI"/>
              </a:rPr>
              <a:t> 2</a:t>
            </a:r>
            <a:r>
              <a:rPr sz="1650" b="0">
                <a:solidFill>
                  <a:srgbClr val="A5ADBA"/>
                </a:solidFill>
                <a:latin typeface="Segoe UI"/>
              </a:rPr>
              <a:t> пар),</a:t>
            </a:r>
            <a:br/>
            <a:r>
              <a:rPr sz="1650" b="0">
                <a:solidFill>
                  <a:srgbClr val="A5ADBA"/>
                </a:solidFill>
                <a:latin typeface="Segoe UI"/>
              </a:rPr>
              <a:t>вертольоти</a:t>
            </a:r>
            <a:r>
              <a:rPr sz="1650" b="0">
                <a:solidFill>
                  <a:srgbClr val="A5ADBA"/>
                </a:solidFill>
                <a:latin typeface="Segoe UI"/>
              </a:rPr>
              <a:t> (до</a:t>
            </a:r>
            <a:r>
              <a:rPr sz="1650" b="0">
                <a:solidFill>
                  <a:srgbClr val="A5ADBA"/>
                </a:solidFill>
                <a:latin typeface="Segoe UI"/>
              </a:rPr>
              <a:t> 2</a:t>
            </a:r>
            <a:br/>
            <a:r>
              <a:rPr sz="1650" b="0">
                <a:solidFill>
                  <a:srgbClr val="A5ADBA"/>
                </a:solidFill>
                <a:latin typeface="Segoe UI"/>
              </a:rPr>
              <a:t>пар)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4496181"/>
            <a:ext cx="2743200" cy="7920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A5ADBA"/>
                </a:solidFill>
                <a:latin typeface="Segoe UI"/>
              </a:rPr>
              <a:t>Система</a:t>
            </a:r>
            <a:r>
              <a:rPr sz="1650" b="0">
                <a:solidFill>
                  <a:srgbClr val="A5ADBA"/>
                </a:solidFill>
                <a:latin typeface="Segoe UI"/>
              </a:rPr>
              <a:t> оповіщення</a:t>
            </a:r>
            <a:br/>
            <a:r>
              <a:rPr sz="1650" b="0">
                <a:solidFill>
                  <a:srgbClr val="A5ADBA"/>
                </a:solidFill>
                <a:latin typeface="Segoe UI"/>
              </a:rPr>
              <a:t>старшого</a:t>
            </a:r>
            <a:r>
              <a:rPr sz="1650" b="0">
                <a:solidFill>
                  <a:srgbClr val="A5ADBA"/>
                </a:solidFill>
                <a:latin typeface="Segoe UI"/>
              </a:rPr>
              <a:t> начальника,</a:t>
            </a:r>
            <a:br/>
            <a:r>
              <a:rPr sz="1650" b="0">
                <a:solidFill>
                  <a:srgbClr val="A5ADBA"/>
                </a:solidFill>
                <a:latin typeface="Segoe UI"/>
              </a:rPr>
              <a:t>візуальні</a:t>
            </a:r>
            <a:r>
              <a:rPr sz="1650" b="0">
                <a:solidFill>
                  <a:srgbClr val="A5ADBA"/>
                </a:solidFill>
                <a:latin typeface="Segoe UI"/>
              </a:rPr>
              <a:t> ПС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496181"/>
            <a:ext cx="3227832" cy="12866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94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A5ADBA"/>
                </a:solidFill>
                <a:latin typeface="Segoe UI"/>
              </a:rPr>
              <a:t>Негайне</a:t>
            </a:r>
            <a:r>
              <a:rPr sz="1650" b="0">
                <a:solidFill>
                  <a:srgbClr val="A5ADBA"/>
                </a:solidFill>
                <a:latin typeface="Segoe UI"/>
              </a:rPr>
              <a:t> зайняття</a:t>
            </a:r>
            <a:r>
              <a:rPr sz="1650" b="0">
                <a:solidFill>
                  <a:srgbClr val="A5ADBA"/>
                </a:solidFill>
                <a:latin typeface="Segoe UI"/>
              </a:rPr>
              <a:t> капітальних</a:t>
            </a:r>
            <a:br/>
            <a:r>
              <a:rPr sz="1650" b="0">
                <a:solidFill>
                  <a:srgbClr val="A5ADBA"/>
                </a:solidFill>
                <a:latin typeface="Segoe UI"/>
              </a:rPr>
              <a:t>укриттів</a:t>
            </a:r>
            <a:r>
              <a:rPr sz="1650" b="0">
                <a:solidFill>
                  <a:srgbClr val="A5ADBA"/>
                </a:solidFill>
                <a:latin typeface="Segoe UI"/>
              </a:rPr>
              <a:t> з</a:t>
            </a:r>
            <a:r>
              <a:rPr sz="1650" b="0">
                <a:solidFill>
                  <a:srgbClr val="A5ADBA"/>
                </a:solidFill>
                <a:latin typeface="Segoe UI"/>
              </a:rPr>
              <a:t> перекриттям;</a:t>
            </a:r>
            <a:br/>
            <a:r>
              <a:rPr sz="1650" b="0">
                <a:solidFill>
                  <a:srgbClr val="A5ADBA"/>
                </a:solidFill>
                <a:latin typeface="Segoe UI"/>
              </a:rPr>
              <a:t>зосереджений</a:t>
            </a:r>
            <a:r>
              <a:rPr sz="1650" b="0">
                <a:solidFill>
                  <a:srgbClr val="A5ADBA"/>
                </a:solidFill>
                <a:latin typeface="Segoe UI"/>
              </a:rPr>
              <a:t> вогонь</a:t>
            </a:r>
            <a:r>
              <a:rPr sz="1650" b="0">
                <a:solidFill>
                  <a:srgbClr val="A5ADBA"/>
                </a:solidFill>
                <a:latin typeface="Segoe UI"/>
              </a:rPr>
              <a:t> зі</a:t>
            </a:r>
            <a:br/>
            <a:r>
              <a:rPr sz="1650" b="0">
                <a:solidFill>
                  <a:srgbClr val="A5ADBA"/>
                </a:solidFill>
                <a:latin typeface="Segoe UI"/>
              </a:rPr>
              <a:t>стрілецької</a:t>
            </a:r>
            <a:r>
              <a:rPr sz="1650" b="0">
                <a:solidFill>
                  <a:srgbClr val="A5ADBA"/>
                </a:solidFill>
                <a:latin typeface="Segoe UI"/>
              </a:rPr>
              <a:t> зброї</a:t>
            </a:r>
            <a:r>
              <a:rPr sz="1650" b="0">
                <a:solidFill>
                  <a:srgbClr val="A5ADBA"/>
                </a:solidFill>
                <a:latin typeface="Segoe UI"/>
              </a:rPr>
              <a:t> по</a:t>
            </a:r>
            <a:r>
              <a:rPr sz="1650" b="0">
                <a:solidFill>
                  <a:srgbClr val="A5ADBA"/>
                </a:solidFill>
                <a:latin typeface="Segoe UI"/>
              </a:rPr>
              <a:t> низьких</a:t>
            </a:r>
            <a:br/>
            <a:r>
              <a:rPr sz="1650" b="0">
                <a:solidFill>
                  <a:srgbClr val="A5ADBA"/>
                </a:solidFill>
                <a:latin typeface="Segoe UI"/>
              </a:rPr>
              <a:t>вертольотах.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011418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6391656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7132320" cy="1851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5ADBA"/>
                </a:solidFill>
                <a:latin typeface="Segoe UI"/>
              </a:rPr>
              <a:t>РТН</a:t>
            </a:r>
            <a:r>
              <a:rPr sz="900" b="0">
                <a:solidFill>
                  <a:srgbClr val="A5ADBA"/>
                </a:solidFill>
                <a:latin typeface="Segoe UI"/>
              </a:rPr>
              <a:t> /</a:t>
            </a:r>
            <a:r>
              <a:rPr sz="900" b="0">
                <a:solidFill>
                  <a:srgbClr val="A5ADBA"/>
                </a:solidFill>
                <a:latin typeface="Segoe UI"/>
              </a:rPr>
              <a:t> МАТЕРІАЛИ</a:t>
            </a:r>
            <a:r>
              <a:rPr sz="900" b="0">
                <a:solidFill>
                  <a:srgbClr val="A5ADBA"/>
                </a:solidFill>
                <a:latin typeface="Segoe UI"/>
              </a:rPr>
              <a:t> БРИФІНГУ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6464808"/>
            <a:ext cx="1444752" cy="2001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9AD78"/>
                </a:solidFill>
                <a:latin typeface="Segoe UI"/>
              </a:rPr>
              <a:t>20</a:t>
            </a:r>
            <a:r>
              <a:rPr sz="1000" b="0">
                <a:solidFill>
                  <a:srgbClr val="C9AD78"/>
                </a:solidFill>
                <a:latin typeface="Segoe UI"/>
              </a:rPr>
              <a:t> /</a:t>
            </a:r>
            <a:r>
              <a:rPr sz="1000" b="0">
                <a:solidFill>
                  <a:srgbClr val="C9AD78"/>
                </a:solidFill>
                <a:latin typeface="Segoe UI"/>
              </a:rPr>
              <a:t>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93192"/>
            <a:ext cx="11003279" cy="2076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9AD78"/>
                </a:solidFill>
                <a:latin typeface="Segoe UI Semibold"/>
              </a:rPr>
              <a:t>ПАМ'ЯТКА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ТА</a:t>
            </a:r>
            <a:r>
              <a:rPr sz="1050" b="1">
                <a:solidFill>
                  <a:srgbClr val="C9AD78"/>
                </a:solidFill>
                <a:latin typeface="Segoe UI Semibold"/>
              </a:rPr>
              <a:t> ВИСНОВКИ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79" cy="469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3F1EB"/>
                </a:solidFill>
                <a:latin typeface="Segoe UI Semibold"/>
              </a:rPr>
              <a:t>ЗОЛОТІ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ПРАВИЛА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ЖИВУЧОСТІ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РОТНОЇ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ТАКТИЧНОЇ</a:t>
            </a:r>
            <a:r>
              <a:rPr sz="3000" b="1">
                <a:solidFill>
                  <a:srgbClr val="F3F1EB"/>
                </a:solidFill>
                <a:latin typeface="Segoe UI Semibold"/>
              </a:rPr>
              <a:t> ГРУПИ: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65504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84960"/>
            <a:ext cx="1051560" cy="5897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4248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C9AD78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21536"/>
            <a:ext cx="9674352" cy="6797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3F1EB"/>
                </a:solidFill>
                <a:latin typeface="Segoe UI"/>
              </a:rPr>
              <a:t>1.</a:t>
            </a:r>
            <a:r>
              <a:rPr sz="2100" b="0">
                <a:solidFill>
                  <a:srgbClr val="F3F1EB"/>
                </a:solidFill>
                <a:latin typeface="Segoe UI"/>
              </a:rPr>
              <a:t> ЧЕРГОВИЙ</a:t>
            </a:r>
            <a:r>
              <a:rPr sz="2100" b="0">
                <a:solidFill>
                  <a:srgbClr val="F3F1EB"/>
                </a:solidFill>
                <a:latin typeface="Segoe UI"/>
              </a:rPr>
              <a:t> СТРІЛЕЦЬ</a:t>
            </a:r>
            <a:r>
              <a:rPr sz="2100" b="0">
                <a:solidFill>
                  <a:srgbClr val="F3F1EB"/>
                </a:solidFill>
                <a:latin typeface="Segoe UI"/>
              </a:rPr>
              <a:t> З</a:t>
            </a:r>
            <a:r>
              <a:rPr sz="2100" b="0">
                <a:solidFill>
                  <a:srgbClr val="F3F1EB"/>
                </a:solidFill>
                <a:latin typeface="Segoe UI"/>
              </a:rPr>
              <a:t> РУШНИЦЕЮ</a:t>
            </a:r>
            <a:r>
              <a:rPr sz="2100" b="0">
                <a:solidFill>
                  <a:srgbClr val="F3F1EB"/>
                </a:solidFill>
                <a:latin typeface="Segoe UI"/>
              </a:rPr>
              <a:t> 12к</a:t>
            </a:r>
            <a:r>
              <a:rPr sz="2100" b="0">
                <a:solidFill>
                  <a:srgbClr val="F3F1EB"/>
                </a:solidFill>
                <a:latin typeface="Segoe UI"/>
              </a:rPr>
              <a:t> —</a:t>
            </a:r>
            <a:r>
              <a:rPr sz="2100" b="0">
                <a:solidFill>
                  <a:srgbClr val="F3F1EB"/>
                </a:solidFill>
                <a:latin typeface="Segoe UI"/>
              </a:rPr>
              <a:t> у</a:t>
            </a:r>
            <a:r>
              <a:rPr sz="2100" b="0">
                <a:solidFill>
                  <a:srgbClr val="F3F1EB"/>
                </a:solidFill>
                <a:latin typeface="Segoe UI"/>
              </a:rPr>
              <a:t> кожному</a:t>
            </a:r>
            <a:r>
              <a:rPr sz="2100" b="0">
                <a:solidFill>
                  <a:srgbClr val="F3F1EB"/>
                </a:solidFill>
                <a:latin typeface="Segoe UI"/>
              </a:rPr>
              <a:t> відділенні:</a:t>
            </a:r>
            <a:r>
              <a:rPr sz="2100" b="0">
                <a:solidFill>
                  <a:srgbClr val="F3F1EB"/>
                </a:solidFill>
                <a:latin typeface="Segoe UI"/>
              </a:rPr>
              <a:t> це</a:t>
            </a:r>
            <a:br/>
            <a:r>
              <a:rPr sz="2100" b="0">
                <a:solidFill>
                  <a:srgbClr val="F3F1EB"/>
                </a:solidFill>
                <a:latin typeface="Segoe UI"/>
              </a:rPr>
              <a:t>головний</a:t>
            </a:r>
            <a:r>
              <a:rPr sz="2100" b="0">
                <a:solidFill>
                  <a:srgbClr val="F3F1EB"/>
                </a:solidFill>
                <a:latin typeface="Segoe UI"/>
              </a:rPr>
              <a:t> щит</a:t>
            </a:r>
            <a:r>
              <a:rPr sz="2100" b="0">
                <a:solidFill>
                  <a:srgbClr val="F3F1EB"/>
                </a:solidFill>
                <a:latin typeface="Segoe UI"/>
              </a:rPr>
              <a:t> від</a:t>
            </a:r>
            <a:r>
              <a:rPr sz="2100" b="0">
                <a:solidFill>
                  <a:srgbClr val="F3F1EB"/>
                </a:solidFill>
                <a:latin typeface="Segoe UI"/>
              </a:rPr>
              <a:t> раптових</a:t>
            </a:r>
            <a:r>
              <a:rPr sz="2100" b="0">
                <a:solidFill>
                  <a:srgbClr val="F3F1EB"/>
                </a:solidFill>
                <a:latin typeface="Segoe UI"/>
              </a:rPr>
              <a:t> нальотів</a:t>
            </a:r>
            <a:r>
              <a:rPr sz="2100" b="0">
                <a:solidFill>
                  <a:srgbClr val="F3F1EB"/>
                </a:solidFill>
                <a:latin typeface="Segoe UI"/>
              </a:rPr>
              <a:t> FPV</a:t>
            </a:r>
            <a:r>
              <a:rPr sz="2100" b="0">
                <a:solidFill>
                  <a:srgbClr val="F3F1EB"/>
                </a:solidFill>
                <a:latin typeface="Segoe UI"/>
              </a:rPr>
              <a:t> та</a:t>
            </a:r>
            <a:r>
              <a:rPr sz="2100" b="0">
                <a:solidFill>
                  <a:srgbClr val="F3F1EB"/>
                </a:solidFill>
                <a:latin typeface="Segoe UI"/>
              </a:rPr>
              <a:t> скидів.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526792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755392"/>
            <a:ext cx="1051560" cy="5897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4248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C9AD78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791968"/>
            <a:ext cx="9674352" cy="6797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3F1EB"/>
                </a:solidFill>
                <a:latin typeface="Segoe UI"/>
              </a:rPr>
              <a:t>2.</a:t>
            </a:r>
            <a:r>
              <a:rPr sz="2100" b="0">
                <a:solidFill>
                  <a:srgbClr val="F3F1EB"/>
                </a:solidFill>
                <a:latin typeface="Segoe UI"/>
              </a:rPr>
              <a:t> СПІРАЛЬНИЙ</a:t>
            </a:r>
            <a:r>
              <a:rPr sz="2100" b="0">
                <a:solidFill>
                  <a:srgbClr val="F3F1EB"/>
                </a:solidFill>
                <a:latin typeface="Segoe UI"/>
              </a:rPr>
              <a:t> ДРІТ</a:t>
            </a:r>
            <a:r>
              <a:rPr sz="2100" b="0">
                <a:solidFill>
                  <a:srgbClr val="F3F1EB"/>
                </a:solidFill>
                <a:latin typeface="Segoe UI"/>
              </a:rPr>
              <a:t> ТА</a:t>
            </a:r>
            <a:r>
              <a:rPr sz="2100" b="0">
                <a:solidFill>
                  <a:srgbClr val="F3F1EB"/>
                </a:solidFill>
                <a:latin typeface="Segoe UI"/>
              </a:rPr>
              <a:t> СІТКА</a:t>
            </a:r>
            <a:r>
              <a:rPr sz="2100" b="0">
                <a:solidFill>
                  <a:srgbClr val="F3F1EB"/>
                </a:solidFill>
                <a:latin typeface="Segoe UI"/>
              </a:rPr>
              <a:t> —</a:t>
            </a:r>
            <a:r>
              <a:rPr sz="2100" b="0">
                <a:solidFill>
                  <a:srgbClr val="F3F1EB"/>
                </a:solidFill>
                <a:latin typeface="Segoe UI"/>
              </a:rPr>
              <a:t> обов'язкові</a:t>
            </a:r>
            <a:r>
              <a:rPr sz="2100" b="0">
                <a:solidFill>
                  <a:srgbClr val="F3F1EB"/>
                </a:solidFill>
                <a:latin typeface="Segoe UI"/>
              </a:rPr>
              <a:t> над</a:t>
            </a:r>
            <a:r>
              <a:rPr sz="2100" b="0">
                <a:solidFill>
                  <a:srgbClr val="F3F1EB"/>
                </a:solidFill>
                <a:latin typeface="Segoe UI"/>
              </a:rPr>
              <a:t> усіма</a:t>
            </a:r>
            <a:r>
              <a:rPr sz="2100" b="0">
                <a:solidFill>
                  <a:srgbClr val="F3F1EB"/>
                </a:solidFill>
                <a:latin typeface="Segoe UI"/>
              </a:rPr>
              <a:t> траншеями</a:t>
            </a:r>
            <a:r>
              <a:rPr sz="2100" b="0">
                <a:solidFill>
                  <a:srgbClr val="F3F1EB"/>
                </a:solidFill>
                <a:latin typeface="Segoe UI"/>
              </a:rPr>
              <a:t> й</a:t>
            </a:r>
            <a:r>
              <a:rPr sz="2100" b="0">
                <a:solidFill>
                  <a:srgbClr val="F3F1EB"/>
                </a:solidFill>
                <a:latin typeface="Segoe UI"/>
              </a:rPr>
              <a:t> ходами</a:t>
            </a:r>
            <a:br/>
            <a:r>
              <a:rPr sz="2100" b="0">
                <a:solidFill>
                  <a:srgbClr val="F3F1EB"/>
                </a:solidFill>
                <a:latin typeface="Segoe UI"/>
              </a:rPr>
              <a:t>(гарантований</a:t>
            </a:r>
            <a:r>
              <a:rPr sz="2100" b="0">
                <a:solidFill>
                  <a:srgbClr val="F3F1EB"/>
                </a:solidFill>
                <a:latin typeface="Segoe UI"/>
              </a:rPr>
              <a:t> зрив</a:t>
            </a:r>
            <a:r>
              <a:rPr sz="2100" b="0">
                <a:solidFill>
                  <a:srgbClr val="F3F1EB"/>
                </a:solidFill>
                <a:latin typeface="Segoe UI"/>
              </a:rPr>
              <a:t> оптоволоконних</a:t>
            </a:r>
            <a:r>
              <a:rPr sz="2100" b="0">
                <a:solidFill>
                  <a:srgbClr val="F3F1EB"/>
                </a:solidFill>
                <a:latin typeface="Segoe UI"/>
              </a:rPr>
              <a:t> FPV).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697224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925824"/>
            <a:ext cx="1051560" cy="5897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4248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C9AD78"/>
                </a:solidFill>
                <a:latin typeface="Segoe U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962400"/>
            <a:ext cx="9674352" cy="6797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3F1EB"/>
                </a:solidFill>
                <a:latin typeface="Segoe UI"/>
              </a:rPr>
              <a:t>3.</a:t>
            </a:r>
            <a:r>
              <a:rPr sz="2100" b="0">
                <a:solidFill>
                  <a:srgbClr val="F3F1EB"/>
                </a:solidFill>
                <a:latin typeface="Segoe UI"/>
              </a:rPr>
              <a:t> ДИСЦИПЛІНА</a:t>
            </a:r>
            <a:r>
              <a:rPr sz="2100" b="0">
                <a:solidFill>
                  <a:srgbClr val="F3F1EB"/>
                </a:solidFill>
                <a:latin typeface="Segoe UI"/>
              </a:rPr>
              <a:t> ВОГНЮ</a:t>
            </a:r>
            <a:r>
              <a:rPr sz="2100" b="0">
                <a:solidFill>
                  <a:srgbClr val="F3F1EB"/>
                </a:solidFill>
                <a:latin typeface="Segoe UI"/>
              </a:rPr>
              <a:t> В</a:t>
            </a:r>
            <a:r>
              <a:rPr sz="2100" b="0">
                <a:solidFill>
                  <a:srgbClr val="F3F1EB"/>
                </a:solidFill>
                <a:latin typeface="Segoe UI"/>
              </a:rPr>
              <a:t> ЗАСАДІ:</a:t>
            </a:r>
            <a:r>
              <a:rPr sz="2100" b="0">
                <a:solidFill>
                  <a:srgbClr val="F3F1EB"/>
                </a:solidFill>
                <a:latin typeface="Segoe UI"/>
              </a:rPr>
              <a:t> ніколи</a:t>
            </a:r>
            <a:r>
              <a:rPr sz="2100" b="0">
                <a:solidFill>
                  <a:srgbClr val="F3F1EB"/>
                </a:solidFill>
                <a:latin typeface="Segoe UI"/>
              </a:rPr>
              <a:t> не</a:t>
            </a:r>
            <a:r>
              <a:rPr sz="2100" b="0">
                <a:solidFill>
                  <a:srgbClr val="F3F1EB"/>
                </a:solidFill>
                <a:latin typeface="Segoe UI"/>
              </a:rPr>
              <a:t> стріляти</a:t>
            </a:r>
            <a:r>
              <a:rPr sz="2100" b="0">
                <a:solidFill>
                  <a:srgbClr val="F3F1EB"/>
                </a:solidFill>
                <a:latin typeface="Segoe UI"/>
              </a:rPr>
              <a:t> по</a:t>
            </a:r>
            <a:r>
              <a:rPr sz="2100" b="0">
                <a:solidFill>
                  <a:srgbClr val="F3F1EB"/>
                </a:solidFill>
                <a:latin typeface="Segoe UI"/>
              </a:rPr>
              <a:t> дрону</a:t>
            </a:r>
            <a:r>
              <a:rPr sz="2100" b="0">
                <a:solidFill>
                  <a:srgbClr val="F3F1EB"/>
                </a:solidFill>
                <a:latin typeface="Segoe UI"/>
              </a:rPr>
              <a:t> до</a:t>
            </a:r>
            <a:r>
              <a:rPr sz="2100" b="0">
                <a:solidFill>
                  <a:srgbClr val="F3F1EB"/>
                </a:solidFill>
                <a:latin typeface="Segoe UI"/>
              </a:rPr>
              <a:t> відкриття</a:t>
            </a:r>
            <a:br/>
            <a:r>
              <a:rPr sz="2100" b="0">
                <a:solidFill>
                  <a:srgbClr val="F3F1EB"/>
                </a:solidFill>
                <a:latin typeface="Segoe UI"/>
              </a:rPr>
              <a:t>засади,</a:t>
            </a:r>
            <a:r>
              <a:rPr sz="2100" b="0">
                <a:solidFill>
                  <a:srgbClr val="F3F1EB"/>
                </a:solidFill>
                <a:latin typeface="Segoe UI"/>
              </a:rPr>
              <a:t> аби</a:t>
            </a:r>
            <a:r>
              <a:rPr sz="2100" b="0">
                <a:solidFill>
                  <a:srgbClr val="F3F1EB"/>
                </a:solidFill>
                <a:latin typeface="Segoe UI"/>
              </a:rPr>
              <a:t> не</a:t>
            </a:r>
            <a:r>
              <a:rPr sz="2100" b="0">
                <a:solidFill>
                  <a:srgbClr val="F3F1EB"/>
                </a:solidFill>
                <a:latin typeface="Segoe UI"/>
              </a:rPr>
              <a:t> підставити</a:t>
            </a:r>
            <a:r>
              <a:rPr sz="2100" b="0">
                <a:solidFill>
                  <a:srgbClr val="F3F1EB"/>
                </a:solidFill>
                <a:latin typeface="Segoe UI"/>
              </a:rPr>
              <a:t> підрозділ</a:t>
            </a:r>
            <a:r>
              <a:rPr sz="2100" b="0">
                <a:solidFill>
                  <a:srgbClr val="F3F1EB"/>
                </a:solidFill>
                <a:latin typeface="Segoe UI"/>
              </a:rPr>
              <a:t> під</a:t>
            </a:r>
            <a:r>
              <a:rPr sz="2100" b="0">
                <a:solidFill>
                  <a:srgbClr val="F3F1EB"/>
                </a:solidFill>
                <a:latin typeface="Segoe UI"/>
              </a:rPr>
              <a:t> наліт.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391656"/>
            <a:ext cx="11003279" cy="8890"/>
          </a:xfrm>
          <a:prstGeom prst="rect">
            <a:avLst/>
          </a:prstGeom>
          <a:solidFill>
            <a:srgbClr val="303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7132320" cy="1851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5ADBA"/>
                </a:solidFill>
                <a:latin typeface="Segoe UI"/>
              </a:rPr>
              <a:t>РТН</a:t>
            </a:r>
            <a:r>
              <a:rPr sz="900" b="0">
                <a:solidFill>
                  <a:srgbClr val="A5ADBA"/>
                </a:solidFill>
                <a:latin typeface="Segoe UI"/>
              </a:rPr>
              <a:t> /</a:t>
            </a:r>
            <a:r>
              <a:rPr sz="900" b="0">
                <a:solidFill>
                  <a:srgbClr val="A5ADBA"/>
                </a:solidFill>
                <a:latin typeface="Segoe UI"/>
              </a:rPr>
              <a:t> МАТЕРІАЛИ</a:t>
            </a:r>
            <a:r>
              <a:rPr sz="900" b="0">
                <a:solidFill>
                  <a:srgbClr val="A5ADBA"/>
                </a:solidFill>
                <a:latin typeface="Segoe UI"/>
              </a:rPr>
              <a:t> БРИФІНГУ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6464808"/>
            <a:ext cx="1444752" cy="2001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9AD78"/>
                </a:solidFill>
                <a:latin typeface="Segoe UI"/>
              </a:rPr>
              <a:t>21</a:t>
            </a:r>
            <a:r>
              <a:rPr sz="1000" b="0">
                <a:solidFill>
                  <a:srgbClr val="C9AD78"/>
                </a:solidFill>
                <a:latin typeface="Segoe UI"/>
              </a:rPr>
              <a:t> /</a:t>
            </a:r>
            <a:r>
              <a:rPr sz="1000" b="0">
                <a:solidFill>
                  <a:srgbClr val="C9AD78"/>
                </a:solidFill>
                <a:latin typeface="Segoe UI"/>
              </a:rPr>
              <a:t>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